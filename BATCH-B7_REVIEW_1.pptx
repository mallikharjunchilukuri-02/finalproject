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78" r:id="rId5"/>
    <p:sldId id="275" r:id="rId6"/>
    <p:sldId id="266" r:id="rId7"/>
    <p:sldId id="267" r:id="rId8"/>
    <p:sldId id="263" r:id="rId9"/>
    <p:sldId id="264" r:id="rId10"/>
    <p:sldId id="265" r:id="rId11"/>
    <p:sldId id="269" r:id="rId12"/>
    <p:sldId id="276" r:id="rId13"/>
    <p:sldId id="277"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D1A8-C0F4-413B-92FD-DA08A7E6F57F}" type="datetimeFigureOut">
              <a:rPr lang="en-IN" smtClean="0"/>
              <a:t>20-04-2024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7F0C5-2045-4613-9DED-84D80F7014A5}" type="slidenum">
              <a:rPr lang="en-IN" smtClean="0"/>
              <a:t>‹#›</a:t>
            </a:fld>
            <a:endParaRPr lang="en-IN"/>
          </a:p>
        </p:txBody>
      </p:sp>
    </p:spTree>
    <p:extLst>
      <p:ext uri="{BB962C8B-B14F-4D97-AF65-F5344CB8AC3E}">
        <p14:creationId xmlns:p14="http://schemas.microsoft.com/office/powerpoint/2010/main" val="337381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5354-38F7-5ABB-0C85-EE01FFAA4F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45F9B7-9985-5BB4-FABB-EC7DB87C2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4DF5A0-FCA5-B0C0-14A0-9129F21929E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E94F9975-F42F-029A-039E-3D8D3A4A9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D7982-CAB2-CE72-C5B1-D9F26BB69D1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12773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337A-54D9-672E-A857-581725EE25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835902-0996-A083-46D6-3CD89D7330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FFEB3D-CFA5-4F91-C5CE-36BE7A43BB0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7313FF50-A99E-4B18-552B-099591BBA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99257-43DF-D340-27F9-A0E0503B3BD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04980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2CC2-BE46-3C90-B51B-DD037B0E7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7E63EB-43D6-5085-601C-63D00F4337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147264-8256-3449-A7C3-4C67B378DC9C}"/>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C523CEA5-C100-ACCB-BDF0-96D3360BD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ED4C93-A74C-FAE5-89EF-42727DEBF3EA}"/>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413467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E3C0-7BA1-8BC2-1FDE-4902E79E35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2D1A92-590E-E5E0-495B-CAD3CF5A76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4E41FF-A2D1-B7C5-4D98-3476C28E5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B6D276-5B78-3A0E-6F14-272273064EB9}"/>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4C41210E-690F-BF80-05CA-873C27B37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4A736-9684-AC74-FDB9-20C379C652DD}"/>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7434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5F66-AB23-13DF-D7DF-4D4AEE6632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35B03-E274-01E1-E54E-2871E85CA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E9612-3666-564D-8ECA-22DCA725BA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74CE39-B0A8-28DA-C95F-EF8F2A714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997D9-116D-FF30-4330-FED6EDAEE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0800F0-02E0-A3F1-1A3F-0803A2111359}"/>
              </a:ext>
            </a:extLst>
          </p:cNvPr>
          <p:cNvSpPr>
            <a:spLocks noGrp="1"/>
          </p:cNvSpPr>
          <p:nvPr>
            <p:ph type="dt" sz="half" idx="10"/>
          </p:nvPr>
        </p:nvSpPr>
        <p:spPr/>
        <p:txBody>
          <a:bodyPr/>
          <a:lstStyle/>
          <a:p>
            <a:r>
              <a:rPr lang="en-US"/>
              <a:t>04-01-2024</a:t>
            </a:r>
            <a:endParaRPr lang="en-IN"/>
          </a:p>
        </p:txBody>
      </p:sp>
      <p:sp>
        <p:nvSpPr>
          <p:cNvPr id="8" name="Footer Placeholder 7">
            <a:extLst>
              <a:ext uri="{FF2B5EF4-FFF2-40B4-BE49-F238E27FC236}">
                <a16:creationId xmlns:a16="http://schemas.microsoft.com/office/drawing/2014/main" id="{6FEF534C-5D00-9E4E-2CD2-1EC06B61D3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E85646-B3DD-3D67-6F5F-8B934BBB765C}"/>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309091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A5F8-EC11-7E1C-F62E-17470C67EC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25ACE3-8904-7FC1-513E-E26EC1B9D679}"/>
              </a:ext>
            </a:extLst>
          </p:cNvPr>
          <p:cNvSpPr>
            <a:spLocks noGrp="1"/>
          </p:cNvSpPr>
          <p:nvPr>
            <p:ph type="dt" sz="half" idx="10"/>
          </p:nvPr>
        </p:nvSpPr>
        <p:spPr/>
        <p:txBody>
          <a:bodyPr/>
          <a:lstStyle/>
          <a:p>
            <a:r>
              <a:rPr lang="en-US"/>
              <a:t>04-01-2024</a:t>
            </a:r>
            <a:endParaRPr lang="en-IN"/>
          </a:p>
        </p:txBody>
      </p:sp>
      <p:sp>
        <p:nvSpPr>
          <p:cNvPr id="4" name="Footer Placeholder 3">
            <a:extLst>
              <a:ext uri="{FF2B5EF4-FFF2-40B4-BE49-F238E27FC236}">
                <a16:creationId xmlns:a16="http://schemas.microsoft.com/office/drawing/2014/main" id="{D09B48D1-D9C0-8F07-7BC8-589FFC59D7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61E3AD-2BC8-622A-ECB4-0D139C51CEF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866081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C5B08-7FD3-223D-3761-3DAFA70002CE}"/>
              </a:ext>
            </a:extLst>
          </p:cNvPr>
          <p:cNvSpPr>
            <a:spLocks noGrp="1"/>
          </p:cNvSpPr>
          <p:nvPr>
            <p:ph type="dt" sz="half" idx="10"/>
          </p:nvPr>
        </p:nvSpPr>
        <p:spPr/>
        <p:txBody>
          <a:bodyPr/>
          <a:lstStyle/>
          <a:p>
            <a:r>
              <a:rPr lang="en-US"/>
              <a:t>04-01-2024</a:t>
            </a:r>
            <a:endParaRPr lang="en-IN"/>
          </a:p>
        </p:txBody>
      </p:sp>
      <p:sp>
        <p:nvSpPr>
          <p:cNvPr id="3" name="Footer Placeholder 2">
            <a:extLst>
              <a:ext uri="{FF2B5EF4-FFF2-40B4-BE49-F238E27FC236}">
                <a16:creationId xmlns:a16="http://schemas.microsoft.com/office/drawing/2014/main" id="{71834A73-0F87-A44B-B7FB-72C8BEED4F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A6DBAF-00E5-D51C-9096-3188E8177B04}"/>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424537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BDEB-C4ED-C215-E4FC-4D20D6A50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3BFC64-27E1-5783-7794-2567F75DE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811322-CCEF-043A-37D3-D7716BDCC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9D4BA-675C-FCA5-019B-3D3BAC8FAB7A}"/>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C301FE5F-F665-EB01-72DC-FCB7DE675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644E2-85F4-5904-9C45-FEC2E153319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28276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CEDA2-4DE0-9FA5-85C2-F8388A484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00C8C5-1621-8D7D-5D1D-3F3F6C1A7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0C850-FF16-4670-FF79-701CB939D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C8459-B4C3-1245-0554-47F1D53912E4}"/>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6E71FDE3-EBC8-A582-E458-B6EC856523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A43482-1BCE-C363-BBCB-D5DB70FE5481}"/>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9350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7EAB-C972-769B-98F4-A3649B0397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A9A901-D737-F245-9D6C-DDBC677AD5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D3274-51D8-F2F9-0F46-CBEF3AB262E2}"/>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82E8095F-6E80-7465-2FAD-75E5E5A31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584A2-412D-6C99-AFD7-4C7387999D77}"/>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529829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A8A53-1CC9-CA34-89CC-AD0666918A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4F336-5C1C-C607-EA6D-6E9726EB63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C0DDA-7FFA-2B5C-A211-73E5AF78E4C5}"/>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D68B5327-58AF-F190-395F-F536B94F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EF424-B270-D011-586D-9770EEB3A85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567390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D4FA20-BF1F-8891-1E48-1D5915B9A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D2D94E-5EE8-1486-2826-FD831388D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9621E-BEA5-06C8-D385-A8F290E90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04-01-2024</a:t>
            </a:r>
            <a:endParaRPr lang="en-IN"/>
          </a:p>
        </p:txBody>
      </p:sp>
      <p:sp>
        <p:nvSpPr>
          <p:cNvPr id="5" name="Footer Placeholder 4">
            <a:extLst>
              <a:ext uri="{FF2B5EF4-FFF2-40B4-BE49-F238E27FC236}">
                <a16:creationId xmlns:a16="http://schemas.microsoft.com/office/drawing/2014/main" id="{1ADB0787-1C27-4E31-5303-4E0A0401B1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D1C0B-D100-D455-2479-AAEFF6F44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8B02D-6448-4399-BE2E-C025BF63EF34}" type="slidenum">
              <a:rPr lang="en-IN" smtClean="0"/>
              <a:t>‹#›</a:t>
            </a:fld>
            <a:endParaRPr lang="en-IN"/>
          </a:p>
        </p:txBody>
      </p:sp>
    </p:spTree>
    <p:extLst>
      <p:ext uri="{BB962C8B-B14F-4D97-AF65-F5344CB8AC3E}">
        <p14:creationId xmlns:p14="http://schemas.microsoft.com/office/powerpoint/2010/main" val="445889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40E22-BC74-87B3-6F81-A3C5575A2B35}"/>
              </a:ext>
            </a:extLst>
          </p:cNvPr>
          <p:cNvPicPr/>
          <p:nvPr/>
        </p:nvPicPr>
        <p:blipFill>
          <a:blip r:embed="rId2"/>
          <a:stretch>
            <a:fillRect/>
          </a:stretch>
        </p:blipFill>
        <p:spPr>
          <a:xfrm>
            <a:off x="475775" y="284704"/>
            <a:ext cx="1322742" cy="1418590"/>
          </a:xfrm>
          <a:prstGeom prst="rect">
            <a:avLst/>
          </a:prstGeom>
        </p:spPr>
      </p:pic>
      <p:sp>
        <p:nvSpPr>
          <p:cNvPr id="6" name="TextBox 5">
            <a:extLst>
              <a:ext uri="{FF2B5EF4-FFF2-40B4-BE49-F238E27FC236}">
                <a16:creationId xmlns:a16="http://schemas.microsoft.com/office/drawing/2014/main" id="{6DA80388-7A83-02D8-E4FC-3FD1AA668D49}"/>
              </a:ext>
            </a:extLst>
          </p:cNvPr>
          <p:cNvSpPr txBox="1"/>
          <p:nvPr/>
        </p:nvSpPr>
        <p:spPr>
          <a:xfrm>
            <a:off x="1659029" y="583241"/>
            <a:ext cx="9825604" cy="1323439"/>
          </a:xfrm>
          <a:prstGeom prst="rect">
            <a:avLst/>
          </a:prstGeom>
          <a:noFill/>
        </p:spPr>
        <p:txBody>
          <a:bodyPr wrap="square">
            <a:spAutoFit/>
          </a:bodyPr>
          <a:lstStyle/>
          <a:p>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LAKIREDDY BALI REDDY COLLEGE OF ENGINEERING</a:t>
            </a:r>
          </a:p>
          <a:p>
            <a:endPar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400" dirty="0"/>
              <a:t>ELECTRONICS AND COMMUNICATION ENGINEERING</a:t>
            </a:r>
            <a:endParaRPr lang="en-IN" sz="2400" dirty="0"/>
          </a:p>
        </p:txBody>
      </p:sp>
      <p:sp>
        <p:nvSpPr>
          <p:cNvPr id="8" name="TextBox 7">
            <a:extLst>
              <a:ext uri="{FF2B5EF4-FFF2-40B4-BE49-F238E27FC236}">
                <a16:creationId xmlns:a16="http://schemas.microsoft.com/office/drawing/2014/main" id="{CD898172-D66D-17B5-012B-B5ACAD99310C}"/>
              </a:ext>
            </a:extLst>
          </p:cNvPr>
          <p:cNvSpPr txBox="1"/>
          <p:nvPr/>
        </p:nvSpPr>
        <p:spPr>
          <a:xfrm>
            <a:off x="858995" y="4195798"/>
            <a:ext cx="10474009" cy="1923604"/>
          </a:xfrm>
          <a:prstGeom prst="rect">
            <a:avLst/>
          </a:prstGeom>
          <a:noFill/>
        </p:spPr>
        <p:txBody>
          <a:bodyPr wrap="square">
            <a:spAutoFit/>
          </a:bodyPr>
          <a:lstStyle/>
          <a:p>
            <a:pPr algn="just">
              <a:lnSpc>
                <a:spcPct val="150000"/>
              </a:lnSpc>
              <a:spcAft>
                <a:spcPts val="800"/>
              </a:spcAft>
            </a:pPr>
            <a:r>
              <a:rPr lang="en-US" b="1" dirty="0"/>
              <a:t>PROJECT GUIDE</a:t>
            </a:r>
            <a:r>
              <a:rPr lang="en-US" dirty="0"/>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TEAM MEMBERS</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t>G. Venkata Rao</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t>B. Satya Suresh(20761A0471)</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dirty="0"/>
              <a:t>Associate Professor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Ch. </a:t>
            </a:r>
            <a:r>
              <a:rPr lang="en-IN" dirty="0" err="1"/>
              <a:t>Mallikharjun</a:t>
            </a:r>
            <a:r>
              <a:rPr lang="en-IN" dirty="0"/>
              <a:t> Reddy(20761A0476)</a:t>
            </a:r>
            <a:endParaRPr lang="en-US" dirty="0"/>
          </a:p>
          <a:p>
            <a:r>
              <a:rPr lang="en-US" kern="100" dirty="0">
                <a:latin typeface="Calibri" panose="020F0502020204030204" pitchFamily="34" charset="0"/>
                <a:ea typeface="Calibri" panose="020F0502020204030204" pitchFamily="34" charset="0"/>
                <a:cs typeface="Times New Roman" panose="02020603050405020304" pitchFamily="18" charset="0"/>
              </a:rPr>
              <a:t>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P. </a:t>
            </a:r>
            <a:r>
              <a:rPr lang="en-IN" dirty="0" err="1"/>
              <a:t>Bhuvana</a:t>
            </a:r>
            <a:r>
              <a:rPr lang="en-IN" dirty="0"/>
              <a:t> Sri(20761A04A3)</a:t>
            </a:r>
          </a:p>
        </p:txBody>
      </p:sp>
      <p:cxnSp>
        <p:nvCxnSpPr>
          <p:cNvPr id="10" name="Straight Connector 9">
            <a:extLst>
              <a:ext uri="{FF2B5EF4-FFF2-40B4-BE49-F238E27FC236}">
                <a16:creationId xmlns:a16="http://schemas.microsoft.com/office/drawing/2014/main" id="{CA2ED173-B7FC-8AEC-5537-31E926FDB4BF}"/>
              </a:ext>
            </a:extLst>
          </p:cNvPr>
          <p:cNvCxnSpPr/>
          <p:nvPr/>
        </p:nvCxnSpPr>
        <p:spPr>
          <a:xfrm>
            <a:off x="621102" y="1846053"/>
            <a:ext cx="1066224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4C99E-4C4A-566E-4B0B-D038DA335CA9}"/>
              </a:ext>
            </a:extLst>
          </p:cNvPr>
          <p:cNvSpPr txBox="1"/>
          <p:nvPr/>
        </p:nvSpPr>
        <p:spPr>
          <a:xfrm>
            <a:off x="189782" y="2449902"/>
            <a:ext cx="11421374" cy="1496564"/>
          </a:xfrm>
          <a:prstGeom prst="rect">
            <a:avLst/>
          </a:prstGeom>
          <a:noFill/>
        </p:spPr>
        <p:txBody>
          <a:bodyPr wrap="square" rtlCol="0">
            <a:spAutoFit/>
          </a:bodyPr>
          <a:lstStyle/>
          <a:p>
            <a:pPr algn="ctr">
              <a:lnSpc>
                <a:spcPct val="107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IMPLEMENTATION AND ANALYSIS OF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6-TRANSISTOR SRAM</a:t>
            </a: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CELL</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13" name="Slide Number Placeholder 12">
            <a:extLst>
              <a:ext uri="{FF2B5EF4-FFF2-40B4-BE49-F238E27FC236}">
                <a16:creationId xmlns:a16="http://schemas.microsoft.com/office/drawing/2014/main" id="{90C86666-1527-8FE9-90AD-2AD83A99F413}"/>
              </a:ext>
            </a:extLst>
          </p:cNvPr>
          <p:cNvSpPr>
            <a:spLocks noGrp="1"/>
          </p:cNvSpPr>
          <p:nvPr>
            <p:ph type="sldNum" sz="quarter" idx="12"/>
          </p:nvPr>
        </p:nvSpPr>
        <p:spPr/>
        <p:txBody>
          <a:bodyPr/>
          <a:lstStyle/>
          <a:p>
            <a:fld id="{2B48B02D-6448-4399-BE2E-C025BF63EF34}" type="slidenum">
              <a:rPr lang="en-IN" smtClean="0"/>
              <a:t>1</a:t>
            </a:fld>
            <a:endParaRPr lang="en-IN"/>
          </a:p>
        </p:txBody>
      </p:sp>
    </p:spTree>
    <p:extLst>
      <p:ext uri="{BB962C8B-B14F-4D97-AF65-F5344CB8AC3E}">
        <p14:creationId xmlns:p14="http://schemas.microsoft.com/office/powerpoint/2010/main" val="391987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09B59C-DB00-B765-0B06-1A93C405CF1F}"/>
              </a:ext>
            </a:extLst>
          </p:cNvPr>
          <p:cNvSpPr txBox="1"/>
          <p:nvPr/>
        </p:nvSpPr>
        <p:spPr>
          <a:xfrm>
            <a:off x="4189066" y="474315"/>
            <a:ext cx="5793134" cy="503806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800" b="1" dirty="0"/>
              <a:t>CONTENTS</a:t>
            </a:r>
          </a:p>
          <a:p>
            <a:pPr indent="-228600">
              <a:lnSpc>
                <a:spcPct val="90000"/>
              </a:lnSpc>
              <a:spcAft>
                <a:spcPts val="600"/>
              </a:spcAft>
              <a:buFont typeface="Arial" panose="020B0604020202020204" pitchFamily="34" charset="0"/>
              <a:buChar char="•"/>
            </a:pPr>
            <a:endParaRPr lang="en-US" sz="2400" dirty="0"/>
          </a:p>
          <a:p>
            <a:pPr marL="457200" indent="-228600">
              <a:lnSpc>
                <a:spcPct val="90000"/>
              </a:lnSpc>
              <a:spcAft>
                <a:spcPts val="600"/>
              </a:spcAft>
              <a:buFont typeface="Arial" panose="020B0604020202020204" pitchFamily="34" charset="0"/>
              <a:buChar char="•"/>
            </a:pPr>
            <a:r>
              <a:rPr lang="en-US" sz="2400" dirty="0"/>
              <a:t>ABSTRACT</a:t>
            </a:r>
          </a:p>
          <a:p>
            <a:pPr marL="457200" indent="-228600">
              <a:lnSpc>
                <a:spcPct val="90000"/>
              </a:lnSpc>
              <a:spcAft>
                <a:spcPts val="600"/>
              </a:spcAft>
              <a:buFont typeface="Arial" panose="020B0604020202020204" pitchFamily="34" charset="0"/>
              <a:buChar char="•"/>
            </a:pPr>
            <a:r>
              <a:rPr lang="en-US" sz="2400" dirty="0"/>
              <a:t>INTRODUCTION</a:t>
            </a:r>
          </a:p>
          <a:p>
            <a:pPr marL="457200" indent="-228600">
              <a:lnSpc>
                <a:spcPct val="90000"/>
              </a:lnSpc>
              <a:spcAft>
                <a:spcPts val="600"/>
              </a:spcAft>
              <a:buFont typeface="Arial" panose="020B0604020202020204" pitchFamily="34" charset="0"/>
              <a:buChar char="•"/>
            </a:pPr>
            <a:r>
              <a:rPr lang="en-US" sz="2400" dirty="0"/>
              <a:t>LITERATURE REVIEW</a:t>
            </a:r>
          </a:p>
          <a:p>
            <a:pPr marL="457200" indent="-228600">
              <a:lnSpc>
                <a:spcPct val="90000"/>
              </a:lnSpc>
              <a:spcAft>
                <a:spcPts val="600"/>
              </a:spcAft>
              <a:buFont typeface="Arial" panose="020B0604020202020204" pitchFamily="34" charset="0"/>
              <a:buChar char="•"/>
            </a:pPr>
            <a:r>
              <a:rPr lang="en-US" sz="2400" dirty="0">
                <a:effectLst/>
              </a:rPr>
              <a:t>METHODOLOGY</a:t>
            </a:r>
          </a:p>
          <a:p>
            <a:pPr marL="457200" indent="-228600">
              <a:lnSpc>
                <a:spcPct val="90000"/>
              </a:lnSpc>
              <a:spcAft>
                <a:spcPts val="600"/>
              </a:spcAft>
              <a:buFont typeface="Arial" panose="020B0604020202020204" pitchFamily="34" charset="0"/>
              <a:buChar char="•"/>
            </a:pPr>
            <a:r>
              <a:rPr lang="en-US" sz="2400" dirty="0">
                <a:effectLst/>
              </a:rPr>
              <a:t>DESIGN ANALYSIS</a:t>
            </a:r>
          </a:p>
          <a:p>
            <a:pPr marL="457200" indent="-228600">
              <a:lnSpc>
                <a:spcPct val="90000"/>
              </a:lnSpc>
              <a:spcAft>
                <a:spcPts val="600"/>
              </a:spcAft>
              <a:buFont typeface="Arial" panose="020B0604020202020204" pitchFamily="34" charset="0"/>
              <a:buChar char="•"/>
            </a:pPr>
            <a:r>
              <a:rPr lang="en-US" sz="2400" dirty="0"/>
              <a:t>CONCLUSIONS</a:t>
            </a:r>
          </a:p>
          <a:p>
            <a:pPr indent="-228600">
              <a:lnSpc>
                <a:spcPct val="90000"/>
              </a:lnSpc>
              <a:spcAft>
                <a:spcPts val="600"/>
              </a:spcAft>
              <a:buFont typeface="Arial" panose="020B0604020202020204" pitchFamily="34" charset="0"/>
              <a:buChar char="•"/>
            </a:pPr>
            <a:endParaRPr lang="en-US" sz="2000" dirty="0"/>
          </a:p>
        </p:txBody>
      </p:sp>
      <p:sp>
        <p:nvSpPr>
          <p:cNvPr id="4" name="Slide Number Placeholder 3">
            <a:extLst>
              <a:ext uri="{FF2B5EF4-FFF2-40B4-BE49-F238E27FC236}">
                <a16:creationId xmlns:a16="http://schemas.microsoft.com/office/drawing/2014/main" id="{9CA238D9-5511-151C-F123-E51BD494C5D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a:solidFill>
                  <a:schemeClr val="tx1">
                    <a:lumMod val="50000"/>
                    <a:lumOff val="50000"/>
                  </a:schemeClr>
                </a:solidFill>
              </a:rPr>
              <a:pPr>
                <a:spcAft>
                  <a:spcPts val="600"/>
                </a:spcAft>
              </a:pPr>
              <a:t>2</a:t>
            </a:fld>
            <a:endParaRPr lang="en-US">
              <a:solidFill>
                <a:schemeClr val="tx1">
                  <a:lumMod val="50000"/>
                  <a:lumOff val="50000"/>
                </a:schemeClr>
              </a:solidFill>
            </a:endParaRPr>
          </a:p>
        </p:txBody>
      </p:sp>
      <p:grpSp>
        <p:nvGrpSpPr>
          <p:cNvPr id="9" name="Group 8">
            <a:extLst>
              <a:ext uri="{FF2B5EF4-FFF2-40B4-BE49-F238E27FC236}">
                <a16:creationId xmlns:a16="http://schemas.microsoft.com/office/drawing/2014/main" id="{626842FA-90AD-EEBD-ABE0-E9EF9A5D14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EF621AD8-9B7B-4C37-1CB2-16C6A6AA7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46A872-CF51-D0BD-D9F3-500F32EEB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609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D11C47-F3D8-6C9B-AC1D-77914BFE3BD8}"/>
              </a:ext>
            </a:extLst>
          </p:cNvPr>
          <p:cNvSpPr>
            <a:spLocks noGrp="1"/>
          </p:cNvSpPr>
          <p:nvPr>
            <p:ph type="sldNum" sz="quarter" idx="12"/>
          </p:nvPr>
        </p:nvSpPr>
        <p:spPr/>
        <p:txBody>
          <a:bodyPr/>
          <a:lstStyle/>
          <a:p>
            <a:fld id="{2B48B02D-6448-4399-BE2E-C025BF63EF34}" type="slidenum">
              <a:rPr lang="en-IN" smtClean="0"/>
              <a:t>3</a:t>
            </a:fld>
            <a:endParaRPr lang="en-IN"/>
          </a:p>
        </p:txBody>
      </p:sp>
      <p:sp>
        <p:nvSpPr>
          <p:cNvPr id="5" name="TextBox 4">
            <a:extLst>
              <a:ext uri="{FF2B5EF4-FFF2-40B4-BE49-F238E27FC236}">
                <a16:creationId xmlns:a16="http://schemas.microsoft.com/office/drawing/2014/main" id="{DB0F3119-7D63-D1BA-CC58-FE86E78FB5ED}"/>
              </a:ext>
            </a:extLst>
          </p:cNvPr>
          <p:cNvSpPr txBox="1"/>
          <p:nvPr/>
        </p:nvSpPr>
        <p:spPr>
          <a:xfrm>
            <a:off x="497456" y="-19973"/>
            <a:ext cx="11197087" cy="5769977"/>
          </a:xfrm>
          <a:prstGeom prst="rect">
            <a:avLst/>
          </a:prstGeom>
          <a:noFill/>
        </p:spPr>
        <p:txBody>
          <a:bodyPr wrap="square">
            <a:spAutoFit/>
          </a:bodyPr>
          <a:lstStyle/>
          <a:p>
            <a:pPr algn="ctr">
              <a:lnSpc>
                <a:spcPct val="150000"/>
              </a:lnSpc>
              <a:spcAft>
                <a:spcPts val="800"/>
              </a:spcAft>
            </a:pPr>
            <a:r>
              <a:rPr lang="en-IN" sz="2800" b="1" kern="100" dirty="0">
                <a:effectLst/>
                <a:ea typeface="Calibri" panose="020F0502020204030204" pitchFamily="34" charset="0"/>
                <a:cs typeface="Times New Roman" panose="02020603050405020304" pitchFamily="18" charset="0"/>
              </a:rPr>
              <a:t>ABSTRACT</a:t>
            </a:r>
            <a:endParaRPr lang="en-IN" sz="2800" kern="100" dirty="0">
              <a:effectLst/>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ea typeface="Calibri" panose="020F0502020204030204" pitchFamily="34" charset="0"/>
                <a:cs typeface="Times New Roman" panose="02020603050405020304" pitchFamily="18" charset="0"/>
              </a:rPr>
              <a:t>Static Random-Access Memory (SRAM) stands as a vital component, offering swift and efficient on-chip data storage. It is made up of six transistors that are placed in a precise way to achieve stability and the capacity to read and write date. This 6-transistor SRAM cell plays a vital role, particularly in high-performance memory applications like cache memory. The main objective of this project is to focus on examining the performance, stability, and energy efficiency of the 6T SRAM cell. Extensive simulations are helpful to evaluate key performance parameters such as access time, write time, and power consumption. The primary aim is to identify any design limitations or flaws and propose potential enhancements. </a:t>
            </a:r>
            <a:endParaRPr lang="en-IN"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41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C5C6F-197B-5FD9-FEC3-4DAA52FF077C}"/>
              </a:ext>
            </a:extLst>
          </p:cNvPr>
          <p:cNvSpPr>
            <a:spLocks noGrp="1"/>
          </p:cNvSpPr>
          <p:nvPr>
            <p:ph type="sldNum" sz="quarter" idx="12"/>
          </p:nvPr>
        </p:nvSpPr>
        <p:spPr/>
        <p:txBody>
          <a:bodyPr/>
          <a:lstStyle/>
          <a:p>
            <a:fld id="{2B48B02D-6448-4399-BE2E-C025BF63EF34}" type="slidenum">
              <a:rPr lang="en-IN" smtClean="0"/>
              <a:t>4</a:t>
            </a:fld>
            <a:endParaRPr lang="en-IN"/>
          </a:p>
        </p:txBody>
      </p:sp>
      <p:sp>
        <p:nvSpPr>
          <p:cNvPr id="4" name="TextBox 3">
            <a:extLst>
              <a:ext uri="{FF2B5EF4-FFF2-40B4-BE49-F238E27FC236}">
                <a16:creationId xmlns:a16="http://schemas.microsoft.com/office/drawing/2014/main" id="{F19D3ECC-7847-5662-6B54-C492991D653F}"/>
              </a:ext>
            </a:extLst>
          </p:cNvPr>
          <p:cNvSpPr txBox="1"/>
          <p:nvPr/>
        </p:nvSpPr>
        <p:spPr>
          <a:xfrm>
            <a:off x="543464" y="860028"/>
            <a:ext cx="10810336" cy="5123647"/>
          </a:xfrm>
          <a:prstGeom prst="rect">
            <a:avLst/>
          </a:prstGeom>
          <a:noFill/>
        </p:spPr>
        <p:txBody>
          <a:bodyPr wrap="square">
            <a:spAutoFit/>
          </a:bodyPr>
          <a:lstStyle/>
          <a:p>
            <a:pPr algn="just">
              <a:lnSpc>
                <a:spcPct val="150000"/>
              </a:lnSpc>
              <a:spcAft>
                <a:spcPts val="800"/>
              </a:spcAft>
            </a:pPr>
            <a:r>
              <a:rPr lang="en-IN" sz="2400" b="1" kern="100" dirty="0">
                <a:effectLst/>
                <a:ea typeface="Calibri" panose="020F0502020204030204" pitchFamily="34" charset="0"/>
                <a:cs typeface="Times New Roman" panose="02020603050405020304" pitchFamily="18" charset="0"/>
              </a:rPr>
              <a:t>Factors like noise tolerance, resistance to data corruption during read operations, and ease of writing data should be analysed under different conditions. As power consumption is a critical concern in modern semiconductor devices, we assess the energy efficiency of the 6T SRAM cell. This includes analyse the dynamic power under different operating scenarios. We will analyse its layouts and in addition to characterizing the 6T SRAM cell, we compare its performance and energy efficiency with other popular SRAM cell designs, such as 4T and 8T cells, to identify trade-offs and advantages.</a:t>
            </a:r>
            <a:endParaRPr lang="en-IN" sz="2400" kern="100" dirty="0">
              <a:effectLst/>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ea typeface="Calibri" panose="020F0502020204030204" pitchFamily="34" charset="0"/>
                <a:cs typeface="Times New Roman" panose="02020603050405020304" pitchFamily="18" charset="0"/>
              </a:rPr>
              <a:t>KEYWORDS: </a:t>
            </a:r>
            <a:r>
              <a:rPr lang="en-IN" sz="2400" kern="100" dirty="0">
                <a:effectLst/>
                <a:ea typeface="Calibri" panose="020F0502020204030204" pitchFamily="34" charset="0"/>
                <a:cs typeface="Times New Roman" panose="02020603050405020304" pitchFamily="18" charset="0"/>
              </a:rPr>
              <a:t>6T SRAM cell, 4T, 8T, Access time, Write time, Power</a:t>
            </a:r>
            <a:r>
              <a:rPr lang="en-IN" sz="2400" b="1" kern="100" dirty="0">
                <a:effectLst/>
                <a:ea typeface="Calibri" panose="020F0502020204030204" pitchFamily="34" charset="0"/>
                <a:cs typeface="Times New Roman" panose="02020603050405020304" pitchFamily="18" charset="0"/>
              </a:rPr>
              <a:t> </a:t>
            </a:r>
            <a:r>
              <a:rPr lang="en-IN" sz="2400" kern="100" dirty="0">
                <a:effectLst/>
                <a:ea typeface="Calibri" panose="020F0502020204030204" pitchFamily="34" charset="0"/>
                <a:cs typeface="Times New Roman" panose="02020603050405020304" pitchFamily="18" charset="0"/>
              </a:rPr>
              <a:t>consumption.</a:t>
            </a:r>
          </a:p>
        </p:txBody>
      </p:sp>
    </p:spTree>
    <p:extLst>
      <p:ext uri="{BB962C8B-B14F-4D97-AF65-F5344CB8AC3E}">
        <p14:creationId xmlns:p14="http://schemas.microsoft.com/office/powerpoint/2010/main" val="1693117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AE0C38-22A9-9BEF-A11C-61F64E316648}"/>
              </a:ext>
            </a:extLst>
          </p:cNvPr>
          <p:cNvSpPr>
            <a:spLocks noGrp="1"/>
          </p:cNvSpPr>
          <p:nvPr>
            <p:ph type="sldNum" sz="quarter" idx="12"/>
          </p:nvPr>
        </p:nvSpPr>
        <p:spPr/>
        <p:txBody>
          <a:bodyPr/>
          <a:lstStyle/>
          <a:p>
            <a:fld id="{2B48B02D-6448-4399-BE2E-C025BF63EF34}" type="slidenum">
              <a:rPr lang="en-IN" smtClean="0"/>
              <a:t>5</a:t>
            </a:fld>
            <a:endParaRPr lang="en-IN"/>
          </a:p>
        </p:txBody>
      </p:sp>
      <p:sp>
        <p:nvSpPr>
          <p:cNvPr id="5" name="TextBox 4">
            <a:extLst>
              <a:ext uri="{FF2B5EF4-FFF2-40B4-BE49-F238E27FC236}">
                <a16:creationId xmlns:a16="http://schemas.microsoft.com/office/drawing/2014/main" id="{8BA6379E-7801-D987-4AF7-9CA3D355DC7B}"/>
              </a:ext>
            </a:extLst>
          </p:cNvPr>
          <p:cNvSpPr txBox="1"/>
          <p:nvPr/>
        </p:nvSpPr>
        <p:spPr>
          <a:xfrm>
            <a:off x="577970" y="264993"/>
            <a:ext cx="10688128" cy="6221383"/>
          </a:xfrm>
          <a:prstGeom prst="rect">
            <a:avLst/>
          </a:prstGeom>
          <a:noFill/>
        </p:spPr>
        <p:txBody>
          <a:bodyPr wrap="square">
            <a:spAutoFit/>
          </a:bodyPr>
          <a:lstStyle/>
          <a:p>
            <a:pPr algn="ctr">
              <a:lnSpc>
                <a:spcPct val="150000"/>
              </a:lnSpc>
            </a:pPr>
            <a:r>
              <a:rPr lang="en-IN" sz="2800" b="1" dirty="0"/>
              <a:t>INTRODUCTION</a:t>
            </a:r>
          </a:p>
          <a:p>
            <a:pPr algn="just">
              <a:lnSpc>
                <a:spcPct val="150000"/>
              </a:lnSpc>
            </a:pPr>
            <a:r>
              <a:rPr lang="en-US" sz="2400" dirty="0"/>
              <a:t>The 6-transistor SRAM (6T SRAM) cell is a fundamental building block of static random-access memory (SRAM), widely employed in modern integrated circuits for on-chip data storage. Comprising six transistors arranged in a cross-coupled configuration, the 6T SRAM cell offers a balance of stability, speed, and efficiency. Its key components include two cross-coupled inverters for data storage and access transistors for read and write operations. The 6T SRAM cell is characterized by its ability to retain data without the need for constant refresh, making it a preferred choice for cache memories in high-performance computing applications. The design and optimization of 6T SRAM cells play a crucial role in shaping the performance and efficiency of memory subsystems within integrated circuits.</a:t>
            </a:r>
            <a:endParaRPr lang="en-IN" sz="2400" dirty="0"/>
          </a:p>
        </p:txBody>
      </p:sp>
    </p:spTree>
    <p:extLst>
      <p:ext uri="{BB962C8B-B14F-4D97-AF65-F5344CB8AC3E}">
        <p14:creationId xmlns:p14="http://schemas.microsoft.com/office/powerpoint/2010/main" val="185734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81DDDC-3EC3-CEA1-E209-AE310D274431}"/>
              </a:ext>
            </a:extLst>
          </p:cNvPr>
          <p:cNvSpPr>
            <a:spLocks noGrp="1"/>
          </p:cNvSpPr>
          <p:nvPr>
            <p:ph type="sldNum" sz="quarter" idx="12"/>
          </p:nvPr>
        </p:nvSpPr>
        <p:spPr/>
        <p:txBody>
          <a:bodyPr/>
          <a:lstStyle/>
          <a:p>
            <a:fld id="{2B48B02D-6448-4399-BE2E-C025BF63EF34}" type="slidenum">
              <a:rPr lang="en-IN" smtClean="0"/>
              <a:t>6</a:t>
            </a:fld>
            <a:endParaRPr lang="en-IN"/>
          </a:p>
        </p:txBody>
      </p:sp>
      <p:graphicFrame>
        <p:nvGraphicFramePr>
          <p:cNvPr id="4" name="Table 3">
            <a:extLst>
              <a:ext uri="{FF2B5EF4-FFF2-40B4-BE49-F238E27FC236}">
                <a16:creationId xmlns:a16="http://schemas.microsoft.com/office/drawing/2014/main" id="{A213DD78-7284-B736-29E7-562999B6AC6F}"/>
              </a:ext>
            </a:extLst>
          </p:cNvPr>
          <p:cNvGraphicFramePr>
            <a:graphicFrameLocks noGrp="1"/>
          </p:cNvGraphicFramePr>
          <p:nvPr>
            <p:extLst>
              <p:ext uri="{D42A27DB-BD31-4B8C-83A1-F6EECF244321}">
                <p14:modId xmlns:p14="http://schemas.microsoft.com/office/powerpoint/2010/main" val="2178282048"/>
              </p:ext>
            </p:extLst>
          </p:nvPr>
        </p:nvGraphicFramePr>
        <p:xfrm>
          <a:off x="449473" y="598537"/>
          <a:ext cx="11438628" cy="539496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2742642265"/>
                    </a:ext>
                  </a:extLst>
                </a:gridCol>
                <a:gridCol w="2752778">
                  <a:extLst>
                    <a:ext uri="{9D8B030D-6E8A-4147-A177-3AD203B41FA5}">
                      <a16:colId xmlns:a16="http://schemas.microsoft.com/office/drawing/2014/main" val="1463752537"/>
                    </a:ext>
                  </a:extLst>
                </a:gridCol>
                <a:gridCol w="2932126">
                  <a:extLst>
                    <a:ext uri="{9D8B030D-6E8A-4147-A177-3AD203B41FA5}">
                      <a16:colId xmlns:a16="http://schemas.microsoft.com/office/drawing/2014/main" val="2387309984"/>
                    </a:ext>
                  </a:extLst>
                </a:gridCol>
                <a:gridCol w="2287726">
                  <a:extLst>
                    <a:ext uri="{9D8B030D-6E8A-4147-A177-3AD203B41FA5}">
                      <a16:colId xmlns:a16="http://schemas.microsoft.com/office/drawing/2014/main" val="2918473584"/>
                    </a:ext>
                  </a:extLst>
                </a:gridCol>
                <a:gridCol w="2287726">
                  <a:extLst>
                    <a:ext uri="{9D8B030D-6E8A-4147-A177-3AD203B41FA5}">
                      <a16:colId xmlns:a16="http://schemas.microsoft.com/office/drawing/2014/main" val="1211037752"/>
                    </a:ext>
                  </a:extLst>
                </a:gridCol>
              </a:tblGrid>
              <a:tr h="370840">
                <a:tc>
                  <a:txBody>
                    <a:bodyPr/>
                    <a:lstStyle/>
                    <a:p>
                      <a:r>
                        <a:rPr lang="en-IN" b="1"/>
                        <a:t>SNO</a:t>
                      </a:r>
                      <a:endParaRPr lang="en-IN" b="1" dirty="0"/>
                    </a:p>
                  </a:txBody>
                  <a:tcPr/>
                </a:tc>
                <a:tc>
                  <a:txBody>
                    <a:bodyPr/>
                    <a:lstStyle/>
                    <a:p>
                      <a:r>
                        <a:rPr lang="en-IN" b="1"/>
                        <a:t>YEAR</a:t>
                      </a:r>
                      <a:endParaRPr lang="en-IN" b="1" dirty="0"/>
                    </a:p>
                  </a:txBody>
                  <a:tcPr/>
                </a:tc>
                <a:tc>
                  <a:txBody>
                    <a:bodyPr/>
                    <a:lstStyle/>
                    <a:p>
                      <a:r>
                        <a:rPr lang="en-IN" b="1"/>
                        <a:t>TITLE</a:t>
                      </a:r>
                      <a:endParaRPr lang="en-IN" b="1" dirty="0"/>
                    </a:p>
                  </a:txBody>
                  <a:tcPr/>
                </a:tc>
                <a:tc>
                  <a:txBody>
                    <a:bodyPr/>
                    <a:lstStyle/>
                    <a:p>
                      <a:r>
                        <a:rPr lang="en-IN" b="1"/>
                        <a:t>TECHNOLOGY USED</a:t>
                      </a:r>
                      <a:endParaRPr lang="en-IN" b="1" dirty="0"/>
                    </a:p>
                  </a:txBody>
                  <a:tcPr/>
                </a:tc>
                <a:tc>
                  <a:txBody>
                    <a:bodyPr/>
                    <a:lstStyle/>
                    <a:p>
                      <a:r>
                        <a:rPr lang="en-IN" b="1"/>
                        <a:t>PARAMETERS ANALYSED</a:t>
                      </a:r>
                      <a:endParaRPr lang="en-IN" b="1" dirty="0"/>
                    </a:p>
                  </a:txBody>
                  <a:tcPr/>
                </a:tc>
                <a:extLst>
                  <a:ext uri="{0D108BD9-81ED-4DB2-BD59-A6C34878D82A}">
                    <a16:rowId xmlns:a16="http://schemas.microsoft.com/office/drawing/2014/main" val="3885796975"/>
                  </a:ext>
                </a:extLst>
              </a:tr>
              <a:tr h="370840">
                <a:tc>
                  <a:txBody>
                    <a:bodyPr/>
                    <a:lstStyle/>
                    <a:p>
                      <a:r>
                        <a:rPr lang="en-IN"/>
                        <a:t>1</a:t>
                      </a:r>
                      <a:endParaRPr lang="en-IN" dirty="0"/>
                    </a:p>
                  </a:txBody>
                  <a:tcPr/>
                </a:tc>
                <a:tc>
                  <a:txBody>
                    <a:bodyPr/>
                    <a:lstStyle/>
                    <a:p>
                      <a:r>
                        <a:rPr lang="en-IN"/>
                        <a:t>2021</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kern="1200">
                          <a:solidFill>
                            <a:schemeClr val="tx1"/>
                          </a:solidFill>
                          <a:effectLst/>
                          <a:latin typeface="+mn-lt"/>
                          <a:ea typeface="+mn-ea"/>
                          <a:cs typeface="+mn-cs"/>
                        </a:rPr>
                        <a:t>Design and Performance Comparison of 6-T SRAM Cell </a:t>
                      </a:r>
                    </a:p>
                    <a:p>
                      <a:endParaRPr lang="en-IN" dirty="0"/>
                    </a:p>
                  </a:txBody>
                  <a:tcPr/>
                </a:tc>
                <a:tc>
                  <a:txBody>
                    <a:bodyPr/>
                    <a:lstStyle/>
                    <a:p>
                      <a:r>
                        <a:rPr lang="en-IN" sz="1800" b="0" kern="1200">
                          <a:solidFill>
                            <a:schemeClr val="tx1"/>
                          </a:solidFill>
                          <a:effectLst/>
                          <a:latin typeface="+mn-lt"/>
                          <a:ea typeface="+mn-ea"/>
                          <a:cs typeface="+mn-cs"/>
                        </a:rPr>
                        <a:t>32nm CMOS, FinFET and CNTFET Technologies</a:t>
                      </a:r>
                      <a:endParaRPr lang="en-IN" dirty="0"/>
                    </a:p>
                  </a:txBody>
                  <a:tcPr/>
                </a:tc>
                <a:tc>
                  <a:txBody>
                    <a:bodyPr/>
                    <a:lstStyle/>
                    <a:p>
                      <a:pPr marL="285750" indent="-285750">
                        <a:buFont typeface="Arial" panose="020B0604020202020204" pitchFamily="34" charset="0"/>
                        <a:buChar char="•"/>
                      </a:pPr>
                      <a:r>
                        <a:rPr lang="en-IN" sz="1800" kern="1200">
                          <a:solidFill>
                            <a:schemeClr val="tx1"/>
                          </a:solidFill>
                          <a:effectLst/>
                          <a:latin typeface="+mn-lt"/>
                          <a:ea typeface="+mn-ea"/>
                          <a:cs typeface="+mn-cs"/>
                        </a:rPr>
                        <a:t>average power </a:t>
                      </a:r>
                    </a:p>
                    <a:p>
                      <a:pPr marL="285750" indent="-285750">
                        <a:buFont typeface="Arial" panose="020B0604020202020204" pitchFamily="34" charset="0"/>
                        <a:buChar char="•"/>
                      </a:pPr>
                      <a:r>
                        <a:rPr lang="en-IN" sz="1800" kern="1200">
                          <a:solidFill>
                            <a:schemeClr val="tx1"/>
                          </a:solidFill>
                          <a:effectLst/>
                          <a:latin typeface="+mn-lt"/>
                          <a:ea typeface="+mn-ea"/>
                          <a:cs typeface="+mn-cs"/>
                        </a:rPr>
                        <a:t>delay</a:t>
                      </a:r>
                    </a:p>
                    <a:p>
                      <a:pPr marL="285750" indent="-285750">
                        <a:buFont typeface="Arial" panose="020B0604020202020204" pitchFamily="34" charset="0"/>
                        <a:buChar char="•"/>
                      </a:pPr>
                      <a:r>
                        <a:rPr lang="en-IN" sz="1800" kern="1200">
                          <a:solidFill>
                            <a:schemeClr val="tx1"/>
                          </a:solidFill>
                          <a:effectLst/>
                          <a:latin typeface="+mn-lt"/>
                          <a:ea typeface="+mn-ea"/>
                          <a:cs typeface="+mn-cs"/>
                        </a:rPr>
                        <a:t>leakage current</a:t>
                      </a:r>
                    </a:p>
                    <a:p>
                      <a:pPr marL="285750" indent="-285750">
                        <a:buFont typeface="Arial" panose="020B0604020202020204" pitchFamily="34" charset="0"/>
                        <a:buChar char="•"/>
                      </a:pPr>
                      <a:r>
                        <a:rPr lang="en-IN" sz="1800" kern="1200">
                          <a:solidFill>
                            <a:schemeClr val="tx1"/>
                          </a:solidFill>
                          <a:effectLst/>
                          <a:latin typeface="+mn-lt"/>
                          <a:ea typeface="+mn-ea"/>
                          <a:cs typeface="+mn-cs"/>
                        </a:rPr>
                        <a:t>read stability</a:t>
                      </a:r>
                    </a:p>
                    <a:p>
                      <a:pPr marL="285750" indent="-285750">
                        <a:buFont typeface="Arial" panose="020B0604020202020204" pitchFamily="34" charset="0"/>
                        <a:buChar char="•"/>
                      </a:pPr>
                      <a:r>
                        <a:rPr lang="en-IN" sz="1800" kern="1200">
                          <a:solidFill>
                            <a:schemeClr val="tx1"/>
                          </a:solidFill>
                          <a:effectLst/>
                          <a:latin typeface="+mn-lt"/>
                          <a:ea typeface="+mn-ea"/>
                          <a:cs typeface="+mn-cs"/>
                        </a:rPr>
                        <a:t>write-ability</a:t>
                      </a:r>
                      <a:endParaRPr lang="en-IN" dirty="0"/>
                    </a:p>
                  </a:txBody>
                  <a:tcPr/>
                </a:tc>
                <a:extLst>
                  <a:ext uri="{0D108BD9-81ED-4DB2-BD59-A6C34878D82A}">
                    <a16:rowId xmlns:a16="http://schemas.microsoft.com/office/drawing/2014/main" val="1013876472"/>
                  </a:ext>
                </a:extLst>
              </a:tr>
              <a:tr h="370840">
                <a:tc>
                  <a:txBody>
                    <a:bodyPr/>
                    <a:lstStyle/>
                    <a:p>
                      <a:r>
                        <a:rPr lang="en-IN"/>
                        <a:t>2</a:t>
                      </a:r>
                      <a:endParaRPr lang="en-IN" dirty="0"/>
                    </a:p>
                  </a:txBody>
                  <a:tcPr/>
                </a:tc>
                <a:tc>
                  <a:txBody>
                    <a:bodyPr/>
                    <a:lstStyle/>
                    <a:p>
                      <a:r>
                        <a:rPr lang="en-IN"/>
                        <a:t>2019</a:t>
                      </a:r>
                      <a:endParaRPr lang="en-IN" dirty="0"/>
                    </a:p>
                  </a:txBody>
                  <a:tcPr/>
                </a:tc>
                <a:tc>
                  <a:txBody>
                    <a:bodyPr/>
                    <a:lstStyle/>
                    <a:p>
                      <a:r>
                        <a:rPr lang="en-IN" sz="1800" kern="100">
                          <a:solidFill>
                            <a:srgbClr val="222222"/>
                          </a:solidFill>
                          <a:effectLst/>
                          <a:ea typeface="Calibri" panose="020F0502020204030204" pitchFamily="34" charset="0"/>
                          <a:cs typeface="Times New Roman" panose="02020603050405020304" pitchFamily="18" charset="0"/>
                        </a:rPr>
                        <a:t>Performance Analysis of 6T and 9T SRAM</a:t>
                      </a:r>
                      <a:endParaRPr lang="en-IN" dirty="0"/>
                    </a:p>
                  </a:txBody>
                  <a:tcPr/>
                </a:tc>
                <a:tc>
                  <a:txBody>
                    <a:bodyPr/>
                    <a:lstStyle/>
                    <a:p>
                      <a:r>
                        <a:rPr lang="en-IN" sz="1800" kern="100">
                          <a:solidFill>
                            <a:srgbClr val="222222"/>
                          </a:solidFill>
                          <a:effectLst/>
                          <a:ea typeface="Calibri" panose="020F0502020204030204" pitchFamily="34" charset="0"/>
                          <a:cs typeface="Times New Roman" panose="02020603050405020304" pitchFamily="18" charset="0"/>
                        </a:rPr>
                        <a:t>45nm CMOS technology</a:t>
                      </a:r>
                      <a:endParaRPr lang="en-IN" dirty="0"/>
                    </a:p>
                  </a:txBody>
                  <a:tcPr/>
                </a:tc>
                <a:tc>
                  <a:txBody>
                    <a:bodyPr/>
                    <a:lstStyle/>
                    <a:p>
                      <a:pPr marL="285750" indent="-285750">
                        <a:buFont typeface="Arial" panose="020B0604020202020204" pitchFamily="34" charset="0"/>
                        <a:buChar char="•"/>
                      </a:pPr>
                      <a:r>
                        <a:rPr lang="en-IN" sz="1800" kern="100">
                          <a:solidFill>
                            <a:srgbClr val="222222"/>
                          </a:solidFill>
                          <a:effectLst/>
                          <a:ea typeface="Calibri" panose="020F0502020204030204" pitchFamily="34" charset="0"/>
                          <a:cs typeface="Times New Roman" panose="02020603050405020304" pitchFamily="18" charset="0"/>
                        </a:rPr>
                        <a:t>stability, </a:t>
                      </a:r>
                    </a:p>
                    <a:p>
                      <a:pPr marL="285750" indent="-285750">
                        <a:buFont typeface="Arial" panose="020B0604020202020204" pitchFamily="34" charset="0"/>
                        <a:buChar char="•"/>
                      </a:pPr>
                      <a:r>
                        <a:rPr lang="en-IN" sz="1800" kern="100">
                          <a:solidFill>
                            <a:srgbClr val="222222"/>
                          </a:solidFill>
                          <a:effectLst/>
                          <a:ea typeface="Calibri" panose="020F0502020204030204" pitchFamily="34" charset="0"/>
                          <a:cs typeface="Times New Roman" panose="02020603050405020304" pitchFamily="18" charset="0"/>
                        </a:rPr>
                        <a:t>leakage, </a:t>
                      </a:r>
                    </a:p>
                    <a:p>
                      <a:pPr marL="285750" indent="-285750">
                        <a:buFont typeface="Arial" panose="020B0604020202020204" pitchFamily="34" charset="0"/>
                        <a:buChar char="•"/>
                      </a:pPr>
                      <a:r>
                        <a:rPr lang="en-IN" sz="1800" kern="100">
                          <a:solidFill>
                            <a:srgbClr val="222222"/>
                          </a:solidFill>
                          <a:effectLst/>
                          <a:ea typeface="Calibri" panose="020F0502020204030204" pitchFamily="34" charset="0"/>
                          <a:cs typeface="Times New Roman" panose="02020603050405020304" pitchFamily="18" charset="0"/>
                        </a:rPr>
                        <a:t>process variations</a:t>
                      </a:r>
                      <a:endParaRPr lang="en-IN" dirty="0"/>
                    </a:p>
                  </a:txBody>
                  <a:tcPr/>
                </a:tc>
                <a:extLst>
                  <a:ext uri="{0D108BD9-81ED-4DB2-BD59-A6C34878D82A}">
                    <a16:rowId xmlns:a16="http://schemas.microsoft.com/office/drawing/2014/main" val="2843359456"/>
                  </a:ext>
                </a:extLst>
              </a:tr>
              <a:tr h="370840">
                <a:tc>
                  <a:txBody>
                    <a:bodyPr/>
                    <a:lstStyle/>
                    <a:p>
                      <a:r>
                        <a:rPr lang="en-IN"/>
                        <a:t>3</a:t>
                      </a:r>
                      <a:endParaRPr lang="en-IN" dirty="0"/>
                    </a:p>
                  </a:txBody>
                  <a:tcPr/>
                </a:tc>
                <a:tc>
                  <a:txBody>
                    <a:bodyPr/>
                    <a:lstStyle/>
                    <a:p>
                      <a:r>
                        <a:rPr lang="en-IN"/>
                        <a:t>2017</a:t>
                      </a:r>
                      <a:endParaRPr lang="en-IN" dirty="0"/>
                    </a:p>
                  </a:txBody>
                  <a:tcPr/>
                </a:tc>
                <a:tc>
                  <a:txBody>
                    <a:bodyPr/>
                    <a:lstStyle/>
                    <a:p>
                      <a:r>
                        <a:rPr lang="en-IN" sz="1800" kern="1200">
                          <a:solidFill>
                            <a:schemeClr val="tx1"/>
                          </a:solidFill>
                          <a:effectLst/>
                          <a:latin typeface="+mn-lt"/>
                          <a:ea typeface="+mn-ea"/>
                          <a:cs typeface="+mn-cs"/>
                        </a:rPr>
                        <a:t>Analysis of 6T SRAM cell in different technologies</a:t>
                      </a:r>
                      <a:endParaRPr lang="en-IN" dirty="0"/>
                    </a:p>
                  </a:txBody>
                  <a:tcPr/>
                </a:tc>
                <a:tc>
                  <a:txBody>
                    <a:bodyPr/>
                    <a:lstStyle/>
                    <a:p>
                      <a:r>
                        <a:rPr lang="en-IN" sz="1800" kern="1200">
                          <a:solidFill>
                            <a:schemeClr val="tx1"/>
                          </a:solidFill>
                          <a:effectLst/>
                          <a:latin typeface="+mn-lt"/>
                          <a:ea typeface="+mn-ea"/>
                          <a:cs typeface="+mn-cs"/>
                        </a:rPr>
                        <a:t>180nm, 90nm, and 45nm technology </a:t>
                      </a:r>
                      <a:endParaRPr lang="en-IN" dirty="0"/>
                    </a:p>
                  </a:txBody>
                  <a:tcPr/>
                </a:tc>
                <a:tc>
                  <a:txBody>
                    <a:bodyPr/>
                    <a:lstStyle/>
                    <a:p>
                      <a:pPr marL="285750" indent="-285750">
                        <a:buFont typeface="Arial" panose="020B0604020202020204" pitchFamily="34" charset="0"/>
                        <a:buChar char="•"/>
                      </a:pPr>
                      <a:r>
                        <a:rPr lang="en-IN" sz="1800" kern="1200">
                          <a:solidFill>
                            <a:schemeClr val="tx1"/>
                          </a:solidFill>
                          <a:effectLst/>
                          <a:latin typeface="+mn-lt"/>
                          <a:ea typeface="+mn-ea"/>
                          <a:cs typeface="+mn-cs"/>
                        </a:rPr>
                        <a:t>Speed</a:t>
                      </a:r>
                    </a:p>
                    <a:p>
                      <a:pPr marL="285750" indent="-285750">
                        <a:buFont typeface="Arial" panose="020B0604020202020204" pitchFamily="34" charset="0"/>
                        <a:buChar char="•"/>
                      </a:pPr>
                      <a:r>
                        <a:rPr lang="en-IN" sz="1800" kern="1200">
                          <a:solidFill>
                            <a:schemeClr val="tx1"/>
                          </a:solidFill>
                          <a:effectLst/>
                          <a:latin typeface="+mn-lt"/>
                          <a:ea typeface="+mn-ea"/>
                          <a:cs typeface="+mn-cs"/>
                        </a:rPr>
                        <a:t>power dissipation </a:t>
                      </a:r>
                    </a:p>
                    <a:p>
                      <a:pPr marL="285750" indent="-285750">
                        <a:buFont typeface="Arial" panose="020B0604020202020204" pitchFamily="34" charset="0"/>
                        <a:buChar char="•"/>
                      </a:pPr>
                      <a:r>
                        <a:rPr lang="en-IN" sz="1800" kern="1200">
                          <a:solidFill>
                            <a:schemeClr val="tx1"/>
                          </a:solidFill>
                          <a:effectLst/>
                          <a:latin typeface="+mn-lt"/>
                          <a:ea typeface="+mn-ea"/>
                          <a:cs typeface="+mn-cs"/>
                        </a:rPr>
                        <a:t>static noise margin. </a:t>
                      </a:r>
                      <a:endParaRPr lang="en-IN" dirty="0"/>
                    </a:p>
                  </a:txBody>
                  <a:tcPr/>
                </a:tc>
                <a:extLst>
                  <a:ext uri="{0D108BD9-81ED-4DB2-BD59-A6C34878D82A}">
                    <a16:rowId xmlns:a16="http://schemas.microsoft.com/office/drawing/2014/main" val="2449889776"/>
                  </a:ext>
                </a:extLst>
              </a:tr>
              <a:tr h="370840">
                <a:tc>
                  <a:txBody>
                    <a:bodyPr/>
                    <a:lstStyle/>
                    <a:p>
                      <a:r>
                        <a:rPr lang="en-IN"/>
                        <a:t>4</a:t>
                      </a:r>
                      <a:endParaRPr lang="en-IN" dirty="0"/>
                    </a:p>
                  </a:txBody>
                  <a:tcPr/>
                </a:tc>
                <a:tc>
                  <a:txBody>
                    <a:bodyPr/>
                    <a:lstStyle/>
                    <a:p>
                      <a:r>
                        <a:rPr lang="en-IN"/>
                        <a:t>2016</a:t>
                      </a:r>
                      <a:endParaRPr lang="en-IN" dirty="0"/>
                    </a:p>
                  </a:txBody>
                  <a:tcPr/>
                </a:tc>
                <a:tc>
                  <a:txBody>
                    <a:bodyPr/>
                    <a:lstStyle/>
                    <a:p>
                      <a:r>
                        <a:rPr lang="en-IN" sz="1800" kern="1200">
                          <a:solidFill>
                            <a:schemeClr val="tx1"/>
                          </a:solidFill>
                          <a:effectLst/>
                          <a:latin typeface="+mn-lt"/>
                          <a:ea typeface="+mn-ea"/>
                          <a:cs typeface="+mn-cs"/>
                        </a:rPr>
                        <a:t>Design of low power 6T-SRAM cell and analysis for high-speed application. </a:t>
                      </a:r>
                      <a:endParaRPr lang="en-IN" dirty="0"/>
                    </a:p>
                  </a:txBody>
                  <a:tcPr/>
                </a:tc>
                <a:tc>
                  <a:txBody>
                    <a:bodyPr/>
                    <a:lstStyle/>
                    <a:p>
                      <a:r>
                        <a:rPr lang="en-IN" sz="1800" kern="1200">
                          <a:solidFill>
                            <a:schemeClr val="tx1"/>
                          </a:solidFill>
                          <a:effectLst/>
                          <a:latin typeface="+mn-lt"/>
                          <a:ea typeface="+mn-ea"/>
                          <a:cs typeface="+mn-cs"/>
                        </a:rPr>
                        <a:t>90nm technology</a:t>
                      </a:r>
                      <a:endParaRPr lang="en-IN" dirty="0"/>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mn-lt"/>
                          <a:ea typeface="+mn-ea"/>
                          <a:cs typeface="+mn-cs"/>
                        </a:rPr>
                        <a:t>Static Noise Margin</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Data Retention Voltage</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Read Margin</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Write Margin</a:t>
                      </a:r>
                      <a:endParaRPr lang="en-IN" dirty="0"/>
                    </a:p>
                  </a:txBody>
                  <a:tcPr/>
                </a:tc>
                <a:extLst>
                  <a:ext uri="{0D108BD9-81ED-4DB2-BD59-A6C34878D82A}">
                    <a16:rowId xmlns:a16="http://schemas.microsoft.com/office/drawing/2014/main" val="3449088751"/>
                  </a:ext>
                </a:extLst>
              </a:tr>
            </a:tbl>
          </a:graphicData>
        </a:graphic>
      </p:graphicFrame>
    </p:spTree>
    <p:extLst>
      <p:ext uri="{BB962C8B-B14F-4D97-AF65-F5344CB8AC3E}">
        <p14:creationId xmlns:p14="http://schemas.microsoft.com/office/powerpoint/2010/main" val="3387509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A48587-3C30-718B-8279-D27044874CA2}"/>
              </a:ext>
            </a:extLst>
          </p:cNvPr>
          <p:cNvSpPr>
            <a:spLocks noGrp="1"/>
          </p:cNvSpPr>
          <p:nvPr>
            <p:ph type="sldNum" sz="quarter" idx="12"/>
          </p:nvPr>
        </p:nvSpPr>
        <p:spPr/>
        <p:txBody>
          <a:bodyPr/>
          <a:lstStyle/>
          <a:p>
            <a:fld id="{2B48B02D-6448-4399-BE2E-C025BF63EF34}" type="slidenum">
              <a:rPr lang="en-IN" smtClean="0"/>
              <a:t>7</a:t>
            </a:fld>
            <a:endParaRPr lang="en-IN"/>
          </a:p>
        </p:txBody>
      </p:sp>
      <p:graphicFrame>
        <p:nvGraphicFramePr>
          <p:cNvPr id="4" name="Table 3">
            <a:extLst>
              <a:ext uri="{FF2B5EF4-FFF2-40B4-BE49-F238E27FC236}">
                <a16:creationId xmlns:a16="http://schemas.microsoft.com/office/drawing/2014/main" id="{96F5241E-2C11-C7B1-BE1E-924A67AAF398}"/>
              </a:ext>
            </a:extLst>
          </p:cNvPr>
          <p:cNvGraphicFramePr>
            <a:graphicFrameLocks noGrp="1"/>
          </p:cNvGraphicFramePr>
          <p:nvPr>
            <p:extLst>
              <p:ext uri="{D42A27DB-BD31-4B8C-83A1-F6EECF244321}">
                <p14:modId xmlns:p14="http://schemas.microsoft.com/office/powerpoint/2010/main" val="3931381575"/>
              </p:ext>
            </p:extLst>
          </p:nvPr>
        </p:nvGraphicFramePr>
        <p:xfrm>
          <a:off x="303362" y="902599"/>
          <a:ext cx="11438628" cy="484632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335693675"/>
                    </a:ext>
                  </a:extLst>
                </a:gridCol>
                <a:gridCol w="1442721">
                  <a:extLst>
                    <a:ext uri="{9D8B030D-6E8A-4147-A177-3AD203B41FA5}">
                      <a16:colId xmlns:a16="http://schemas.microsoft.com/office/drawing/2014/main" val="3844715977"/>
                    </a:ext>
                  </a:extLst>
                </a:gridCol>
                <a:gridCol w="4242183">
                  <a:extLst>
                    <a:ext uri="{9D8B030D-6E8A-4147-A177-3AD203B41FA5}">
                      <a16:colId xmlns:a16="http://schemas.microsoft.com/office/drawing/2014/main" val="1813536483"/>
                    </a:ext>
                  </a:extLst>
                </a:gridCol>
                <a:gridCol w="2287726">
                  <a:extLst>
                    <a:ext uri="{9D8B030D-6E8A-4147-A177-3AD203B41FA5}">
                      <a16:colId xmlns:a16="http://schemas.microsoft.com/office/drawing/2014/main" val="9339324"/>
                    </a:ext>
                  </a:extLst>
                </a:gridCol>
                <a:gridCol w="2287726">
                  <a:extLst>
                    <a:ext uri="{9D8B030D-6E8A-4147-A177-3AD203B41FA5}">
                      <a16:colId xmlns:a16="http://schemas.microsoft.com/office/drawing/2014/main" val="928752027"/>
                    </a:ext>
                  </a:extLst>
                </a:gridCol>
              </a:tblGrid>
              <a:tr h="370840">
                <a:tc>
                  <a:txBody>
                    <a:bodyPr/>
                    <a:lstStyle/>
                    <a:p>
                      <a:r>
                        <a:rPr lang="en-IN" b="1" dirty="0"/>
                        <a:t>SNO</a:t>
                      </a:r>
                    </a:p>
                  </a:txBody>
                  <a:tcPr/>
                </a:tc>
                <a:tc>
                  <a:txBody>
                    <a:bodyPr/>
                    <a:lstStyle/>
                    <a:p>
                      <a:r>
                        <a:rPr lang="en-IN" b="1" dirty="0"/>
                        <a:t>YEAR</a:t>
                      </a:r>
                    </a:p>
                  </a:txBody>
                  <a:tcPr/>
                </a:tc>
                <a:tc>
                  <a:txBody>
                    <a:bodyPr/>
                    <a:lstStyle/>
                    <a:p>
                      <a:r>
                        <a:rPr lang="en-IN" b="1" dirty="0"/>
                        <a:t>TITLE</a:t>
                      </a:r>
                    </a:p>
                  </a:txBody>
                  <a:tcPr/>
                </a:tc>
                <a:tc>
                  <a:txBody>
                    <a:bodyPr/>
                    <a:lstStyle/>
                    <a:p>
                      <a:r>
                        <a:rPr lang="en-IN" b="1" dirty="0"/>
                        <a:t>TECHNOLOGY USED</a:t>
                      </a:r>
                    </a:p>
                  </a:txBody>
                  <a:tcPr/>
                </a:tc>
                <a:tc>
                  <a:txBody>
                    <a:bodyPr/>
                    <a:lstStyle/>
                    <a:p>
                      <a:r>
                        <a:rPr lang="en-IN" b="1" dirty="0"/>
                        <a:t>PARAMETERS ANALYSED</a:t>
                      </a:r>
                    </a:p>
                  </a:txBody>
                  <a:tcPr/>
                </a:tc>
                <a:extLst>
                  <a:ext uri="{0D108BD9-81ED-4DB2-BD59-A6C34878D82A}">
                    <a16:rowId xmlns:a16="http://schemas.microsoft.com/office/drawing/2014/main" val="4226829623"/>
                  </a:ext>
                </a:extLst>
              </a:tr>
              <a:tr h="370840">
                <a:tc>
                  <a:txBody>
                    <a:bodyPr/>
                    <a:lstStyle/>
                    <a:p>
                      <a:r>
                        <a:rPr lang="en-IN" dirty="0"/>
                        <a:t>5</a:t>
                      </a:r>
                    </a:p>
                  </a:txBody>
                  <a:tcPr/>
                </a:tc>
                <a:tc>
                  <a:txBody>
                    <a:bodyPr/>
                    <a:lstStyle/>
                    <a:p>
                      <a:r>
                        <a:rPr lang="en-IN" dirty="0"/>
                        <a:t>2015</a:t>
                      </a:r>
                    </a:p>
                  </a:txBody>
                  <a:tcPr/>
                </a:tc>
                <a:tc>
                  <a:txBody>
                    <a:bodyPr/>
                    <a:lstStyle/>
                    <a:p>
                      <a:r>
                        <a:rPr lang="en-IN" sz="1800" kern="1200" dirty="0">
                          <a:solidFill>
                            <a:schemeClr val="tx1"/>
                          </a:solidFill>
                          <a:effectLst/>
                          <a:latin typeface="+mn-lt"/>
                          <a:ea typeface="+mn-ea"/>
                          <a:cs typeface="+mn-cs"/>
                        </a:rPr>
                        <a:t>6T SRAM Cell: Design And Analysis</a:t>
                      </a:r>
                      <a:endParaRPr lang="en-IN" dirty="0"/>
                    </a:p>
                  </a:txBody>
                  <a:tcPr/>
                </a:tc>
                <a:tc>
                  <a:txBody>
                    <a:bodyPr/>
                    <a:lstStyle/>
                    <a:p>
                      <a:r>
                        <a:rPr lang="en-IN" sz="1800" kern="1200" dirty="0">
                          <a:solidFill>
                            <a:schemeClr val="tx1"/>
                          </a:solidFill>
                          <a:effectLst/>
                          <a:latin typeface="+mn-lt"/>
                          <a:ea typeface="+mn-ea"/>
                          <a:cs typeface="+mn-cs"/>
                        </a:rPr>
                        <a:t>45nm and 180nm technologies</a:t>
                      </a:r>
                      <a:endParaRPr lang="en-IN" dirty="0"/>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mn-lt"/>
                          <a:ea typeface="+mn-ea"/>
                          <a:cs typeface="+mn-cs"/>
                        </a:rPr>
                        <a:t>power consumption</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delay</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SNM.</a:t>
                      </a:r>
                      <a:endParaRPr lang="en-IN" dirty="0"/>
                    </a:p>
                  </a:txBody>
                  <a:tcPr/>
                </a:tc>
                <a:extLst>
                  <a:ext uri="{0D108BD9-81ED-4DB2-BD59-A6C34878D82A}">
                    <a16:rowId xmlns:a16="http://schemas.microsoft.com/office/drawing/2014/main" val="307445347"/>
                  </a:ext>
                </a:extLst>
              </a:tr>
              <a:tr h="370840">
                <a:tc>
                  <a:txBody>
                    <a:bodyPr/>
                    <a:lstStyle/>
                    <a:p>
                      <a:r>
                        <a:rPr lang="en-IN" dirty="0"/>
                        <a:t>6</a:t>
                      </a:r>
                    </a:p>
                  </a:txBody>
                  <a:tcPr/>
                </a:tc>
                <a:tc>
                  <a:txBody>
                    <a:bodyPr/>
                    <a:lstStyle/>
                    <a:p>
                      <a:r>
                        <a:rPr lang="en-IN" dirty="0"/>
                        <a:t>2014</a:t>
                      </a:r>
                    </a:p>
                  </a:txBody>
                  <a:tcPr/>
                </a:tc>
                <a:tc>
                  <a:txBody>
                    <a:bodyPr/>
                    <a:lstStyle/>
                    <a:p>
                      <a:r>
                        <a:rPr lang="en-IN" sz="1800" kern="1200" dirty="0">
                          <a:solidFill>
                            <a:schemeClr val="tx1"/>
                          </a:solidFill>
                          <a:effectLst/>
                          <a:latin typeface="+mn-lt"/>
                          <a:ea typeface="+mn-ea"/>
                          <a:cs typeface="+mn-cs"/>
                        </a:rPr>
                        <a:t>A Comparative Analysis of 6 Transistor SRAM and 6T ROM Embedded SRAM. </a:t>
                      </a:r>
                      <a:endParaRPr lang="en-IN" dirty="0"/>
                    </a:p>
                  </a:txBody>
                  <a:tcPr/>
                </a:tc>
                <a:tc>
                  <a:txBody>
                    <a:bodyPr/>
                    <a:lstStyle/>
                    <a:p>
                      <a:r>
                        <a:rPr lang="en-IN" sz="1800" kern="1200" dirty="0">
                          <a:solidFill>
                            <a:schemeClr val="tx1"/>
                          </a:solidFill>
                          <a:effectLst/>
                          <a:latin typeface="+mn-lt"/>
                          <a:ea typeface="+mn-ea"/>
                          <a:cs typeface="+mn-cs"/>
                        </a:rPr>
                        <a:t>power comparisons</a:t>
                      </a:r>
                      <a:endParaRPr lang="en-IN" dirty="0"/>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mn-lt"/>
                          <a:ea typeface="+mn-ea"/>
                          <a:cs typeface="+mn-cs"/>
                        </a:rPr>
                        <a:t>LT SPICE Software</a:t>
                      </a:r>
                      <a:endParaRPr lang="en-IN" dirty="0"/>
                    </a:p>
                  </a:txBody>
                  <a:tcPr/>
                </a:tc>
                <a:extLst>
                  <a:ext uri="{0D108BD9-81ED-4DB2-BD59-A6C34878D82A}">
                    <a16:rowId xmlns:a16="http://schemas.microsoft.com/office/drawing/2014/main" val="1634262347"/>
                  </a:ext>
                </a:extLst>
              </a:tr>
              <a:tr h="370840">
                <a:tc>
                  <a:txBody>
                    <a:bodyPr/>
                    <a:lstStyle/>
                    <a:p>
                      <a:r>
                        <a:rPr lang="en-IN" b="0" dirty="0"/>
                        <a:t>7</a:t>
                      </a:r>
                    </a:p>
                  </a:txBody>
                  <a:tcPr/>
                </a:tc>
                <a:tc>
                  <a:txBody>
                    <a:bodyPr/>
                    <a:lstStyle/>
                    <a:p>
                      <a:r>
                        <a:rPr lang="en-IN" b="0" dirty="0"/>
                        <a:t>2022</a:t>
                      </a:r>
                    </a:p>
                  </a:txBody>
                  <a:tcPr/>
                </a:tc>
                <a:tc>
                  <a:txBody>
                    <a:bodyPr/>
                    <a:lstStyle/>
                    <a:p>
                      <a:r>
                        <a:rPr lang="en-IN" sz="1800" kern="1200" dirty="0">
                          <a:solidFill>
                            <a:schemeClr val="tx1"/>
                          </a:solidFill>
                          <a:effectLst/>
                          <a:latin typeface="+mn-lt"/>
                          <a:ea typeface="+mn-ea"/>
                          <a:cs typeface="+mn-cs"/>
                        </a:rPr>
                        <a:t>A comparative performance analysis of 6T &amp; 9T SRAM integrated circuits</a:t>
                      </a:r>
                      <a:endParaRPr lang="en-IN" b="1" dirty="0"/>
                    </a:p>
                  </a:txBody>
                  <a:tcPr/>
                </a:tc>
                <a:tc>
                  <a:txBody>
                    <a:bodyPr/>
                    <a:lstStyle/>
                    <a:p>
                      <a:r>
                        <a:rPr lang="en-IN" dirty="0"/>
                        <a:t>180 nm </a:t>
                      </a:r>
                      <a:r>
                        <a:rPr lang="en-IN" sz="1800" b="0" kern="1200" dirty="0">
                          <a:solidFill>
                            <a:schemeClr val="tx1"/>
                          </a:solidFill>
                          <a:effectLst/>
                          <a:latin typeface="+mn-lt"/>
                          <a:ea typeface="+mn-ea"/>
                          <a:cs typeface="+mn-cs"/>
                        </a:rPr>
                        <a:t>Technologies</a:t>
                      </a:r>
                      <a:endParaRPr lang="en-IN" b="1" dirty="0"/>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mn-lt"/>
                          <a:ea typeface="+mn-ea"/>
                          <a:cs typeface="+mn-cs"/>
                        </a:rPr>
                        <a:t>data stability</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power metrics </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Temperature variations</a:t>
                      </a:r>
                      <a:endParaRPr lang="en-IN" b="1" dirty="0"/>
                    </a:p>
                  </a:txBody>
                  <a:tcPr/>
                </a:tc>
                <a:extLst>
                  <a:ext uri="{0D108BD9-81ED-4DB2-BD59-A6C34878D82A}">
                    <a16:rowId xmlns:a16="http://schemas.microsoft.com/office/drawing/2014/main" val="1610174349"/>
                  </a:ext>
                </a:extLst>
              </a:tr>
              <a:tr h="370840">
                <a:tc>
                  <a:txBody>
                    <a:bodyPr/>
                    <a:lstStyle/>
                    <a:p>
                      <a:r>
                        <a:rPr lang="en-IN" b="0" dirty="0"/>
                        <a:t>8</a:t>
                      </a:r>
                    </a:p>
                  </a:txBody>
                  <a:tcPr/>
                </a:tc>
                <a:tc>
                  <a:txBody>
                    <a:bodyPr/>
                    <a:lstStyle/>
                    <a:p>
                      <a:r>
                        <a:rPr lang="en-IN" b="0" dirty="0"/>
                        <a:t>2012</a:t>
                      </a:r>
                    </a:p>
                  </a:txBody>
                  <a:tcPr/>
                </a:tc>
                <a:tc>
                  <a:txBody>
                    <a:bodyPr/>
                    <a:lstStyle/>
                    <a:p>
                      <a:r>
                        <a:rPr lang="en-IN" sz="1800" kern="1200" dirty="0">
                          <a:solidFill>
                            <a:schemeClr val="tx1"/>
                          </a:solidFill>
                          <a:effectLst/>
                          <a:latin typeface="+mn-lt"/>
                          <a:ea typeface="+mn-ea"/>
                          <a:cs typeface="+mn-cs"/>
                        </a:rPr>
                        <a:t>Implementation and </a:t>
                      </a:r>
                      <a:r>
                        <a:rPr lang="en-IN" sz="1800" kern="1200" dirty="0" err="1">
                          <a:solidFill>
                            <a:schemeClr val="tx1"/>
                          </a:solidFill>
                          <a:effectLst/>
                          <a:latin typeface="+mn-lt"/>
                          <a:ea typeface="+mn-ea"/>
                          <a:cs typeface="+mn-cs"/>
                        </a:rPr>
                        <a:t>desing</a:t>
                      </a:r>
                      <a:r>
                        <a:rPr lang="en-IN" sz="1800" kern="1200" dirty="0">
                          <a:solidFill>
                            <a:schemeClr val="tx1"/>
                          </a:solidFill>
                          <a:effectLst/>
                          <a:latin typeface="+mn-lt"/>
                          <a:ea typeface="+mn-ea"/>
                          <a:cs typeface="+mn-cs"/>
                        </a:rPr>
                        <a:t> of 6T-SRAM with read and write assists circuits</a:t>
                      </a:r>
                      <a:endParaRPr lang="en-IN" b="1" dirty="0"/>
                    </a:p>
                  </a:txBody>
                  <a:tcPr/>
                </a:tc>
                <a:tc>
                  <a:txBody>
                    <a:bodyPr/>
                    <a:lstStyle/>
                    <a:p>
                      <a:pPr algn="just"/>
                      <a:r>
                        <a:rPr lang="en-IN" sz="1800" kern="1200" dirty="0">
                          <a:solidFill>
                            <a:schemeClr val="tx1"/>
                          </a:solidFill>
                          <a:effectLst/>
                          <a:latin typeface="+mn-lt"/>
                          <a:ea typeface="+mn-ea"/>
                          <a:cs typeface="+mn-cs"/>
                        </a:rPr>
                        <a:t>65nm technology along with a comparison to 120nm technology</a:t>
                      </a:r>
                      <a:endParaRPr lang="en-IN" b="1" dirty="0"/>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mn-lt"/>
                          <a:ea typeface="+mn-ea"/>
                          <a:cs typeface="+mn-cs"/>
                        </a:rPr>
                        <a:t>Power dissipation</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circuit layouts</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schematics</a:t>
                      </a:r>
                    </a:p>
                    <a:p>
                      <a:pPr marL="285750" indent="-285750">
                        <a:buFont typeface="Arial" panose="020B0604020202020204" pitchFamily="34" charset="0"/>
                        <a:buChar char="•"/>
                      </a:pPr>
                      <a:r>
                        <a:rPr lang="en-IN" sz="1800" kern="1200" dirty="0">
                          <a:solidFill>
                            <a:schemeClr val="tx1"/>
                          </a:solidFill>
                          <a:effectLst/>
                          <a:latin typeface="+mn-lt"/>
                          <a:ea typeface="+mn-ea"/>
                          <a:cs typeface="+mn-cs"/>
                        </a:rPr>
                        <a:t>simulation results</a:t>
                      </a:r>
                      <a:endParaRPr lang="en-IN" b="1" dirty="0"/>
                    </a:p>
                  </a:txBody>
                  <a:tcPr/>
                </a:tc>
                <a:extLst>
                  <a:ext uri="{0D108BD9-81ED-4DB2-BD59-A6C34878D82A}">
                    <a16:rowId xmlns:a16="http://schemas.microsoft.com/office/drawing/2014/main" val="977852501"/>
                  </a:ext>
                </a:extLst>
              </a:tr>
            </a:tbl>
          </a:graphicData>
        </a:graphic>
      </p:graphicFrame>
    </p:spTree>
    <p:extLst>
      <p:ext uri="{BB962C8B-B14F-4D97-AF65-F5344CB8AC3E}">
        <p14:creationId xmlns:p14="http://schemas.microsoft.com/office/powerpoint/2010/main" val="375096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E52A7A-BCFD-D59F-235B-28427105057A}"/>
              </a:ext>
            </a:extLst>
          </p:cNvPr>
          <p:cNvSpPr txBox="1"/>
          <p:nvPr/>
        </p:nvSpPr>
        <p:spPr>
          <a:xfrm>
            <a:off x="717422" y="2262541"/>
            <a:ext cx="3283078"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FFFFFF"/>
                </a:solidFill>
                <a:effectLst/>
                <a:latin typeface="+mj-lt"/>
                <a:ea typeface="+mj-ea"/>
                <a:cs typeface="+mj-cs"/>
              </a:rPr>
              <a:t>METHODOLOGY</a:t>
            </a:r>
          </a:p>
          <a:p>
            <a:pPr algn="ctr">
              <a:lnSpc>
                <a:spcPct val="90000"/>
              </a:lnSpc>
              <a:spcBef>
                <a:spcPct val="0"/>
              </a:spcBef>
              <a:spcAft>
                <a:spcPts val="600"/>
              </a:spcAft>
            </a:pPr>
            <a:endParaRPr lang="en-US" sz="3600"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8C7501A5-3316-AF0D-81DC-8041537B85E9}"/>
              </a:ext>
            </a:extLst>
          </p:cNvPr>
          <p:cNvPicPr>
            <a:picLocks noChangeAspect="1"/>
          </p:cNvPicPr>
          <p:nvPr/>
        </p:nvPicPr>
        <p:blipFill>
          <a:blip r:embed="rId2"/>
          <a:stretch>
            <a:fillRect/>
          </a:stretch>
        </p:blipFill>
        <p:spPr>
          <a:xfrm>
            <a:off x="4216526" y="386569"/>
            <a:ext cx="7686675" cy="5708650"/>
          </a:xfrm>
          <a:prstGeom prst="rect">
            <a:avLst/>
          </a:prstGeom>
        </p:spPr>
      </p:pic>
      <p:sp>
        <p:nvSpPr>
          <p:cNvPr id="3" name="Slide Number Placeholder 2">
            <a:extLst>
              <a:ext uri="{FF2B5EF4-FFF2-40B4-BE49-F238E27FC236}">
                <a16:creationId xmlns:a16="http://schemas.microsoft.com/office/drawing/2014/main" id="{3DE17CFB-6A9E-59CF-C6BE-D18EF65BA8C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rPr>
              <a:pPr>
                <a:spcAft>
                  <a:spcPts val="600"/>
                </a:spcAft>
              </a:pPr>
              <a:t>8</a:t>
            </a:fld>
            <a:endParaRPr lang="en-US">
              <a:solidFill>
                <a:schemeClr val="tx1">
                  <a:alpha val="80000"/>
                </a:schemeClr>
              </a:solidFill>
            </a:endParaRPr>
          </a:p>
        </p:txBody>
      </p:sp>
    </p:spTree>
    <p:extLst>
      <p:ext uri="{BB962C8B-B14F-4D97-AF65-F5344CB8AC3E}">
        <p14:creationId xmlns:p14="http://schemas.microsoft.com/office/powerpoint/2010/main" val="2575810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A75567-1D82-6E7F-6361-E2F0376BDCC4}"/>
              </a:ext>
            </a:extLst>
          </p:cNvPr>
          <p:cNvSpPr>
            <a:spLocks noGrp="1"/>
          </p:cNvSpPr>
          <p:nvPr>
            <p:ph type="sldNum" sz="quarter" idx="12"/>
          </p:nvPr>
        </p:nvSpPr>
        <p:spPr/>
        <p:txBody>
          <a:bodyPr/>
          <a:lstStyle/>
          <a:p>
            <a:fld id="{2B48B02D-6448-4399-BE2E-C025BF63EF34}" type="slidenum">
              <a:rPr lang="en-IN" smtClean="0"/>
              <a:t>9</a:t>
            </a:fld>
            <a:endParaRPr lang="en-IN"/>
          </a:p>
        </p:txBody>
      </p:sp>
      <p:sp>
        <p:nvSpPr>
          <p:cNvPr id="5" name="TextBox 4">
            <a:extLst>
              <a:ext uri="{FF2B5EF4-FFF2-40B4-BE49-F238E27FC236}">
                <a16:creationId xmlns:a16="http://schemas.microsoft.com/office/drawing/2014/main" id="{401E7FAD-C204-765E-F037-FF82306403A3}"/>
              </a:ext>
            </a:extLst>
          </p:cNvPr>
          <p:cNvSpPr txBox="1"/>
          <p:nvPr/>
        </p:nvSpPr>
        <p:spPr>
          <a:xfrm>
            <a:off x="388189" y="174952"/>
            <a:ext cx="11214339" cy="668304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t>Create a Library:</a:t>
            </a:r>
            <a:r>
              <a:rPr lang="en-IN" sz="2400" dirty="0"/>
              <a:t> Launch Virtuoso and initiate a new project. Set a name and location for your library. Determine the technology file (.</a:t>
            </a:r>
            <a:r>
              <a:rPr lang="en-IN" sz="2400" dirty="0" err="1"/>
              <a:t>tf</a:t>
            </a:r>
            <a:r>
              <a:rPr lang="en-IN" sz="2400" dirty="0"/>
              <a:t>) that specifies design rules and device models.</a:t>
            </a:r>
          </a:p>
          <a:p>
            <a:pPr marL="342900" indent="-342900" algn="just">
              <a:lnSpc>
                <a:spcPct val="150000"/>
              </a:lnSpc>
              <a:buFont typeface="Arial" panose="020B0604020202020204" pitchFamily="34" charset="0"/>
              <a:buChar char="•"/>
            </a:pPr>
            <a:r>
              <a:rPr lang="en-IN" sz="2400" b="1" dirty="0"/>
              <a:t>Example: </a:t>
            </a:r>
            <a:r>
              <a:rPr lang="en-IN" sz="2400" dirty="0"/>
              <a:t>gpdk45 library.</a:t>
            </a:r>
          </a:p>
          <a:p>
            <a:pPr marL="342900" indent="-342900" algn="just">
              <a:lnSpc>
                <a:spcPct val="150000"/>
              </a:lnSpc>
              <a:buFont typeface="Arial" panose="020B0604020202020204" pitchFamily="34" charset="0"/>
              <a:buChar char="•"/>
            </a:pPr>
            <a:r>
              <a:rPr lang="en-IN" sz="2400" b="1" dirty="0"/>
              <a:t>Draw Schematic:</a:t>
            </a:r>
            <a:r>
              <a:rPr lang="en-IN" sz="2400" dirty="0"/>
              <a:t> Access the schematic editor and create a new schematic. Utilize the component library to place devices (transistors, resistors, etc.).Connect devices with wires and add necessary labels.</a:t>
            </a:r>
          </a:p>
          <a:p>
            <a:pPr marL="342900" indent="-342900" algn="just">
              <a:lnSpc>
                <a:spcPct val="150000"/>
              </a:lnSpc>
              <a:buFont typeface="Arial" panose="020B0604020202020204" pitchFamily="34" charset="0"/>
              <a:buChar char="•"/>
            </a:pPr>
            <a:r>
              <a:rPr lang="en-IN" sz="2400" b="1" dirty="0"/>
              <a:t>Run Simulation: </a:t>
            </a:r>
            <a:r>
              <a:rPr lang="en-IN" sz="2400" dirty="0"/>
              <a:t>Choose the appropriate simulator (e.g., Spectre for </a:t>
            </a:r>
            <a:r>
              <a:rPr lang="en-IN" sz="2400" dirty="0" err="1"/>
              <a:t>analog</a:t>
            </a:r>
            <a:r>
              <a:rPr lang="en-IN" sz="2400" dirty="0"/>
              <a:t>, AMS Designer for mixed-signal). </a:t>
            </a:r>
            <a:r>
              <a:rPr lang="en-IN" sz="2400" dirty="0" err="1"/>
              <a:t>Analyze</a:t>
            </a:r>
            <a:r>
              <a:rPr lang="en-IN" sz="2400" dirty="0"/>
              <a:t> circuit </a:t>
            </a:r>
            <a:r>
              <a:rPr lang="en-IN" sz="2400" dirty="0" err="1"/>
              <a:t>behavior</a:t>
            </a:r>
            <a:r>
              <a:rPr lang="en-IN" sz="2400" dirty="0"/>
              <a:t> and observe waveforms.</a:t>
            </a:r>
          </a:p>
          <a:p>
            <a:pPr marL="342900" indent="-342900" algn="just">
              <a:lnSpc>
                <a:spcPct val="150000"/>
              </a:lnSpc>
              <a:buFont typeface="Arial" panose="020B0604020202020204" pitchFamily="34" charset="0"/>
              <a:buChar char="•"/>
            </a:pPr>
            <a:r>
              <a:rPr lang="en-IN" sz="2400" b="1" dirty="0"/>
              <a:t>Create Layout:</a:t>
            </a:r>
            <a:r>
              <a:rPr lang="en-IN" sz="2400" dirty="0"/>
              <a:t> Access the layout editor and create a new layout for each schematic. Place devices and route connections according to design rules.</a:t>
            </a:r>
          </a:p>
          <a:p>
            <a:pPr marL="342900" indent="-342900" algn="just">
              <a:lnSpc>
                <a:spcPct val="150000"/>
              </a:lnSpc>
              <a:buFont typeface="Arial" panose="020B0604020202020204" pitchFamily="34" charset="0"/>
              <a:buChar char="•"/>
            </a:pPr>
            <a:endParaRPr lang="en-IN" sz="2400" dirty="0"/>
          </a:p>
        </p:txBody>
      </p:sp>
    </p:spTree>
    <p:extLst>
      <p:ext uri="{BB962C8B-B14F-4D97-AF65-F5344CB8AC3E}">
        <p14:creationId xmlns:p14="http://schemas.microsoft.com/office/powerpoint/2010/main" val="360833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94B25F-C345-5798-56EF-E05DFF91370F}"/>
              </a:ext>
            </a:extLst>
          </p:cNvPr>
          <p:cNvSpPr>
            <a:spLocks noGrp="1"/>
          </p:cNvSpPr>
          <p:nvPr>
            <p:ph type="sldNum" sz="quarter" idx="12"/>
          </p:nvPr>
        </p:nvSpPr>
        <p:spPr/>
        <p:txBody>
          <a:bodyPr/>
          <a:lstStyle/>
          <a:p>
            <a:fld id="{2B48B02D-6448-4399-BE2E-C025BF63EF34}" type="slidenum">
              <a:rPr lang="en-IN" smtClean="0"/>
              <a:t>10</a:t>
            </a:fld>
            <a:endParaRPr lang="en-IN"/>
          </a:p>
        </p:txBody>
      </p:sp>
      <p:sp>
        <p:nvSpPr>
          <p:cNvPr id="5" name="TextBox 4">
            <a:extLst>
              <a:ext uri="{FF2B5EF4-FFF2-40B4-BE49-F238E27FC236}">
                <a16:creationId xmlns:a16="http://schemas.microsoft.com/office/drawing/2014/main" id="{6AB0A197-8FA3-4612-B27D-1953C6A62999}"/>
              </a:ext>
            </a:extLst>
          </p:cNvPr>
          <p:cNvSpPr txBox="1"/>
          <p:nvPr/>
        </p:nvSpPr>
        <p:spPr>
          <a:xfrm>
            <a:off x="838200" y="904192"/>
            <a:ext cx="10696755" cy="4467057"/>
          </a:xfrm>
          <a:prstGeom prst="rect">
            <a:avLst/>
          </a:prstGeom>
          <a:noFill/>
        </p:spPr>
        <p:txBody>
          <a:bodyPr wrap="square">
            <a:spAutoFit/>
          </a:bodyPr>
          <a:lstStyle/>
          <a:p>
            <a:pPr algn="just">
              <a:lnSpc>
                <a:spcPct val="150000"/>
              </a:lnSpc>
            </a:pPr>
            <a:r>
              <a:rPr lang="en-IN" sz="2400" b="1" dirty="0"/>
              <a:t>DESIGN VERIFICATION:</a:t>
            </a:r>
          </a:p>
          <a:p>
            <a:pPr marL="342900" indent="-342900" algn="just">
              <a:lnSpc>
                <a:spcPct val="150000"/>
              </a:lnSpc>
              <a:buFont typeface="Arial" panose="020B0604020202020204" pitchFamily="34" charset="0"/>
              <a:buChar char="•"/>
            </a:pPr>
            <a:r>
              <a:rPr lang="en-IN" sz="2400" b="1" dirty="0"/>
              <a:t>Run Design Rule Check (DRC):</a:t>
            </a:r>
            <a:r>
              <a:rPr lang="en-IN" sz="2400" dirty="0"/>
              <a:t>Ensure layout matches to technology design rules.</a:t>
            </a:r>
          </a:p>
          <a:p>
            <a:pPr marL="342900" indent="-342900" algn="just">
              <a:lnSpc>
                <a:spcPct val="150000"/>
              </a:lnSpc>
              <a:buFont typeface="Arial" panose="020B0604020202020204" pitchFamily="34" charset="0"/>
              <a:buChar char="•"/>
            </a:pPr>
            <a:r>
              <a:rPr lang="en-IN" sz="2400" b="1" dirty="0"/>
              <a:t>Perform Layout Versus Schematic (LVS) Check: </a:t>
            </a:r>
            <a:r>
              <a:rPr lang="en-IN" sz="2400" dirty="0"/>
              <a:t>Verify layout connectivity matches schematic.</a:t>
            </a:r>
          </a:p>
          <a:p>
            <a:pPr marL="342900" indent="-342900" algn="just">
              <a:lnSpc>
                <a:spcPct val="150000"/>
              </a:lnSpc>
              <a:buFont typeface="Arial" panose="020B0604020202020204" pitchFamily="34" charset="0"/>
              <a:buChar char="•"/>
            </a:pPr>
            <a:r>
              <a:rPr lang="en-IN" sz="2400" b="1" dirty="0"/>
              <a:t>Perform Electrical Rule Check (ERC):</a:t>
            </a:r>
            <a:r>
              <a:rPr lang="en-IN" sz="2400" dirty="0"/>
              <a:t>Confirm layout electrical correctness.</a:t>
            </a:r>
          </a:p>
          <a:p>
            <a:pPr algn="just">
              <a:lnSpc>
                <a:spcPct val="150000"/>
              </a:lnSpc>
            </a:pPr>
            <a:r>
              <a:rPr lang="en-IN" sz="2400" b="1" dirty="0"/>
              <a:t>DRC/LVS Fix and Final Layout</a:t>
            </a:r>
          </a:p>
          <a:p>
            <a:pPr marL="342900" indent="-342900" algn="just">
              <a:lnSpc>
                <a:spcPct val="150000"/>
              </a:lnSpc>
              <a:buFont typeface="Arial" panose="020B0604020202020204" pitchFamily="34" charset="0"/>
              <a:buChar char="•"/>
            </a:pPr>
            <a:r>
              <a:rPr lang="en-IN" sz="2400" b="1" dirty="0"/>
              <a:t>Address DRC/LVS Violations: </a:t>
            </a:r>
            <a:r>
              <a:rPr lang="en-IN" sz="2400" dirty="0"/>
              <a:t>Modify layout to resolve any violations.</a:t>
            </a:r>
          </a:p>
          <a:p>
            <a:pPr marL="342900" indent="-342900" algn="just">
              <a:lnSpc>
                <a:spcPct val="150000"/>
              </a:lnSpc>
              <a:buFont typeface="Arial" panose="020B0604020202020204" pitchFamily="34" charset="0"/>
              <a:buChar char="•"/>
            </a:pPr>
            <a:r>
              <a:rPr lang="en-IN" sz="2400" b="1" dirty="0"/>
              <a:t>Generate Final Layout: </a:t>
            </a:r>
            <a:r>
              <a:rPr lang="en-IN" sz="2400" dirty="0"/>
              <a:t>Produce the GDSII file for fabrication</a:t>
            </a:r>
          </a:p>
        </p:txBody>
      </p:sp>
    </p:spTree>
    <p:extLst>
      <p:ext uri="{BB962C8B-B14F-4D97-AF65-F5344CB8AC3E}">
        <p14:creationId xmlns:p14="http://schemas.microsoft.com/office/powerpoint/2010/main" val="964859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6AC21E6-6D07-9B7E-8757-3DE4302D6C34}"/>
              </a:ext>
            </a:extLst>
          </p:cNvPr>
          <p:cNvSpPr txBox="1"/>
          <p:nvPr/>
        </p:nvSpPr>
        <p:spPr>
          <a:xfrm>
            <a:off x="1019175" y="215420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FFFFFF"/>
                </a:solidFill>
                <a:effectLst/>
                <a:latin typeface="+mj-lt"/>
                <a:ea typeface="+mj-ea"/>
                <a:cs typeface="+mj-cs"/>
              </a:rPr>
              <a:t>DESIGN ANALYSIS</a:t>
            </a:r>
          </a:p>
          <a:p>
            <a:pPr algn="ctr">
              <a:lnSpc>
                <a:spcPct val="90000"/>
              </a:lnSpc>
              <a:spcBef>
                <a:spcPct val="0"/>
              </a:spcBef>
              <a:spcAft>
                <a:spcPts val="600"/>
              </a:spcAft>
            </a:pPr>
            <a:endParaRPr lang="en-US" sz="3600" b="1" kern="1200" dirty="0">
              <a:solidFill>
                <a:srgbClr val="FFFFFF"/>
              </a:solidFill>
              <a:latin typeface="+mj-lt"/>
              <a:ea typeface="+mj-ea"/>
              <a:cs typeface="+mj-cs"/>
            </a:endParaRPr>
          </a:p>
        </p:txBody>
      </p:sp>
      <p:pic>
        <p:nvPicPr>
          <p:cNvPr id="7" name="Picture 6">
            <a:extLst>
              <a:ext uri="{FF2B5EF4-FFF2-40B4-BE49-F238E27FC236}">
                <a16:creationId xmlns:a16="http://schemas.microsoft.com/office/drawing/2014/main" id="{D84E36F0-08ED-240B-53CE-16787FA65A98}"/>
              </a:ext>
            </a:extLst>
          </p:cNvPr>
          <p:cNvPicPr>
            <a:picLocks noChangeAspect="1"/>
          </p:cNvPicPr>
          <p:nvPr/>
        </p:nvPicPr>
        <p:blipFill>
          <a:blip r:embed="rId2"/>
          <a:stretch>
            <a:fillRect/>
          </a:stretch>
        </p:blipFill>
        <p:spPr>
          <a:xfrm>
            <a:off x="4777316" y="978307"/>
            <a:ext cx="6780700" cy="4899056"/>
          </a:xfrm>
          <a:prstGeom prst="rect">
            <a:avLst/>
          </a:prstGeom>
        </p:spPr>
      </p:pic>
      <p:sp>
        <p:nvSpPr>
          <p:cNvPr id="3" name="Slide Number Placeholder 2">
            <a:extLst>
              <a:ext uri="{FF2B5EF4-FFF2-40B4-BE49-F238E27FC236}">
                <a16:creationId xmlns:a16="http://schemas.microsoft.com/office/drawing/2014/main" id="{B55C9450-9D13-53DF-4931-0B0A25B241B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rPr>
              <a:pPr>
                <a:spcAft>
                  <a:spcPts val="600"/>
                </a:spcAft>
              </a:pPr>
              <a:t>11</a:t>
            </a:fld>
            <a:endParaRPr lang="en-US">
              <a:solidFill>
                <a:schemeClr val="tx1">
                  <a:alpha val="80000"/>
                </a:schemeClr>
              </a:solidFill>
            </a:endParaRPr>
          </a:p>
        </p:txBody>
      </p:sp>
    </p:spTree>
    <p:extLst>
      <p:ext uri="{BB962C8B-B14F-4D97-AF65-F5344CB8AC3E}">
        <p14:creationId xmlns:p14="http://schemas.microsoft.com/office/powerpoint/2010/main" val="311406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lide Number Placeholder 2">
            <a:extLst>
              <a:ext uri="{FF2B5EF4-FFF2-40B4-BE49-F238E27FC236}">
                <a16:creationId xmlns:a16="http://schemas.microsoft.com/office/drawing/2014/main" id="{60B62889-AA96-E978-2040-DA3327AD523D}"/>
              </a:ext>
            </a:extLst>
          </p:cNvPr>
          <p:cNvSpPr>
            <a:spLocks noGrp="1"/>
          </p:cNvSpPr>
          <p:nvPr>
            <p:ph type="sldNum" sz="quarter" idx="12"/>
          </p:nvPr>
        </p:nvSpPr>
        <p:spPr>
          <a:xfrm>
            <a:off x="8610600" y="6356350"/>
            <a:ext cx="2743200" cy="365125"/>
          </a:xfrm>
        </p:spPr>
        <p:txBody>
          <a:bodyPr>
            <a:normAutofit/>
          </a:bodyPr>
          <a:lstStyle/>
          <a:p>
            <a:pPr>
              <a:spcAft>
                <a:spcPts val="600"/>
              </a:spcAft>
            </a:pPr>
            <a:fld id="{2B48B02D-6448-4399-BE2E-C025BF63EF34}" type="slidenum">
              <a:rPr lang="en-IN">
                <a:solidFill>
                  <a:srgbClr val="FFFFFF"/>
                </a:solidFill>
              </a:rPr>
              <a:pPr>
                <a:spcAft>
                  <a:spcPts val="600"/>
                </a:spcAft>
              </a:pPr>
              <a:t>12</a:t>
            </a:fld>
            <a:endParaRPr lang="en-IN">
              <a:solidFill>
                <a:srgbClr val="FFFFFF"/>
              </a:solidFill>
            </a:endParaRPr>
          </a:p>
        </p:txBody>
      </p:sp>
      <p:pic>
        <p:nvPicPr>
          <p:cNvPr id="9" name="Picture 8">
            <a:extLst>
              <a:ext uri="{FF2B5EF4-FFF2-40B4-BE49-F238E27FC236}">
                <a16:creationId xmlns:a16="http://schemas.microsoft.com/office/drawing/2014/main" id="{D6E1692A-F59A-DBE4-AB33-6E92B61E4977}"/>
              </a:ext>
            </a:extLst>
          </p:cNvPr>
          <p:cNvPicPr>
            <a:picLocks noChangeAspect="1"/>
          </p:cNvPicPr>
          <p:nvPr/>
        </p:nvPicPr>
        <p:blipFill>
          <a:blip r:embed="rId2"/>
          <a:stretch>
            <a:fillRect/>
          </a:stretch>
        </p:blipFill>
        <p:spPr>
          <a:xfrm>
            <a:off x="772160" y="579120"/>
            <a:ext cx="10581640" cy="5537200"/>
          </a:xfrm>
          <a:prstGeom prst="rect">
            <a:avLst/>
          </a:prstGeom>
        </p:spPr>
      </p:pic>
    </p:spTree>
    <p:extLst>
      <p:ext uri="{BB962C8B-B14F-4D97-AF65-F5344CB8AC3E}">
        <p14:creationId xmlns:p14="http://schemas.microsoft.com/office/powerpoint/2010/main" val="1706606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39206-D67C-3BE1-9346-2AFB3B12CFEE}"/>
              </a:ext>
            </a:extLst>
          </p:cNvPr>
          <p:cNvSpPr>
            <a:spLocks noGrp="1"/>
          </p:cNvSpPr>
          <p:nvPr>
            <p:ph type="sldNum" sz="quarter" idx="12"/>
          </p:nvPr>
        </p:nvSpPr>
        <p:spPr/>
        <p:txBody>
          <a:bodyPr/>
          <a:lstStyle/>
          <a:p>
            <a:fld id="{2B48B02D-6448-4399-BE2E-C025BF63EF34}" type="slidenum">
              <a:rPr lang="en-IN" smtClean="0"/>
              <a:t>13</a:t>
            </a:fld>
            <a:endParaRPr lang="en-IN"/>
          </a:p>
        </p:txBody>
      </p:sp>
      <p:sp>
        <p:nvSpPr>
          <p:cNvPr id="4" name="TextBox 3">
            <a:extLst>
              <a:ext uri="{FF2B5EF4-FFF2-40B4-BE49-F238E27FC236}">
                <a16:creationId xmlns:a16="http://schemas.microsoft.com/office/drawing/2014/main" id="{1E4E3A67-A7C6-1A06-499C-34E3B0B3D5AA}"/>
              </a:ext>
            </a:extLst>
          </p:cNvPr>
          <p:cNvSpPr txBox="1"/>
          <p:nvPr/>
        </p:nvSpPr>
        <p:spPr>
          <a:xfrm>
            <a:off x="370840" y="280243"/>
            <a:ext cx="11450320" cy="7109639"/>
          </a:xfrm>
          <a:prstGeom prst="rect">
            <a:avLst/>
          </a:prstGeom>
          <a:noFill/>
        </p:spPr>
        <p:txBody>
          <a:bodyPr wrap="square">
            <a:spAutoFit/>
          </a:bodyPr>
          <a:lstStyle/>
          <a:p>
            <a:r>
              <a:rPr lang="en-IN" sz="2400" dirty="0"/>
              <a:t>In the context of a 6-transistor SRAM (6T SRAM) cell, BL (</a:t>
            </a:r>
            <a:r>
              <a:rPr lang="en-IN" sz="2400" dirty="0" err="1"/>
              <a:t>Bitline</a:t>
            </a:r>
            <a:r>
              <a:rPr lang="en-IN" sz="2400" dirty="0"/>
              <a:t>) and BLB (Complementary </a:t>
            </a:r>
            <a:r>
              <a:rPr lang="en-IN" sz="2400" dirty="0" err="1"/>
              <a:t>Bitline</a:t>
            </a:r>
            <a:r>
              <a:rPr lang="en-IN" sz="2400" dirty="0"/>
              <a:t>), often referred to as BL BAR, are two crucial signals associated with the memory cell's read and write operations.</a:t>
            </a:r>
          </a:p>
          <a:p>
            <a:endParaRPr lang="en-IN" sz="2400" dirty="0"/>
          </a:p>
          <a:p>
            <a:r>
              <a:rPr lang="en-IN" sz="2400" b="1" dirty="0"/>
              <a:t>1. BITLINE (BL)</a:t>
            </a:r>
            <a:endParaRPr lang="en-IN" sz="2400" dirty="0"/>
          </a:p>
          <a:p>
            <a:pPr marL="285750" indent="-285750">
              <a:buFont typeface="Arial" panose="020B0604020202020204" pitchFamily="34" charset="0"/>
              <a:buChar char="•"/>
            </a:pPr>
            <a:r>
              <a:rPr lang="en-IN" sz="2400" dirty="0"/>
              <a:t>BL, or </a:t>
            </a:r>
            <a:r>
              <a:rPr lang="en-IN" sz="2400" dirty="0" err="1"/>
              <a:t>Bitline</a:t>
            </a:r>
            <a:r>
              <a:rPr lang="en-IN" sz="2400" dirty="0"/>
              <a:t>, is one of the two conductive pathways used for reading from or writing to the SRAM cell.</a:t>
            </a:r>
          </a:p>
          <a:p>
            <a:pPr marL="285750" indent="-285750">
              <a:buFont typeface="Arial" panose="020B0604020202020204" pitchFamily="34" charset="0"/>
              <a:buChar char="•"/>
            </a:pPr>
            <a:r>
              <a:rPr lang="en-IN" sz="2400" dirty="0"/>
              <a:t>During a read operation, BL carries the sensed voltage, and during a write operation, the voltage on BL is manipulated to write data into the cell.</a:t>
            </a:r>
          </a:p>
          <a:p>
            <a:endParaRPr lang="en-IN" sz="2400" b="1" dirty="0"/>
          </a:p>
          <a:p>
            <a:r>
              <a:rPr lang="en-IN" sz="2400" b="1" dirty="0"/>
              <a:t>2.COMPLEMENTARY BITLINE (BLB OR BL BAR)</a:t>
            </a:r>
          </a:p>
          <a:p>
            <a:pPr marL="285750" indent="-285750">
              <a:buFont typeface="Arial" panose="020B0604020202020204" pitchFamily="34" charset="0"/>
              <a:buChar char="•"/>
            </a:pPr>
            <a:r>
              <a:rPr lang="en-IN" sz="2400" dirty="0"/>
              <a:t>BLB, or Complementary </a:t>
            </a:r>
            <a:r>
              <a:rPr lang="en-IN" sz="2400" dirty="0" err="1"/>
              <a:t>Bitline</a:t>
            </a:r>
            <a:r>
              <a:rPr lang="en-IN" sz="2400" dirty="0"/>
              <a:t> (sometimes denoted as BL BAR), is the complementary signal to BL.</a:t>
            </a:r>
          </a:p>
          <a:p>
            <a:pPr marL="285750" indent="-285750">
              <a:buFont typeface="Arial" panose="020B0604020202020204" pitchFamily="34" charset="0"/>
              <a:buChar char="•"/>
            </a:pPr>
            <a:r>
              <a:rPr lang="en-IN" sz="2400" dirty="0"/>
              <a:t>During a read operation, BLB carries the complement of the sensed voltage on BL. This complementary information is essential for the accurate determination of the stored bit.</a:t>
            </a:r>
          </a:p>
          <a:p>
            <a:pPr marL="285750" indent="-285750">
              <a:buFont typeface="Arial" panose="020B0604020202020204" pitchFamily="34" charset="0"/>
              <a:buChar char="•"/>
            </a:pPr>
            <a:r>
              <a:rPr lang="en-IN" sz="2400" dirty="0"/>
              <a:t>During a write operation, the voltage on BLB is manipulated to complement the data being written onto BL, ensuring the correct state is stored in the SRAM cell.</a:t>
            </a:r>
          </a:p>
          <a:p>
            <a:endParaRPr lang="en-IN" sz="2400" dirty="0"/>
          </a:p>
          <a:p>
            <a:endParaRPr lang="en-IN" sz="2400" dirty="0"/>
          </a:p>
        </p:txBody>
      </p:sp>
    </p:spTree>
    <p:extLst>
      <p:ext uri="{BB962C8B-B14F-4D97-AF65-F5344CB8AC3E}">
        <p14:creationId xmlns:p14="http://schemas.microsoft.com/office/powerpoint/2010/main" val="2851460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9D57A9-3CCD-7AC6-97DD-B2DFB9EBC2D4}"/>
              </a:ext>
            </a:extLst>
          </p:cNvPr>
          <p:cNvSpPr>
            <a:spLocks noGrp="1"/>
          </p:cNvSpPr>
          <p:nvPr>
            <p:ph type="sldNum" sz="quarter" idx="12"/>
          </p:nvPr>
        </p:nvSpPr>
        <p:spPr/>
        <p:txBody>
          <a:bodyPr/>
          <a:lstStyle/>
          <a:p>
            <a:fld id="{2B48B02D-6448-4399-BE2E-C025BF63EF34}" type="slidenum">
              <a:rPr lang="en-IN" smtClean="0"/>
              <a:t>14</a:t>
            </a:fld>
            <a:endParaRPr lang="en-IN"/>
          </a:p>
        </p:txBody>
      </p:sp>
      <p:sp>
        <p:nvSpPr>
          <p:cNvPr id="5" name="TextBox 4">
            <a:extLst>
              <a:ext uri="{FF2B5EF4-FFF2-40B4-BE49-F238E27FC236}">
                <a16:creationId xmlns:a16="http://schemas.microsoft.com/office/drawing/2014/main" id="{25A8658E-E563-3C72-6684-06F5535910D8}"/>
              </a:ext>
            </a:extLst>
          </p:cNvPr>
          <p:cNvSpPr txBox="1"/>
          <p:nvPr/>
        </p:nvSpPr>
        <p:spPr>
          <a:xfrm>
            <a:off x="437071" y="42634"/>
            <a:ext cx="11317857" cy="6313716"/>
          </a:xfrm>
          <a:prstGeom prst="rect">
            <a:avLst/>
          </a:prstGeom>
          <a:noFill/>
        </p:spPr>
        <p:txBody>
          <a:bodyPr wrap="square">
            <a:spAutoFit/>
          </a:bodyPr>
          <a:lstStyle/>
          <a:p>
            <a:pPr algn="ctr">
              <a:lnSpc>
                <a:spcPct val="150000"/>
              </a:lnSpc>
            </a:pPr>
            <a:r>
              <a:rPr lang="en-IN" sz="2800" b="1" dirty="0"/>
              <a:t>READ OPERATION</a:t>
            </a:r>
          </a:p>
          <a:p>
            <a:pPr algn="just">
              <a:lnSpc>
                <a:spcPct val="150000"/>
              </a:lnSpc>
            </a:pPr>
            <a:r>
              <a:rPr lang="en-IN" sz="2400" dirty="0"/>
              <a:t>During a read operation in a 6-transistor SRAM (6T SRAM) cell, the corresponding </a:t>
            </a:r>
            <a:r>
              <a:rPr lang="en-IN" sz="2400" dirty="0" err="1"/>
              <a:t>wordline</a:t>
            </a:r>
            <a:r>
              <a:rPr lang="en-IN" sz="2400" dirty="0"/>
              <a:t> is activated. The stored data is sensed through the </a:t>
            </a:r>
            <a:r>
              <a:rPr lang="en-IN" sz="2400" dirty="0" err="1"/>
              <a:t>bitlines</a:t>
            </a:r>
            <a:r>
              <a:rPr lang="en-IN" sz="2400" dirty="0"/>
              <a:t>, and a sense amplifier amplifies the voltage difference to determine the stored bit value ('0' or '1'). The read operation is a key factor in the overall efficiency and responsiveness of the 6T SRAM cell</a:t>
            </a:r>
            <a:r>
              <a:rPr lang="en-IN" dirty="0"/>
              <a:t>.</a:t>
            </a:r>
          </a:p>
          <a:p>
            <a:pPr algn="ctr">
              <a:lnSpc>
                <a:spcPct val="150000"/>
              </a:lnSpc>
            </a:pPr>
            <a:r>
              <a:rPr lang="en-US" sz="2800" b="1" dirty="0"/>
              <a:t>WRITE OPERATION</a:t>
            </a:r>
            <a:endParaRPr lang="en-IN" sz="2800" b="1" dirty="0"/>
          </a:p>
          <a:p>
            <a:pPr algn="just">
              <a:lnSpc>
                <a:spcPct val="150000"/>
              </a:lnSpc>
            </a:pPr>
            <a:r>
              <a:rPr lang="en-US" sz="2400" dirty="0"/>
              <a:t>In a write operation of a 6-transistor SRAM (6T SRAM) cell, the </a:t>
            </a:r>
            <a:r>
              <a:rPr lang="en-US" sz="2400" dirty="0" err="1"/>
              <a:t>wordline</a:t>
            </a:r>
            <a:r>
              <a:rPr lang="en-US" sz="2400" dirty="0"/>
              <a:t> is activated, allowing input data to be written into the cell. The voltages on the </a:t>
            </a:r>
            <a:r>
              <a:rPr lang="en-US" sz="2400" dirty="0" err="1"/>
              <a:t>bitlines</a:t>
            </a:r>
            <a:r>
              <a:rPr lang="en-US" sz="2400" dirty="0"/>
              <a:t> are manipulated to set the cross-coupled inverters to the desired state corresponding to the data ('0' or '1'). This process ensures reliable data storage until the next read or write operation. </a:t>
            </a:r>
            <a:endParaRPr lang="en-IN" sz="2400" dirty="0"/>
          </a:p>
        </p:txBody>
      </p:sp>
    </p:spTree>
    <p:extLst>
      <p:ext uri="{BB962C8B-B14F-4D97-AF65-F5344CB8AC3E}">
        <p14:creationId xmlns:p14="http://schemas.microsoft.com/office/powerpoint/2010/main" val="3028280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D39CB8-F4FA-3E88-A109-170EBA5DB18C}"/>
              </a:ext>
            </a:extLst>
          </p:cNvPr>
          <p:cNvSpPr>
            <a:spLocks noGrp="1"/>
          </p:cNvSpPr>
          <p:nvPr>
            <p:ph type="sldNum" sz="quarter" idx="12"/>
          </p:nvPr>
        </p:nvSpPr>
        <p:spPr/>
        <p:txBody>
          <a:bodyPr/>
          <a:lstStyle/>
          <a:p>
            <a:fld id="{2B48B02D-6448-4399-BE2E-C025BF63EF34}" type="slidenum">
              <a:rPr lang="en-IN" smtClean="0"/>
              <a:t>15</a:t>
            </a:fld>
            <a:endParaRPr lang="en-IN"/>
          </a:p>
        </p:txBody>
      </p:sp>
      <p:sp>
        <p:nvSpPr>
          <p:cNvPr id="5" name="TextBox 4">
            <a:extLst>
              <a:ext uri="{FF2B5EF4-FFF2-40B4-BE49-F238E27FC236}">
                <a16:creationId xmlns:a16="http://schemas.microsoft.com/office/drawing/2014/main" id="{5342A8E4-849E-FF20-3CAC-433218281A49}"/>
              </a:ext>
            </a:extLst>
          </p:cNvPr>
          <p:cNvSpPr txBox="1"/>
          <p:nvPr/>
        </p:nvSpPr>
        <p:spPr>
          <a:xfrm>
            <a:off x="647700" y="1448610"/>
            <a:ext cx="10896600" cy="2343398"/>
          </a:xfrm>
          <a:prstGeom prst="rect">
            <a:avLst/>
          </a:prstGeom>
          <a:noFill/>
        </p:spPr>
        <p:txBody>
          <a:bodyPr wrap="square">
            <a:spAutoFit/>
          </a:bodyPr>
          <a:lstStyle/>
          <a:p>
            <a:pPr algn="ctr">
              <a:lnSpc>
                <a:spcPct val="150000"/>
              </a:lnSpc>
            </a:pPr>
            <a:r>
              <a:rPr lang="en-IN" sz="2800" b="1" dirty="0"/>
              <a:t>HOLD OPERATION</a:t>
            </a:r>
          </a:p>
          <a:p>
            <a:pPr algn="just">
              <a:lnSpc>
                <a:spcPct val="150000"/>
              </a:lnSpc>
            </a:pPr>
            <a:r>
              <a:rPr lang="en-IN" sz="2400" dirty="0"/>
              <a:t>During the hold operation in a 6-transistor SRAM (6T SRAM) cell, the stored data is maintained without active read or write processes. The cross-coupled inverters sustain a stable state, ensuring data integrity during periods of inactivity</a:t>
            </a:r>
            <a:r>
              <a:rPr lang="en-IN" dirty="0"/>
              <a:t>.</a:t>
            </a:r>
          </a:p>
        </p:txBody>
      </p:sp>
    </p:spTree>
    <p:extLst>
      <p:ext uri="{BB962C8B-B14F-4D97-AF65-F5344CB8AC3E}">
        <p14:creationId xmlns:p14="http://schemas.microsoft.com/office/powerpoint/2010/main" val="3459329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4C2620-0AB7-243C-51B0-216086802481}"/>
              </a:ext>
            </a:extLst>
          </p:cNvPr>
          <p:cNvSpPr>
            <a:spLocks noGrp="1"/>
          </p:cNvSpPr>
          <p:nvPr>
            <p:ph type="sldNum" sz="quarter" idx="12"/>
          </p:nvPr>
        </p:nvSpPr>
        <p:spPr/>
        <p:txBody>
          <a:bodyPr/>
          <a:lstStyle/>
          <a:p>
            <a:fld id="{2B48B02D-6448-4399-BE2E-C025BF63EF34}" type="slidenum">
              <a:rPr lang="en-IN" smtClean="0"/>
              <a:t>16</a:t>
            </a:fld>
            <a:endParaRPr lang="en-IN"/>
          </a:p>
        </p:txBody>
      </p:sp>
      <p:sp>
        <p:nvSpPr>
          <p:cNvPr id="5" name="TextBox 4">
            <a:extLst>
              <a:ext uri="{FF2B5EF4-FFF2-40B4-BE49-F238E27FC236}">
                <a16:creationId xmlns:a16="http://schemas.microsoft.com/office/drawing/2014/main" id="{2666F9CA-0169-0176-1754-DEA96C5ACC68}"/>
              </a:ext>
            </a:extLst>
          </p:cNvPr>
          <p:cNvSpPr txBox="1"/>
          <p:nvPr/>
        </p:nvSpPr>
        <p:spPr>
          <a:xfrm>
            <a:off x="1024387" y="559136"/>
            <a:ext cx="10143225" cy="4343946"/>
          </a:xfrm>
          <a:prstGeom prst="rect">
            <a:avLst/>
          </a:prstGeom>
          <a:noFill/>
        </p:spPr>
        <p:txBody>
          <a:bodyPr wrap="square">
            <a:spAutoFit/>
          </a:bodyPr>
          <a:lstStyle/>
          <a:p>
            <a:pPr algn="ctr"/>
            <a:r>
              <a:rPr lang="en-IN" sz="2800" b="1" dirty="0"/>
              <a:t>CONCLUSION</a:t>
            </a:r>
            <a:endParaRPr lang="en-US" sz="2800" b="1" dirty="0"/>
          </a:p>
          <a:p>
            <a:pPr algn="just">
              <a:lnSpc>
                <a:spcPct val="150000"/>
              </a:lnSpc>
            </a:pPr>
            <a:r>
              <a:rPr lang="en-US" sz="2400" dirty="0"/>
              <a:t>At the end of the analysis, one has a thorough understanding of the design, operation, and optimization methods of 6T SRAM cells. Developments in semiconductor technology, particularly at smaller nodes like as 45nm, have presented both opportunities and problems for the performance of 6T SRAM cells. Further study in this area is necessary to meet the constantly changing demands of next-generation computer systems and maintain the long-term significance of 6T SRAM cells in the development of semiconductor technology.</a:t>
            </a:r>
            <a:endParaRPr lang="en-IN" sz="2400" dirty="0"/>
          </a:p>
        </p:txBody>
      </p:sp>
    </p:spTree>
    <p:extLst>
      <p:ext uri="{BB962C8B-B14F-4D97-AF65-F5344CB8AC3E}">
        <p14:creationId xmlns:p14="http://schemas.microsoft.com/office/powerpoint/2010/main" val="2322367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Question mark on green pastel background">
            <a:extLst>
              <a:ext uri="{FF2B5EF4-FFF2-40B4-BE49-F238E27FC236}">
                <a16:creationId xmlns:a16="http://schemas.microsoft.com/office/drawing/2014/main" id="{C6C9EC9D-3B38-9FFF-64C9-0AE452889E56}"/>
              </a:ext>
            </a:extLst>
          </p:cNvPr>
          <p:cNvPicPr>
            <a:picLocks noChangeAspect="1"/>
          </p:cNvPicPr>
          <p:nvPr/>
        </p:nvPicPr>
        <p:blipFill rotWithShape="1">
          <a:blip r:embed="rId2"/>
          <a:srcRect b="5436"/>
          <a:stretch/>
        </p:blipFill>
        <p:spPr>
          <a:xfrm>
            <a:off x="2522358" y="10"/>
            <a:ext cx="9669642" cy="6857990"/>
          </a:xfrm>
          <a:prstGeom prst="rect">
            <a:avLst/>
          </a:prstGeom>
        </p:spPr>
      </p:pic>
      <p:sp>
        <p:nvSpPr>
          <p:cNvPr id="24" name="Rectangle 23">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8F8DF9B-36EC-6A90-F35B-03B270F13199}"/>
              </a:ext>
            </a:extLst>
          </p:cNvPr>
          <p:cNvSpPr txBox="1"/>
          <p:nvPr/>
        </p:nvSpPr>
        <p:spPr>
          <a:xfrm>
            <a:off x="952228" y="743447"/>
            <a:ext cx="3973385" cy="3692028"/>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5200">
                <a:latin typeface="+mj-lt"/>
                <a:ea typeface="+mj-ea"/>
                <a:cs typeface="+mj-cs"/>
              </a:rPr>
              <a:t>ANY QUESTIONS</a:t>
            </a:r>
          </a:p>
        </p:txBody>
      </p:sp>
      <p:sp>
        <p:nvSpPr>
          <p:cNvPr id="3" name="Slide Number Placeholder 2">
            <a:extLst>
              <a:ext uri="{FF2B5EF4-FFF2-40B4-BE49-F238E27FC236}">
                <a16:creationId xmlns:a16="http://schemas.microsoft.com/office/drawing/2014/main" id="{0F14877B-5A50-3811-A7C7-0A09BF8A1E4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2B48B02D-6448-4399-BE2E-C025BF63EF34}" type="slidenum">
              <a:rPr lang="en-US">
                <a:solidFill>
                  <a:srgbClr val="FFFFFF"/>
                </a:solidFill>
                <a:latin typeface="Calibri" panose="020F0502020204030204"/>
              </a:rPr>
              <a:pPr>
                <a:spcAft>
                  <a:spcPts val="600"/>
                </a:spcAft>
                <a:defRPr/>
              </a:pPr>
              <a:t>17</a:t>
            </a:fld>
            <a:endParaRPr lang="en-US">
              <a:solidFill>
                <a:srgbClr val="FFFFFF"/>
              </a:solidFill>
              <a:latin typeface="Calibri" panose="020F0502020204030204"/>
            </a:endParaRPr>
          </a:p>
        </p:txBody>
      </p:sp>
    </p:spTree>
    <p:extLst>
      <p:ext uri="{BB962C8B-B14F-4D97-AF65-F5344CB8AC3E}">
        <p14:creationId xmlns:p14="http://schemas.microsoft.com/office/powerpoint/2010/main" val="896680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Handshake">
            <a:extLst>
              <a:ext uri="{FF2B5EF4-FFF2-40B4-BE49-F238E27FC236}">
                <a16:creationId xmlns:a16="http://schemas.microsoft.com/office/drawing/2014/main" id="{317BAD86-8B0D-6C46-620B-5A00D8E816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2" name="Freeform: Shape 2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4" name="TextBox 3">
            <a:extLst>
              <a:ext uri="{FF2B5EF4-FFF2-40B4-BE49-F238E27FC236}">
                <a16:creationId xmlns:a16="http://schemas.microsoft.com/office/drawing/2014/main" id="{C8E5E490-DE95-E9FC-C543-63197B436BCB}"/>
              </a:ext>
            </a:extLst>
          </p:cNvPr>
          <p:cNvSpPr txBox="1"/>
          <p:nvPr/>
        </p:nvSpPr>
        <p:spPr>
          <a:xfrm>
            <a:off x="5622061" y="762538"/>
            <a:ext cx="5649349" cy="319986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kern="1200" dirty="0">
                <a:solidFill>
                  <a:srgbClr val="FFFFFF"/>
                </a:solidFill>
                <a:latin typeface="+mj-lt"/>
                <a:ea typeface="+mj-ea"/>
                <a:cs typeface="+mj-cs"/>
              </a:rPr>
              <a:t>THANK YOU</a:t>
            </a:r>
          </a:p>
        </p:txBody>
      </p:sp>
      <p:sp>
        <p:nvSpPr>
          <p:cNvPr id="2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10098A4-E89A-D359-2742-C61A7DB548BC}"/>
              </a:ext>
            </a:extLst>
          </p:cNvPr>
          <p:cNvSpPr>
            <a:spLocks noGrp="1"/>
          </p:cNvSpPr>
          <p:nvPr>
            <p:ph type="sldNum" sz="quarter" idx="12"/>
          </p:nvPr>
        </p:nvSpPr>
        <p:spPr>
          <a:xfrm>
            <a:off x="9832848" y="6356350"/>
            <a:ext cx="1520952" cy="365125"/>
          </a:xfrm>
        </p:spPr>
        <p:txBody>
          <a:bodyPr vert="horz" lIns="91440" tIns="45720" rIns="91440" bIns="45720" rtlCol="0" anchor="ctr">
            <a:normAutofit/>
          </a:bodyPr>
          <a:lstStyle/>
          <a:p>
            <a:pPr>
              <a:spcAft>
                <a:spcPts val="600"/>
              </a:spcAft>
            </a:pPr>
            <a:fld id="{2B48B02D-6448-4399-BE2E-C025BF63EF34}" type="slidenum">
              <a:rPr lang="en-US">
                <a:solidFill>
                  <a:srgbClr val="FFFFFF"/>
                </a:solidFill>
              </a:rPr>
              <a:pPr>
                <a:spcAft>
                  <a:spcPts val="600"/>
                </a:spcAft>
              </a:pPr>
              <a:t>18</a:t>
            </a:fld>
            <a:endParaRPr lang="en-US">
              <a:solidFill>
                <a:srgbClr val="FFFFFF"/>
              </a:solidFill>
            </a:endParaRPr>
          </a:p>
        </p:txBody>
      </p:sp>
    </p:spTree>
    <p:extLst>
      <p:ext uri="{BB962C8B-B14F-4D97-AF65-F5344CB8AC3E}">
        <p14:creationId xmlns:p14="http://schemas.microsoft.com/office/powerpoint/2010/main" val="2074415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1349</Words>
  <Application>Microsoft Office PowerPoint</Application>
  <PresentationFormat>Widescreen</PresentationFormat>
  <Paragraphs>143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DURGA PRASAD REDDY CHILUKURI</dc:creator>
  <cp:lastModifiedBy>20761A0476</cp:lastModifiedBy>
  <cp:revision>26</cp:revision>
  <dcterms:created xsi:type="dcterms:W3CDTF">2024-01-04T04:45:52Z</dcterms:created>
  <dcterms:modified xsi:type="dcterms:W3CDTF">2024-04-20T02:28:45Z</dcterms:modified>
</cp:coreProperties>
</file>