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78" r:id="rId5"/>
    <p:sldId id="275" r:id="rId6"/>
    <p:sldId id="266" r:id="rId7"/>
    <p:sldId id="267" r:id="rId8"/>
    <p:sldId id="288" r:id="rId9"/>
    <p:sldId id="263" r:id="rId10"/>
    <p:sldId id="264" r:id="rId11"/>
    <p:sldId id="265" r:id="rId12"/>
    <p:sldId id="269" r:id="rId13"/>
    <p:sldId id="280" r:id="rId14"/>
    <p:sldId id="281" r:id="rId15"/>
    <p:sldId id="277" r:id="rId16"/>
    <p:sldId id="270" r:id="rId17"/>
    <p:sldId id="276" r:id="rId18"/>
    <p:sldId id="289" r:id="rId19"/>
    <p:sldId id="283" r:id="rId20"/>
    <p:sldId id="286" r:id="rId21"/>
    <p:sldId id="284" r:id="rId22"/>
    <p:sldId id="285" r:id="rId23"/>
    <p:sldId id="282" r:id="rId24"/>
    <p:sldId id="287" r:id="rId25"/>
    <p:sldId id="272" r:id="rId26"/>
    <p:sldId id="273" r:id="rId27"/>
    <p:sldId id="27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2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BCD1A8-C0F4-413B-92FD-DA08A7E6F57F}" type="datetimeFigureOut">
              <a:rPr lang="en-IN" smtClean="0"/>
              <a:t>06-04-2024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17F0C5-2045-4613-9DED-84D80F7014A5}" type="slidenum">
              <a:rPr lang="en-IN" smtClean="0"/>
              <a:t>‹#›</a:t>
            </a:fld>
            <a:endParaRPr lang="en-IN"/>
          </a:p>
        </p:txBody>
      </p:sp>
    </p:spTree>
    <p:extLst>
      <p:ext uri="{BB962C8B-B14F-4D97-AF65-F5344CB8AC3E}">
        <p14:creationId xmlns:p14="http://schemas.microsoft.com/office/powerpoint/2010/main" val="3373816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25354-38F7-5ABB-0C85-EE01FFAA4F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45F9B7-9985-5BB4-FABB-EC7DB87C25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4DF5A0-FCA5-B0C0-14A0-9129F21929E1}"/>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E94F9975-F42F-029A-039E-3D8D3A4A93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CD7982-CAB2-CE72-C5B1-D9F26BB69D16}"/>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127736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7337A-54D9-672E-A857-581725EE25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835902-0996-A083-46D6-3CD89D7330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FFEB3D-CFA5-4F91-C5CE-36BE7A43BB01}"/>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7313FF50-A99E-4B18-552B-099591BBA7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299257-43DF-D340-27F9-A0E0503B3BD5}"/>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04980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F2CC2-BE46-3C90-B51B-DD037B0E76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D7E63EB-43D6-5085-601C-63D00F4337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147264-8256-3449-A7C3-4C67B378DC9C}"/>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C523CEA5-C100-ACCB-BDF0-96D3360BD4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ED4C93-A74C-FAE5-89EF-42727DEBF3EA}"/>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4134676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1E3C0-7BA1-8BC2-1FDE-4902E79E35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2D1A92-590E-E5E0-495B-CAD3CF5A76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4E41FF-A2D1-B7C5-4D98-3476C28E5E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B6D276-5B78-3A0E-6F14-272273064EB9}"/>
              </a:ext>
            </a:extLst>
          </p:cNvPr>
          <p:cNvSpPr>
            <a:spLocks noGrp="1"/>
          </p:cNvSpPr>
          <p:nvPr>
            <p:ph type="dt" sz="half" idx="10"/>
          </p:nvPr>
        </p:nvSpPr>
        <p:spPr/>
        <p:txBody>
          <a:bodyPr/>
          <a:lstStyle/>
          <a:p>
            <a:r>
              <a:rPr lang="en-US"/>
              <a:t>04-01-2024</a:t>
            </a:r>
            <a:endParaRPr lang="en-IN"/>
          </a:p>
        </p:txBody>
      </p:sp>
      <p:sp>
        <p:nvSpPr>
          <p:cNvPr id="6" name="Footer Placeholder 5">
            <a:extLst>
              <a:ext uri="{FF2B5EF4-FFF2-40B4-BE49-F238E27FC236}">
                <a16:creationId xmlns:a16="http://schemas.microsoft.com/office/drawing/2014/main" id="{4C41210E-690F-BF80-05CA-873C27B379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B4A736-9684-AC74-FDB9-20C379C652DD}"/>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743479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05F66-AB23-13DF-D7DF-4D4AEE6632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735B03-E274-01E1-E54E-2871E85CA5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CE9612-3666-564D-8ECA-22DCA725BA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74CE39-B0A8-28DA-C95F-EF8F2A714F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2997D9-116D-FF30-4330-FED6EDAEEC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D0800F0-02E0-A3F1-1A3F-0803A2111359}"/>
              </a:ext>
            </a:extLst>
          </p:cNvPr>
          <p:cNvSpPr>
            <a:spLocks noGrp="1"/>
          </p:cNvSpPr>
          <p:nvPr>
            <p:ph type="dt" sz="half" idx="10"/>
          </p:nvPr>
        </p:nvSpPr>
        <p:spPr/>
        <p:txBody>
          <a:bodyPr/>
          <a:lstStyle/>
          <a:p>
            <a:r>
              <a:rPr lang="en-US"/>
              <a:t>04-01-2024</a:t>
            </a:r>
            <a:endParaRPr lang="en-IN"/>
          </a:p>
        </p:txBody>
      </p:sp>
      <p:sp>
        <p:nvSpPr>
          <p:cNvPr id="8" name="Footer Placeholder 7">
            <a:extLst>
              <a:ext uri="{FF2B5EF4-FFF2-40B4-BE49-F238E27FC236}">
                <a16:creationId xmlns:a16="http://schemas.microsoft.com/office/drawing/2014/main" id="{6FEF534C-5D00-9E4E-2CD2-1EC06B61D3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AE85646-B3DD-3D67-6F5F-8B934BBB765C}"/>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3090911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2A5F8-EC11-7E1C-F62E-17470C67EC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25ACE3-8904-7FC1-513E-E26EC1B9D679}"/>
              </a:ext>
            </a:extLst>
          </p:cNvPr>
          <p:cNvSpPr>
            <a:spLocks noGrp="1"/>
          </p:cNvSpPr>
          <p:nvPr>
            <p:ph type="dt" sz="half" idx="10"/>
          </p:nvPr>
        </p:nvSpPr>
        <p:spPr/>
        <p:txBody>
          <a:bodyPr/>
          <a:lstStyle/>
          <a:p>
            <a:r>
              <a:rPr lang="en-US"/>
              <a:t>04-01-2024</a:t>
            </a:r>
            <a:endParaRPr lang="en-IN"/>
          </a:p>
        </p:txBody>
      </p:sp>
      <p:sp>
        <p:nvSpPr>
          <p:cNvPr id="4" name="Footer Placeholder 3">
            <a:extLst>
              <a:ext uri="{FF2B5EF4-FFF2-40B4-BE49-F238E27FC236}">
                <a16:creationId xmlns:a16="http://schemas.microsoft.com/office/drawing/2014/main" id="{D09B48D1-D9C0-8F07-7BC8-589FFC59D7A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61E3AD-2BC8-622A-ECB4-0D139C51CEF6}"/>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866081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9C5B08-7FD3-223D-3761-3DAFA70002CE}"/>
              </a:ext>
            </a:extLst>
          </p:cNvPr>
          <p:cNvSpPr>
            <a:spLocks noGrp="1"/>
          </p:cNvSpPr>
          <p:nvPr>
            <p:ph type="dt" sz="half" idx="10"/>
          </p:nvPr>
        </p:nvSpPr>
        <p:spPr/>
        <p:txBody>
          <a:bodyPr/>
          <a:lstStyle/>
          <a:p>
            <a:r>
              <a:rPr lang="en-US"/>
              <a:t>04-01-2024</a:t>
            </a:r>
            <a:endParaRPr lang="en-IN"/>
          </a:p>
        </p:txBody>
      </p:sp>
      <p:sp>
        <p:nvSpPr>
          <p:cNvPr id="3" name="Footer Placeholder 2">
            <a:extLst>
              <a:ext uri="{FF2B5EF4-FFF2-40B4-BE49-F238E27FC236}">
                <a16:creationId xmlns:a16="http://schemas.microsoft.com/office/drawing/2014/main" id="{71834A73-0F87-A44B-B7FB-72C8BEED4FC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AA6DBAF-00E5-D51C-9096-3188E8177B04}"/>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2424537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2BDEB-C4ED-C215-E4FC-4D20D6A50A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3BFC64-27E1-5783-7794-2567F75DEB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E811322-CCEF-043A-37D3-D7716BDCC9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A9D4BA-675C-FCA5-019B-3D3BAC8FAB7A}"/>
              </a:ext>
            </a:extLst>
          </p:cNvPr>
          <p:cNvSpPr>
            <a:spLocks noGrp="1"/>
          </p:cNvSpPr>
          <p:nvPr>
            <p:ph type="dt" sz="half" idx="10"/>
          </p:nvPr>
        </p:nvSpPr>
        <p:spPr/>
        <p:txBody>
          <a:bodyPr/>
          <a:lstStyle/>
          <a:p>
            <a:r>
              <a:rPr lang="en-US"/>
              <a:t>04-01-2024</a:t>
            </a:r>
            <a:endParaRPr lang="en-IN"/>
          </a:p>
        </p:txBody>
      </p:sp>
      <p:sp>
        <p:nvSpPr>
          <p:cNvPr id="6" name="Footer Placeholder 5">
            <a:extLst>
              <a:ext uri="{FF2B5EF4-FFF2-40B4-BE49-F238E27FC236}">
                <a16:creationId xmlns:a16="http://schemas.microsoft.com/office/drawing/2014/main" id="{C301FE5F-F665-EB01-72DC-FCB7DE675C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7644E2-85F4-5904-9C45-FEC2E1533195}"/>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2282760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CEDA2-4DE0-9FA5-85C2-F8388A484B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00C8C5-1621-8D7D-5D1D-3F3F6C1A78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B40C850-FF16-4670-FF79-701CB939D2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BC8459-B4C3-1245-0554-47F1D53912E4}"/>
              </a:ext>
            </a:extLst>
          </p:cNvPr>
          <p:cNvSpPr>
            <a:spLocks noGrp="1"/>
          </p:cNvSpPr>
          <p:nvPr>
            <p:ph type="dt" sz="half" idx="10"/>
          </p:nvPr>
        </p:nvSpPr>
        <p:spPr/>
        <p:txBody>
          <a:bodyPr/>
          <a:lstStyle/>
          <a:p>
            <a:r>
              <a:rPr lang="en-US"/>
              <a:t>04-01-2024</a:t>
            </a:r>
            <a:endParaRPr lang="en-IN"/>
          </a:p>
        </p:txBody>
      </p:sp>
      <p:sp>
        <p:nvSpPr>
          <p:cNvPr id="6" name="Footer Placeholder 5">
            <a:extLst>
              <a:ext uri="{FF2B5EF4-FFF2-40B4-BE49-F238E27FC236}">
                <a16:creationId xmlns:a16="http://schemas.microsoft.com/office/drawing/2014/main" id="{6E71FDE3-EBC8-A582-E458-B6EC856523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A43482-1BCE-C363-BBCB-D5DB70FE5481}"/>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935096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97EAB-C972-769B-98F4-A3649B0397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A9A901-D737-F245-9D6C-DDBC677AD5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1D3274-51D8-F2F9-0F46-CBEF3AB262E2}"/>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82E8095F-6E80-7465-2FAD-75E5E5A314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B584A2-412D-6C99-AFD7-4C7387999D77}"/>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529829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6A8A53-1CC9-CA34-89CC-AD0666918A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84F336-5C1C-C607-EA6D-6E9726EB63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8C0DDA-7FFA-2B5C-A211-73E5AF78E4C5}"/>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D68B5327-58AF-F190-395F-F536B94FE8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2EF424-B270-D011-586D-9770EEB3A855}"/>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2567390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D4FA20-BF1F-8891-1E48-1D5915B9A7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D2D94E-5EE8-1486-2826-FD831388D3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D9621E-BEA5-06C8-D385-A8F290E90C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04-01-2024</a:t>
            </a:r>
            <a:endParaRPr lang="en-IN"/>
          </a:p>
        </p:txBody>
      </p:sp>
      <p:sp>
        <p:nvSpPr>
          <p:cNvPr id="5" name="Footer Placeholder 4">
            <a:extLst>
              <a:ext uri="{FF2B5EF4-FFF2-40B4-BE49-F238E27FC236}">
                <a16:creationId xmlns:a16="http://schemas.microsoft.com/office/drawing/2014/main" id="{1ADB0787-1C27-4E31-5303-4E0A0401B1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FFD1C0B-D100-D455-2479-AAEFF6F442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48B02D-6448-4399-BE2E-C025BF63EF34}" type="slidenum">
              <a:rPr lang="en-IN" smtClean="0"/>
              <a:t>‹#›</a:t>
            </a:fld>
            <a:endParaRPr lang="en-IN"/>
          </a:p>
        </p:txBody>
      </p:sp>
    </p:spTree>
    <p:extLst>
      <p:ext uri="{BB962C8B-B14F-4D97-AF65-F5344CB8AC3E}">
        <p14:creationId xmlns:p14="http://schemas.microsoft.com/office/powerpoint/2010/main" val="445889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540E22-BC74-87B3-6F81-A3C5575A2B35}"/>
              </a:ext>
            </a:extLst>
          </p:cNvPr>
          <p:cNvPicPr/>
          <p:nvPr/>
        </p:nvPicPr>
        <p:blipFill>
          <a:blip r:embed="rId2"/>
          <a:stretch>
            <a:fillRect/>
          </a:stretch>
        </p:blipFill>
        <p:spPr>
          <a:xfrm>
            <a:off x="255779" y="213588"/>
            <a:ext cx="1413410" cy="1621972"/>
          </a:xfrm>
          <a:prstGeom prst="rect">
            <a:avLst/>
          </a:prstGeom>
          <a:ln w="28575">
            <a:solidFill>
              <a:schemeClr val="tx1"/>
            </a:solidFill>
          </a:ln>
        </p:spPr>
      </p:pic>
      <p:sp>
        <p:nvSpPr>
          <p:cNvPr id="6" name="TextBox 5">
            <a:extLst>
              <a:ext uri="{FF2B5EF4-FFF2-40B4-BE49-F238E27FC236}">
                <a16:creationId xmlns:a16="http://schemas.microsoft.com/office/drawing/2014/main" id="{6DA80388-7A83-02D8-E4FC-3FD1AA668D49}"/>
              </a:ext>
            </a:extLst>
          </p:cNvPr>
          <p:cNvSpPr txBox="1"/>
          <p:nvPr/>
        </p:nvSpPr>
        <p:spPr>
          <a:xfrm>
            <a:off x="1679348" y="294868"/>
            <a:ext cx="10258652" cy="1454244"/>
          </a:xfrm>
          <a:prstGeom prst="rect">
            <a:avLst/>
          </a:prstGeom>
          <a:solidFill>
            <a:schemeClr val="bg1"/>
          </a:solidFill>
          <a:ln w="28575">
            <a:solidFill>
              <a:schemeClr val="tx1"/>
            </a:solidFill>
          </a:ln>
        </p:spPr>
        <p:txBody>
          <a:bodyPr wrap="square">
            <a:spAutoFit/>
          </a:bodyPr>
          <a:lstStyle/>
          <a:p>
            <a:r>
              <a:rPr lang="en-US" sz="295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LAKIREDDY BALI REDDY COLLEGE OF ENGINEERING</a:t>
            </a:r>
          </a:p>
          <a:p>
            <a:endParaRPr lang="en-US" sz="295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2950" b="1" dirty="0">
                <a:latin typeface="Times New Roman" panose="02020603050405020304" pitchFamily="18" charset="0"/>
                <a:cs typeface="Times New Roman" panose="02020603050405020304" pitchFamily="18" charset="0"/>
              </a:rPr>
              <a:t>ELECTRONICS AND COMMUNICATION ENGINEERING</a:t>
            </a:r>
            <a:endParaRPr lang="en-IN" sz="295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D898172-D66D-17B5-012B-B5ACAD99310C}"/>
              </a:ext>
            </a:extLst>
          </p:cNvPr>
          <p:cNvSpPr txBox="1"/>
          <p:nvPr/>
        </p:nvSpPr>
        <p:spPr>
          <a:xfrm>
            <a:off x="1576579" y="4510758"/>
            <a:ext cx="9680701" cy="1923604"/>
          </a:xfrm>
          <a:prstGeom prst="rect">
            <a:avLst/>
          </a:prstGeom>
          <a:solidFill>
            <a:schemeClr val="bg1"/>
          </a:solidFill>
          <a:ln>
            <a:noFill/>
          </a:ln>
        </p:spPr>
        <p:txBody>
          <a:bodyPr wrap="square">
            <a:spAutoFit/>
          </a:bodyPr>
          <a:lstStyle/>
          <a:p>
            <a:pPr algn="just">
              <a:lnSpc>
                <a:spcPct val="150000"/>
              </a:lnSpc>
              <a:spcAft>
                <a:spcPts val="800"/>
              </a:spcAft>
            </a:pPr>
            <a:r>
              <a:rPr lang="en-US" b="1" dirty="0"/>
              <a:t>PROJECT GUIDE</a:t>
            </a:r>
            <a:r>
              <a:rPr lang="en-US" dirty="0"/>
              <a:t> 					</a:t>
            </a: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TEAM MEMBERS (BATCH-7)</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effectLst/>
                <a:latin typeface="Bookman Old Style" panose="02050604050505020204" pitchFamily="18" charset="0"/>
                <a:ea typeface="Times New Roman" panose="02020603050405020304" pitchFamily="18" charset="0"/>
              </a:rPr>
              <a:t>Dr. P. </a:t>
            </a:r>
            <a:r>
              <a:rPr lang="en-US" sz="1800" b="1" dirty="0" err="1">
                <a:effectLst/>
                <a:latin typeface="Bookman Old Style" panose="02050604050505020204" pitchFamily="18" charset="0"/>
                <a:ea typeface="Times New Roman" panose="02020603050405020304" pitchFamily="18" charset="0"/>
              </a:rPr>
              <a:t>Lachi</a:t>
            </a:r>
            <a:r>
              <a:rPr lang="en-US" sz="1800" b="1" dirty="0">
                <a:effectLst/>
                <a:latin typeface="Bookman Old Style" panose="02050604050505020204" pitchFamily="18" charset="0"/>
                <a:ea typeface="Times New Roman" panose="02020603050405020304" pitchFamily="18" charset="0"/>
              </a:rPr>
              <a:t> Reddy</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dirty="0"/>
              <a:t>B. SATYA SURESH                   (</a:t>
            </a:r>
            <a:r>
              <a:rPr lang="en-IN" b="1" dirty="0"/>
              <a:t>20761A0471</a:t>
            </a:r>
            <a:r>
              <a:rPr lang="en-IN" dirty="0"/>
              <a:t>)</a:t>
            </a: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t>      PROFESSOR </a:t>
            </a:r>
            <a:r>
              <a:rPr lang="en-IN" kern="100" dirty="0">
                <a:latin typeface="Calibri" panose="020F0502020204030204" pitchFamily="34" charset="0"/>
                <a:ea typeface="Calibri" panose="020F0502020204030204" pitchFamily="34" charset="0"/>
                <a:cs typeface="Times New Roman" panose="02020603050405020304" pitchFamily="18" charset="0"/>
              </a:rPr>
              <a:t>				</a:t>
            </a:r>
            <a:r>
              <a:rPr lang="en-IN" dirty="0"/>
              <a:t>CH. MALLIKHARJUN REDDY (</a:t>
            </a:r>
            <a:r>
              <a:rPr lang="en-IN" b="1" dirty="0"/>
              <a:t>20761A0476</a:t>
            </a:r>
            <a:r>
              <a:rPr lang="en-IN" dirty="0"/>
              <a:t>)</a:t>
            </a:r>
            <a:endParaRPr lang="en-US" dirty="0"/>
          </a:p>
          <a:p>
            <a:r>
              <a:rPr lang="en-US" kern="100" dirty="0">
                <a:latin typeface="Calibri" panose="020F0502020204030204" pitchFamily="34" charset="0"/>
                <a:ea typeface="Calibri" panose="020F0502020204030204" pitchFamily="34" charset="0"/>
                <a:cs typeface="Times New Roman" panose="02020603050405020304" pitchFamily="18" charset="0"/>
              </a:rPr>
              <a:t>	</a:t>
            </a:r>
            <a:r>
              <a:rPr lang="en-IN" kern="100" dirty="0">
                <a:latin typeface="Calibri" panose="020F0502020204030204" pitchFamily="34" charset="0"/>
                <a:ea typeface="Calibri" panose="020F0502020204030204" pitchFamily="34" charset="0"/>
                <a:cs typeface="Times New Roman" panose="02020603050405020304" pitchFamily="18" charset="0"/>
              </a:rPr>
              <a:t>				</a:t>
            </a:r>
            <a:r>
              <a:rPr lang="en-IN" dirty="0"/>
              <a:t>P. BHUVANA SRI                     (</a:t>
            </a:r>
            <a:r>
              <a:rPr lang="en-IN" b="1" dirty="0"/>
              <a:t>20761A04A3</a:t>
            </a:r>
            <a:r>
              <a:rPr lang="en-IN" dirty="0"/>
              <a:t>)</a:t>
            </a:r>
          </a:p>
        </p:txBody>
      </p:sp>
      <p:sp>
        <p:nvSpPr>
          <p:cNvPr id="11" name="TextBox 10">
            <a:extLst>
              <a:ext uri="{FF2B5EF4-FFF2-40B4-BE49-F238E27FC236}">
                <a16:creationId xmlns:a16="http://schemas.microsoft.com/office/drawing/2014/main" id="{2094C99E-4C4A-566E-4B0B-D038DA335CA9}"/>
              </a:ext>
            </a:extLst>
          </p:cNvPr>
          <p:cNvSpPr txBox="1"/>
          <p:nvPr/>
        </p:nvSpPr>
        <p:spPr>
          <a:xfrm>
            <a:off x="255779" y="2468101"/>
            <a:ext cx="11682221" cy="1867178"/>
          </a:xfrm>
          <a:prstGeom prst="rect">
            <a:avLst/>
          </a:prstGeom>
          <a:solidFill>
            <a:schemeClr val="bg1"/>
          </a:solidFill>
          <a:ln w="38100">
            <a:solidFill>
              <a:schemeClr val="bg1"/>
            </a:solidFill>
          </a:ln>
        </p:spPr>
        <p:txBody>
          <a:bodyPr wrap="square" rtlCol="0">
            <a:spAutoFit/>
          </a:bodyPr>
          <a:lstStyle/>
          <a:p>
            <a:pPr algn="ctr">
              <a:lnSpc>
                <a:spcPct val="150000"/>
              </a:lnSpc>
              <a:spcAft>
                <a:spcPts val="800"/>
              </a:spcAft>
            </a:pP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IMPLEMENTATION AND ANALYSIS OF </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800"/>
              </a:spcAft>
            </a:pP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6 - TRANSISTOR SRAM</a:t>
            </a: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CELL</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3" name="Slide Number Placeholder 12">
            <a:extLst>
              <a:ext uri="{FF2B5EF4-FFF2-40B4-BE49-F238E27FC236}">
                <a16:creationId xmlns:a16="http://schemas.microsoft.com/office/drawing/2014/main" id="{90C86666-1527-8FE9-90AD-2AD83A99F413}"/>
              </a:ext>
            </a:extLst>
          </p:cNvPr>
          <p:cNvSpPr>
            <a:spLocks noGrp="1"/>
          </p:cNvSpPr>
          <p:nvPr>
            <p:ph type="sldNum" sz="quarter" idx="12"/>
          </p:nvPr>
        </p:nvSpPr>
        <p:spPr/>
        <p:txBody>
          <a:bodyPr/>
          <a:lstStyle/>
          <a:p>
            <a:fld id="{2B48B02D-6448-4399-BE2E-C025BF63EF34}" type="slidenum">
              <a:rPr lang="en-IN" smtClean="0"/>
              <a:t>1</a:t>
            </a:fld>
            <a:endParaRPr lang="en-IN"/>
          </a:p>
        </p:txBody>
      </p:sp>
      <p:cxnSp>
        <p:nvCxnSpPr>
          <p:cNvPr id="7" name="Straight Connector 6">
            <a:extLst>
              <a:ext uri="{FF2B5EF4-FFF2-40B4-BE49-F238E27FC236}">
                <a16:creationId xmlns:a16="http://schemas.microsoft.com/office/drawing/2014/main" id="{9510E01E-DC62-D71A-4637-C96E39BE12DD}"/>
              </a:ext>
            </a:extLst>
          </p:cNvPr>
          <p:cNvCxnSpPr/>
          <p:nvPr/>
        </p:nvCxnSpPr>
        <p:spPr>
          <a:xfrm>
            <a:off x="2001329" y="1043797"/>
            <a:ext cx="9652958" cy="0"/>
          </a:xfrm>
          <a:prstGeom prst="line">
            <a:avLst/>
          </a:prstGeom>
          <a:ln w="38100"/>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919877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09B59C-DB00-B765-0B06-1A93C405CF1F}"/>
              </a:ext>
            </a:extLst>
          </p:cNvPr>
          <p:cNvSpPr txBox="1"/>
          <p:nvPr/>
        </p:nvSpPr>
        <p:spPr>
          <a:xfrm>
            <a:off x="4189066" y="474315"/>
            <a:ext cx="5793134" cy="5038065"/>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4400" b="1" dirty="0">
                <a:latin typeface="Times New Roman" panose="02020603050405020304" pitchFamily="18" charset="0"/>
                <a:cs typeface="Times New Roman" panose="02020603050405020304" pitchFamily="18" charset="0"/>
              </a:rPr>
              <a:t>CONTENTS</a:t>
            </a:r>
          </a:p>
          <a:p>
            <a:pPr indent="-228600">
              <a:lnSpc>
                <a:spcPct val="90000"/>
              </a:lnSpc>
              <a:spcAft>
                <a:spcPts val="600"/>
              </a:spcAf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228600">
              <a:lnSpc>
                <a:spcPct val="90000"/>
              </a:lnSpc>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ABSTRACT</a:t>
            </a:r>
          </a:p>
          <a:p>
            <a:pPr marL="457200" indent="-228600">
              <a:lnSpc>
                <a:spcPct val="90000"/>
              </a:lnSpc>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INTRODUCTION</a:t>
            </a:r>
          </a:p>
          <a:p>
            <a:pPr marL="457200" indent="-228600">
              <a:lnSpc>
                <a:spcPct val="90000"/>
              </a:lnSpc>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LITERATURE REVIEW</a:t>
            </a:r>
          </a:p>
          <a:p>
            <a:pPr marL="457200" indent="-228600">
              <a:lnSpc>
                <a:spcPct val="90000"/>
              </a:lnSpc>
              <a:spcAft>
                <a:spcPts val="600"/>
              </a:spcAft>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METHODOLOGY</a:t>
            </a:r>
          </a:p>
          <a:p>
            <a:pPr marL="457200" indent="-228600">
              <a:lnSpc>
                <a:spcPct val="90000"/>
              </a:lnSpc>
              <a:spcAft>
                <a:spcPts val="600"/>
              </a:spcAft>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DESIGN ANALYSIS</a:t>
            </a:r>
          </a:p>
          <a:p>
            <a:pPr marL="457200" indent="-228600">
              <a:lnSpc>
                <a:spcPct val="90000"/>
              </a:lnSpc>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RESULTS</a:t>
            </a:r>
            <a:endParaRPr lang="en-US" sz="2400" b="1" dirty="0">
              <a:effectLst/>
              <a:latin typeface="Times New Roman" panose="02020603050405020304" pitchFamily="18" charset="0"/>
              <a:cs typeface="Times New Roman" panose="02020603050405020304" pitchFamily="18" charset="0"/>
            </a:endParaRPr>
          </a:p>
          <a:p>
            <a:pPr marL="457200" indent="-228600">
              <a:lnSpc>
                <a:spcPct val="90000"/>
              </a:lnSpc>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CONCLUSIONS</a:t>
            </a:r>
          </a:p>
          <a:p>
            <a:pPr indent="-228600">
              <a:lnSpc>
                <a:spcPct val="90000"/>
              </a:lnSpc>
              <a:spcAft>
                <a:spcPts val="600"/>
              </a:spcAf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CA238D9-5511-151C-F123-E51BD494C5D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2B48B02D-6448-4399-BE2E-C025BF63EF34}" type="slidenum">
              <a:rPr lang="en-US">
                <a:solidFill>
                  <a:schemeClr val="tx1">
                    <a:lumMod val="50000"/>
                    <a:lumOff val="50000"/>
                  </a:schemeClr>
                </a:solidFill>
              </a:rPr>
              <a:pPr>
                <a:spcAft>
                  <a:spcPts val="600"/>
                </a:spcAft>
              </a:pPr>
              <a:t>2</a:t>
            </a:fld>
            <a:endParaRPr lang="en-US">
              <a:solidFill>
                <a:schemeClr val="tx1">
                  <a:lumMod val="50000"/>
                  <a:lumOff val="50000"/>
                </a:schemeClr>
              </a:solidFill>
            </a:endParaRPr>
          </a:p>
        </p:txBody>
      </p:sp>
      <p:grpSp>
        <p:nvGrpSpPr>
          <p:cNvPr id="9" name="Group 8">
            <a:extLst>
              <a:ext uri="{FF2B5EF4-FFF2-40B4-BE49-F238E27FC236}">
                <a16:creationId xmlns:a16="http://schemas.microsoft.com/office/drawing/2014/main" id="{626842FA-90AD-EEBD-ABE0-E9EF9A5D14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EF621AD8-9B7B-4C37-1CB2-16C6A6AA71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546A872-CF51-D0BD-D9F3-500F32EEB7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60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16097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D11C47-F3D8-6C9B-AC1D-77914BFE3BD8}"/>
              </a:ext>
            </a:extLst>
          </p:cNvPr>
          <p:cNvSpPr>
            <a:spLocks noGrp="1"/>
          </p:cNvSpPr>
          <p:nvPr>
            <p:ph type="sldNum" sz="quarter" idx="12"/>
          </p:nvPr>
        </p:nvSpPr>
        <p:spPr/>
        <p:txBody>
          <a:bodyPr/>
          <a:lstStyle/>
          <a:p>
            <a:fld id="{2B48B02D-6448-4399-BE2E-C025BF63EF34}" type="slidenum">
              <a:rPr lang="en-IN" smtClean="0"/>
              <a:t>3</a:t>
            </a:fld>
            <a:endParaRPr lang="en-IN"/>
          </a:p>
        </p:txBody>
      </p:sp>
      <p:sp>
        <p:nvSpPr>
          <p:cNvPr id="5" name="TextBox 4">
            <a:extLst>
              <a:ext uri="{FF2B5EF4-FFF2-40B4-BE49-F238E27FC236}">
                <a16:creationId xmlns:a16="http://schemas.microsoft.com/office/drawing/2014/main" id="{DB0F3119-7D63-D1BA-CC58-FE86E78FB5ED}"/>
              </a:ext>
            </a:extLst>
          </p:cNvPr>
          <p:cNvSpPr txBox="1"/>
          <p:nvPr/>
        </p:nvSpPr>
        <p:spPr>
          <a:xfrm>
            <a:off x="497456" y="-19973"/>
            <a:ext cx="11197087" cy="5769977"/>
          </a:xfrm>
          <a:prstGeom prst="rect">
            <a:avLst/>
          </a:prstGeom>
          <a:noFill/>
        </p:spPr>
        <p:txBody>
          <a:bodyPr wrap="square">
            <a:spAutoFit/>
          </a:bodyPr>
          <a:lstStyle/>
          <a:p>
            <a:pPr algn="ctr">
              <a:lnSpc>
                <a:spcPct val="150000"/>
              </a:lnSpc>
              <a:spcAft>
                <a:spcPts val="800"/>
              </a:spcAft>
            </a:pP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ABSTRACT</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Static Random-Access Memory (SRAM) stands as a vital component, offering swift and efficient on-chip data storage. It is made up of six transistors that are placed in a precise way to achieve stability and the capacity to read and write date. This 6-transistor SRAM cell plays a vital role, particularly in high-performance memory applications like cache memory. The main objective of this project is to focus on examining the performance, stability, and energy efficiency of the 6T SRAM cell. Extensive simulations are helpful to evaluate key performance parameters such as access time, write time, and power consumption. The primary aim is to identify any design limitations or flaws and propose potential enhancements.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62415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AC5C6F-197B-5FD9-FEC3-4DAA52FF077C}"/>
              </a:ext>
            </a:extLst>
          </p:cNvPr>
          <p:cNvSpPr>
            <a:spLocks noGrp="1"/>
          </p:cNvSpPr>
          <p:nvPr>
            <p:ph type="sldNum" sz="quarter" idx="12"/>
          </p:nvPr>
        </p:nvSpPr>
        <p:spPr/>
        <p:txBody>
          <a:bodyPr/>
          <a:lstStyle/>
          <a:p>
            <a:fld id="{2B48B02D-6448-4399-BE2E-C025BF63EF34}" type="slidenum">
              <a:rPr lang="en-IN" smtClean="0"/>
              <a:t>4</a:t>
            </a:fld>
            <a:endParaRPr lang="en-IN"/>
          </a:p>
        </p:txBody>
      </p:sp>
      <p:sp>
        <p:nvSpPr>
          <p:cNvPr id="4" name="TextBox 3">
            <a:extLst>
              <a:ext uri="{FF2B5EF4-FFF2-40B4-BE49-F238E27FC236}">
                <a16:creationId xmlns:a16="http://schemas.microsoft.com/office/drawing/2014/main" id="{F19D3ECC-7847-5662-6B54-C492991D653F}"/>
              </a:ext>
            </a:extLst>
          </p:cNvPr>
          <p:cNvSpPr txBox="1"/>
          <p:nvPr/>
        </p:nvSpPr>
        <p:spPr>
          <a:xfrm>
            <a:off x="543464" y="860028"/>
            <a:ext cx="10810336" cy="5123647"/>
          </a:xfrm>
          <a:prstGeom prst="rect">
            <a:avLst/>
          </a:prstGeom>
          <a:noFill/>
        </p:spPr>
        <p:txBody>
          <a:bodyPr wrap="square">
            <a:spAutoFit/>
          </a:bodyPr>
          <a:lstStyle/>
          <a:p>
            <a:pPr algn="just">
              <a:lnSpc>
                <a:spcPct val="150000"/>
              </a:lnSpc>
              <a:spcAft>
                <a:spcPts val="800"/>
              </a:spcAf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Factors like noise tolerance, resistance to data corruption during read operations, and ease of writing data should be analysed under different conditions. As power consumption is a critical concern in modern semiconductor devices, we assess the energy efficiency of the 6T SRAM cell. This includes analyse the dynamic power under different operating scenarios. We will analyse its layouts and in addition to characterizing the 6T SRAM cell, we compare its performance and energy efficiency with other popular SRAM cell designs, such as 4T and 8T cells, to identify trade-offs and advantages.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KEYWORDS: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6T SRAM cell, 4T, 8T, Access time, Write time, Power</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consumption.</a:t>
            </a:r>
          </a:p>
        </p:txBody>
      </p:sp>
    </p:spTree>
    <p:extLst>
      <p:ext uri="{BB962C8B-B14F-4D97-AF65-F5344CB8AC3E}">
        <p14:creationId xmlns:p14="http://schemas.microsoft.com/office/powerpoint/2010/main" val="1693117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CAE0C38-22A9-9BEF-A11C-61F64E316648}"/>
              </a:ext>
            </a:extLst>
          </p:cNvPr>
          <p:cNvSpPr>
            <a:spLocks noGrp="1"/>
          </p:cNvSpPr>
          <p:nvPr>
            <p:ph type="sldNum" sz="quarter" idx="12"/>
          </p:nvPr>
        </p:nvSpPr>
        <p:spPr/>
        <p:txBody>
          <a:bodyPr/>
          <a:lstStyle/>
          <a:p>
            <a:fld id="{2B48B02D-6448-4399-BE2E-C025BF63EF34}" type="slidenum">
              <a:rPr lang="en-IN" smtClean="0"/>
              <a:t>5</a:t>
            </a:fld>
            <a:endParaRPr lang="en-IN"/>
          </a:p>
        </p:txBody>
      </p:sp>
      <p:sp>
        <p:nvSpPr>
          <p:cNvPr id="5" name="TextBox 4">
            <a:extLst>
              <a:ext uri="{FF2B5EF4-FFF2-40B4-BE49-F238E27FC236}">
                <a16:creationId xmlns:a16="http://schemas.microsoft.com/office/drawing/2014/main" id="{8BA6379E-7801-D987-4AF7-9CA3D355DC7B}"/>
              </a:ext>
            </a:extLst>
          </p:cNvPr>
          <p:cNvSpPr txBox="1"/>
          <p:nvPr/>
        </p:nvSpPr>
        <p:spPr>
          <a:xfrm>
            <a:off x="577970" y="264993"/>
            <a:ext cx="10688128" cy="6221383"/>
          </a:xfrm>
          <a:prstGeom prst="rect">
            <a:avLst/>
          </a:prstGeom>
          <a:noFill/>
        </p:spPr>
        <p:txBody>
          <a:bodyPr wrap="square">
            <a:spAutoFit/>
          </a:bodyPr>
          <a:lstStyle/>
          <a:p>
            <a:pPr algn="ctr">
              <a:lnSpc>
                <a:spcPct val="150000"/>
              </a:lnSpc>
            </a:pPr>
            <a:r>
              <a:rPr lang="en-IN" sz="2800" b="1" dirty="0">
                <a:latin typeface="Times New Roman" panose="02020603050405020304" pitchFamily="18" charset="0"/>
                <a:cs typeface="Times New Roman" panose="02020603050405020304" pitchFamily="18" charset="0"/>
              </a:rPr>
              <a:t>INTRODUCTION</a:t>
            </a:r>
          </a:p>
          <a:p>
            <a:pPr algn="just">
              <a:lnSpc>
                <a:spcPct val="150000"/>
              </a:lnSpc>
            </a:pPr>
            <a:r>
              <a:rPr lang="en-US" sz="2400" dirty="0">
                <a:latin typeface="Times New Roman" panose="02020603050405020304" pitchFamily="18" charset="0"/>
                <a:cs typeface="Times New Roman" panose="02020603050405020304" pitchFamily="18" charset="0"/>
              </a:rPr>
              <a:t>The 6-transistor SRAM (6T SRAM) cell is a fundamental building block of static random-access memory (SRAM), widely employed in modern integrated circuits for on-chip data storage. Comprising six transistors arranged in a cross-coupled configuration, the 6T SRAM cell offers a balance of stability, speed, and efficiency. Its key components include two cross-coupled inverters for data storage and access transistors for read and write operations. The 6T SRAM cell is characterized by its ability to retain data without the need for constant refresh, making it a preferred choice for cache memories in high-performance computing applications. The design and optimization of 6T SRAM cells play a crucial role in shaping the performance and efficiency of memory subsystems within integrated circuits.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7343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D81DDDC-3EC3-CEA1-E209-AE310D274431}"/>
              </a:ext>
            </a:extLst>
          </p:cNvPr>
          <p:cNvSpPr>
            <a:spLocks noGrp="1"/>
          </p:cNvSpPr>
          <p:nvPr>
            <p:ph type="sldNum" sz="quarter" idx="12"/>
          </p:nvPr>
        </p:nvSpPr>
        <p:spPr/>
        <p:txBody>
          <a:bodyPr/>
          <a:lstStyle/>
          <a:p>
            <a:fld id="{2B48B02D-6448-4399-BE2E-C025BF63EF34}" type="slidenum">
              <a:rPr lang="en-IN" smtClean="0"/>
              <a:t>6</a:t>
            </a:fld>
            <a:endParaRPr lang="en-IN"/>
          </a:p>
        </p:txBody>
      </p:sp>
      <p:graphicFrame>
        <p:nvGraphicFramePr>
          <p:cNvPr id="4" name="Table 3">
            <a:extLst>
              <a:ext uri="{FF2B5EF4-FFF2-40B4-BE49-F238E27FC236}">
                <a16:creationId xmlns:a16="http://schemas.microsoft.com/office/drawing/2014/main" id="{A213DD78-7284-B736-29E7-562999B6AC6F}"/>
              </a:ext>
            </a:extLst>
          </p:cNvPr>
          <p:cNvGraphicFramePr>
            <a:graphicFrameLocks noGrp="1"/>
          </p:cNvGraphicFramePr>
          <p:nvPr>
            <p:extLst>
              <p:ext uri="{D42A27DB-BD31-4B8C-83A1-F6EECF244321}">
                <p14:modId xmlns:p14="http://schemas.microsoft.com/office/powerpoint/2010/main" val="1238779276"/>
              </p:ext>
            </p:extLst>
          </p:nvPr>
        </p:nvGraphicFramePr>
        <p:xfrm>
          <a:off x="449473" y="598537"/>
          <a:ext cx="11438628" cy="5669280"/>
        </p:xfrm>
        <a:graphic>
          <a:graphicData uri="http://schemas.openxmlformats.org/drawingml/2006/table">
            <a:tbl>
              <a:tblPr firstRow="1" bandRow="1">
                <a:tableStyleId>{5940675A-B579-460E-94D1-54222C63F5DA}</a:tableStyleId>
              </a:tblPr>
              <a:tblGrid>
                <a:gridCol w="1178272">
                  <a:extLst>
                    <a:ext uri="{9D8B030D-6E8A-4147-A177-3AD203B41FA5}">
                      <a16:colId xmlns:a16="http://schemas.microsoft.com/office/drawing/2014/main" val="2742642265"/>
                    </a:ext>
                  </a:extLst>
                </a:gridCol>
                <a:gridCol w="2752778">
                  <a:extLst>
                    <a:ext uri="{9D8B030D-6E8A-4147-A177-3AD203B41FA5}">
                      <a16:colId xmlns:a16="http://schemas.microsoft.com/office/drawing/2014/main" val="1463752537"/>
                    </a:ext>
                  </a:extLst>
                </a:gridCol>
                <a:gridCol w="2932126">
                  <a:extLst>
                    <a:ext uri="{9D8B030D-6E8A-4147-A177-3AD203B41FA5}">
                      <a16:colId xmlns:a16="http://schemas.microsoft.com/office/drawing/2014/main" val="2387309984"/>
                    </a:ext>
                  </a:extLst>
                </a:gridCol>
                <a:gridCol w="2287726">
                  <a:extLst>
                    <a:ext uri="{9D8B030D-6E8A-4147-A177-3AD203B41FA5}">
                      <a16:colId xmlns:a16="http://schemas.microsoft.com/office/drawing/2014/main" val="2918473584"/>
                    </a:ext>
                  </a:extLst>
                </a:gridCol>
                <a:gridCol w="2287726">
                  <a:extLst>
                    <a:ext uri="{9D8B030D-6E8A-4147-A177-3AD203B41FA5}">
                      <a16:colId xmlns:a16="http://schemas.microsoft.com/office/drawing/2014/main" val="1211037752"/>
                    </a:ext>
                  </a:extLst>
                </a:gridCol>
              </a:tblGrid>
              <a:tr h="370840">
                <a:tc>
                  <a:txBody>
                    <a:bodyPr/>
                    <a:lstStyle/>
                    <a:p>
                      <a:r>
                        <a:rPr lang="en-IN" b="1">
                          <a:latin typeface="Times New Roman" panose="02020603050405020304" pitchFamily="18" charset="0"/>
                          <a:cs typeface="Times New Roman" panose="02020603050405020304" pitchFamily="18" charset="0"/>
                        </a:rPr>
                        <a:t>SNO</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a:latin typeface="Times New Roman" panose="02020603050405020304" pitchFamily="18" charset="0"/>
                          <a:cs typeface="Times New Roman" panose="02020603050405020304" pitchFamily="18" charset="0"/>
                        </a:rPr>
                        <a:t>YEAR</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a:latin typeface="Times New Roman" panose="02020603050405020304" pitchFamily="18" charset="0"/>
                          <a:cs typeface="Times New Roman" panose="02020603050405020304" pitchFamily="18" charset="0"/>
                        </a:rPr>
                        <a:t>TITLE</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a:latin typeface="Times New Roman" panose="02020603050405020304" pitchFamily="18" charset="0"/>
                          <a:cs typeface="Times New Roman" panose="02020603050405020304" pitchFamily="18" charset="0"/>
                        </a:rPr>
                        <a:t>TECHNOLOGY USED</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a:latin typeface="Times New Roman" panose="02020603050405020304" pitchFamily="18" charset="0"/>
                          <a:cs typeface="Times New Roman" panose="02020603050405020304" pitchFamily="18" charset="0"/>
                        </a:rPr>
                        <a:t>PARAMETERS ANALYSED</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85796975"/>
                  </a:ext>
                </a:extLst>
              </a:tr>
              <a:tr h="370840">
                <a:tc>
                  <a:txBody>
                    <a:bodyPr/>
                    <a:lstStyle/>
                    <a:p>
                      <a:r>
                        <a:rPr lang="en-IN">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IN">
                          <a:latin typeface="Times New Roman" panose="02020603050405020304" pitchFamily="18" charset="0"/>
                          <a:cs typeface="Times New Roman" panose="02020603050405020304" pitchFamily="18" charset="0"/>
                        </a:rPr>
                        <a:t>2021</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800" b="0" kern="1200">
                          <a:solidFill>
                            <a:schemeClr val="tx1"/>
                          </a:solidFill>
                          <a:effectLst/>
                          <a:latin typeface="Times New Roman" panose="02020603050405020304" pitchFamily="18" charset="0"/>
                          <a:ea typeface="+mn-ea"/>
                          <a:cs typeface="Times New Roman" panose="02020603050405020304" pitchFamily="18" charset="0"/>
                        </a:rPr>
                        <a:t>Design and Performance Comparison of 6-T SRAM Cell </a:t>
                      </a:r>
                    </a:p>
                    <a:p>
                      <a:endParaRPr lang="en-IN" dirty="0">
                        <a:latin typeface="Times New Roman" panose="02020603050405020304" pitchFamily="18" charset="0"/>
                        <a:cs typeface="Times New Roman" panose="02020603050405020304" pitchFamily="18" charset="0"/>
                      </a:endParaRPr>
                    </a:p>
                  </a:txBody>
                  <a:tcPr/>
                </a:tc>
                <a:tc>
                  <a:txBody>
                    <a:bodyPr/>
                    <a:lstStyle/>
                    <a:p>
                      <a:r>
                        <a:rPr lang="en-IN" sz="1800" b="0" kern="1200">
                          <a:solidFill>
                            <a:schemeClr val="tx1"/>
                          </a:solidFill>
                          <a:effectLst/>
                          <a:latin typeface="Times New Roman" panose="02020603050405020304" pitchFamily="18" charset="0"/>
                          <a:ea typeface="+mn-ea"/>
                          <a:cs typeface="Times New Roman" panose="02020603050405020304" pitchFamily="18" charset="0"/>
                        </a:rPr>
                        <a:t>32nm CMOS, FinFET and CNTFET Technologies</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average power </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delay</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leakage current</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read stability</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write-ability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3876472"/>
                  </a:ext>
                </a:extLst>
              </a:tr>
              <a:tr h="370840">
                <a:tc>
                  <a:txBody>
                    <a:bodyPr/>
                    <a:lstStyle/>
                    <a:p>
                      <a:r>
                        <a:rPr lang="en-IN">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r>
                        <a:rPr lang="en-IN">
                          <a:latin typeface="Times New Roman" panose="02020603050405020304" pitchFamily="18" charset="0"/>
                          <a:cs typeface="Times New Roman" panose="02020603050405020304" pitchFamily="18" charset="0"/>
                        </a:rPr>
                        <a:t>2019</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0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Performance Analysis of 6T and 9T SRAM</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0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45nm CMOS technology</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0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stability, </a:t>
                      </a:r>
                    </a:p>
                    <a:p>
                      <a:pPr marL="285750" indent="-285750">
                        <a:buFont typeface="Arial" panose="020B0604020202020204" pitchFamily="34" charset="0"/>
                        <a:buChar char="•"/>
                      </a:pPr>
                      <a:r>
                        <a:rPr lang="en-IN" sz="1800" kern="10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leakage, </a:t>
                      </a:r>
                    </a:p>
                    <a:p>
                      <a:pPr marL="285750" indent="-285750">
                        <a:buFont typeface="Arial" panose="020B0604020202020204" pitchFamily="34" charset="0"/>
                        <a:buChar char="•"/>
                      </a:pPr>
                      <a:r>
                        <a:rPr lang="en-IN" sz="1800" kern="10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process variations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43359456"/>
                  </a:ext>
                </a:extLst>
              </a:tr>
              <a:tr h="370840">
                <a:tc>
                  <a:txBody>
                    <a:bodyPr/>
                    <a:lstStyle/>
                    <a:p>
                      <a:r>
                        <a:rPr lang="en-IN">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2017</a:t>
                      </a:r>
                    </a:p>
                  </a:txBody>
                  <a:tcPr/>
                </a:tc>
                <a:tc>
                  <a:txBody>
                    <a:bodyPr/>
                    <a:lstStyle/>
                    <a:p>
                      <a:r>
                        <a:rPr lang="en-IN" sz="1800" kern="1200">
                          <a:solidFill>
                            <a:schemeClr val="tx1"/>
                          </a:solidFill>
                          <a:effectLst/>
                          <a:latin typeface="Times New Roman" panose="02020603050405020304" pitchFamily="18" charset="0"/>
                          <a:ea typeface="+mn-ea"/>
                          <a:cs typeface="Times New Roman" panose="02020603050405020304" pitchFamily="18" charset="0"/>
                        </a:rPr>
                        <a:t>Analysis of 6T SRAM cell in different technologies</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a:solidFill>
                            <a:schemeClr val="tx1"/>
                          </a:solidFill>
                          <a:effectLst/>
                          <a:latin typeface="Times New Roman" panose="02020603050405020304" pitchFamily="18" charset="0"/>
                          <a:ea typeface="+mn-ea"/>
                          <a:cs typeface="Times New Roman" panose="02020603050405020304" pitchFamily="18" charset="0"/>
                        </a:rPr>
                        <a:t>180nm, 90nm, and 45nm technology </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Speed</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power dissipation </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static noise margin.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49889776"/>
                  </a:ext>
                </a:extLst>
              </a:tr>
              <a:tr h="370840">
                <a:tc>
                  <a:txBody>
                    <a:bodyPr/>
                    <a:lstStyle/>
                    <a:p>
                      <a:r>
                        <a:rPr lang="en-IN">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en-IN">
                          <a:latin typeface="Times New Roman" panose="02020603050405020304" pitchFamily="18" charset="0"/>
                          <a:cs typeface="Times New Roman" panose="02020603050405020304" pitchFamily="18" charset="0"/>
                        </a:rPr>
                        <a:t>2016</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a:solidFill>
                            <a:schemeClr val="tx1"/>
                          </a:solidFill>
                          <a:effectLst/>
                          <a:latin typeface="Times New Roman" panose="02020603050405020304" pitchFamily="18" charset="0"/>
                          <a:ea typeface="+mn-ea"/>
                          <a:cs typeface="Times New Roman" panose="02020603050405020304" pitchFamily="18" charset="0"/>
                        </a:rPr>
                        <a:t>Design of low power 6T-SRAM cell and analysis for high-speed application. </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a:solidFill>
                            <a:schemeClr val="tx1"/>
                          </a:solidFill>
                          <a:effectLst/>
                          <a:latin typeface="Times New Roman" panose="02020603050405020304" pitchFamily="18" charset="0"/>
                          <a:ea typeface="+mn-ea"/>
                          <a:cs typeface="Times New Roman" panose="02020603050405020304" pitchFamily="18" charset="0"/>
                        </a:rPr>
                        <a:t>90nm technology</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Static Noise Margin</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Data Retention Voltage</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Read Margin</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Write Margin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9088751"/>
                  </a:ext>
                </a:extLst>
              </a:tr>
            </a:tbl>
          </a:graphicData>
        </a:graphic>
      </p:graphicFrame>
    </p:spTree>
    <p:extLst>
      <p:ext uri="{BB962C8B-B14F-4D97-AF65-F5344CB8AC3E}">
        <p14:creationId xmlns:p14="http://schemas.microsoft.com/office/powerpoint/2010/main" val="3387509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DA48587-3C30-718B-8279-D27044874CA2}"/>
              </a:ext>
            </a:extLst>
          </p:cNvPr>
          <p:cNvSpPr>
            <a:spLocks noGrp="1"/>
          </p:cNvSpPr>
          <p:nvPr>
            <p:ph type="sldNum" sz="quarter" idx="12"/>
          </p:nvPr>
        </p:nvSpPr>
        <p:spPr/>
        <p:txBody>
          <a:bodyPr/>
          <a:lstStyle/>
          <a:p>
            <a:fld id="{2B48B02D-6448-4399-BE2E-C025BF63EF34}" type="slidenum">
              <a:rPr lang="en-IN" smtClean="0"/>
              <a:t>7</a:t>
            </a:fld>
            <a:endParaRPr lang="en-IN"/>
          </a:p>
        </p:txBody>
      </p:sp>
      <p:graphicFrame>
        <p:nvGraphicFramePr>
          <p:cNvPr id="4" name="Table 3">
            <a:extLst>
              <a:ext uri="{FF2B5EF4-FFF2-40B4-BE49-F238E27FC236}">
                <a16:creationId xmlns:a16="http://schemas.microsoft.com/office/drawing/2014/main" id="{96F5241E-2C11-C7B1-BE1E-924A67AAF398}"/>
              </a:ext>
            </a:extLst>
          </p:cNvPr>
          <p:cNvGraphicFramePr>
            <a:graphicFrameLocks noGrp="1"/>
          </p:cNvGraphicFramePr>
          <p:nvPr>
            <p:extLst>
              <p:ext uri="{D42A27DB-BD31-4B8C-83A1-F6EECF244321}">
                <p14:modId xmlns:p14="http://schemas.microsoft.com/office/powerpoint/2010/main" val="2941100556"/>
              </p:ext>
            </p:extLst>
          </p:nvPr>
        </p:nvGraphicFramePr>
        <p:xfrm>
          <a:off x="303362" y="902599"/>
          <a:ext cx="11438628" cy="4572000"/>
        </p:xfrm>
        <a:graphic>
          <a:graphicData uri="http://schemas.openxmlformats.org/drawingml/2006/table">
            <a:tbl>
              <a:tblPr firstRow="1" bandRow="1">
                <a:tableStyleId>{5940675A-B579-460E-94D1-54222C63F5DA}</a:tableStyleId>
              </a:tblPr>
              <a:tblGrid>
                <a:gridCol w="1178272">
                  <a:extLst>
                    <a:ext uri="{9D8B030D-6E8A-4147-A177-3AD203B41FA5}">
                      <a16:colId xmlns:a16="http://schemas.microsoft.com/office/drawing/2014/main" val="335693675"/>
                    </a:ext>
                  </a:extLst>
                </a:gridCol>
                <a:gridCol w="1442721">
                  <a:extLst>
                    <a:ext uri="{9D8B030D-6E8A-4147-A177-3AD203B41FA5}">
                      <a16:colId xmlns:a16="http://schemas.microsoft.com/office/drawing/2014/main" val="3844715977"/>
                    </a:ext>
                  </a:extLst>
                </a:gridCol>
                <a:gridCol w="4242183">
                  <a:extLst>
                    <a:ext uri="{9D8B030D-6E8A-4147-A177-3AD203B41FA5}">
                      <a16:colId xmlns:a16="http://schemas.microsoft.com/office/drawing/2014/main" val="1813536483"/>
                    </a:ext>
                  </a:extLst>
                </a:gridCol>
                <a:gridCol w="2287726">
                  <a:extLst>
                    <a:ext uri="{9D8B030D-6E8A-4147-A177-3AD203B41FA5}">
                      <a16:colId xmlns:a16="http://schemas.microsoft.com/office/drawing/2014/main" val="9339324"/>
                    </a:ext>
                  </a:extLst>
                </a:gridCol>
                <a:gridCol w="2287726">
                  <a:extLst>
                    <a:ext uri="{9D8B030D-6E8A-4147-A177-3AD203B41FA5}">
                      <a16:colId xmlns:a16="http://schemas.microsoft.com/office/drawing/2014/main" val="928752027"/>
                    </a:ext>
                  </a:extLst>
                </a:gridCol>
              </a:tblGrid>
              <a:tr h="370840">
                <a:tc>
                  <a:txBody>
                    <a:bodyPr/>
                    <a:lstStyle/>
                    <a:p>
                      <a:r>
                        <a:rPr lang="en-IN" b="1" dirty="0">
                          <a:latin typeface="Times New Roman" panose="02020603050405020304" pitchFamily="18" charset="0"/>
                          <a:cs typeface="Times New Roman" panose="02020603050405020304" pitchFamily="18" charset="0"/>
                        </a:rPr>
                        <a:t>SNO</a:t>
                      </a:r>
                    </a:p>
                  </a:txBody>
                  <a:tcPr/>
                </a:tc>
                <a:tc>
                  <a:txBody>
                    <a:bodyPr/>
                    <a:lstStyle/>
                    <a:p>
                      <a:r>
                        <a:rPr lang="en-IN" b="1" dirty="0">
                          <a:latin typeface="Times New Roman" panose="02020603050405020304" pitchFamily="18" charset="0"/>
                          <a:cs typeface="Times New Roman" panose="02020603050405020304" pitchFamily="18" charset="0"/>
                        </a:rPr>
                        <a:t>YEAR</a:t>
                      </a:r>
                    </a:p>
                  </a:txBody>
                  <a:tcPr/>
                </a:tc>
                <a:tc>
                  <a:txBody>
                    <a:bodyPr/>
                    <a:lstStyle/>
                    <a:p>
                      <a:r>
                        <a:rPr lang="en-IN" b="1" dirty="0">
                          <a:latin typeface="Times New Roman" panose="02020603050405020304" pitchFamily="18" charset="0"/>
                          <a:cs typeface="Times New Roman" panose="02020603050405020304" pitchFamily="18" charset="0"/>
                        </a:rPr>
                        <a:t>TITLE</a:t>
                      </a:r>
                    </a:p>
                  </a:txBody>
                  <a:tcPr/>
                </a:tc>
                <a:tc>
                  <a:txBody>
                    <a:bodyPr/>
                    <a:lstStyle/>
                    <a:p>
                      <a:r>
                        <a:rPr lang="en-IN" b="1" dirty="0">
                          <a:latin typeface="Times New Roman" panose="02020603050405020304" pitchFamily="18" charset="0"/>
                          <a:cs typeface="Times New Roman" panose="02020603050405020304" pitchFamily="18" charset="0"/>
                        </a:rPr>
                        <a:t>TECHNOLOGY USED</a:t>
                      </a:r>
                    </a:p>
                  </a:txBody>
                  <a:tcPr/>
                </a:tc>
                <a:tc>
                  <a:txBody>
                    <a:bodyPr/>
                    <a:lstStyle/>
                    <a:p>
                      <a:r>
                        <a:rPr lang="en-IN" b="1" dirty="0">
                          <a:latin typeface="Times New Roman" panose="02020603050405020304" pitchFamily="18" charset="0"/>
                          <a:cs typeface="Times New Roman" panose="02020603050405020304" pitchFamily="18" charset="0"/>
                        </a:rPr>
                        <a:t>PARAMETERS ANALYSED</a:t>
                      </a:r>
                    </a:p>
                  </a:txBody>
                  <a:tcPr/>
                </a:tc>
                <a:extLst>
                  <a:ext uri="{0D108BD9-81ED-4DB2-BD59-A6C34878D82A}">
                    <a16:rowId xmlns:a16="http://schemas.microsoft.com/office/drawing/2014/main" val="4226829623"/>
                  </a:ext>
                </a:extLst>
              </a:tr>
              <a:tr h="370840">
                <a:tc>
                  <a:txBody>
                    <a:bodyPr/>
                    <a:lstStyle/>
                    <a:p>
                      <a:r>
                        <a:rPr lang="en-IN" dirty="0">
                          <a:latin typeface="Times New Roman" panose="02020603050405020304" pitchFamily="18" charset="0"/>
                          <a:cs typeface="Times New Roman" panose="02020603050405020304" pitchFamily="18" charset="0"/>
                        </a:rPr>
                        <a:t>5</a:t>
                      </a:r>
                    </a:p>
                  </a:txBody>
                  <a:tcPr/>
                </a:tc>
                <a:tc>
                  <a:txBody>
                    <a:bodyPr/>
                    <a:lstStyle/>
                    <a:p>
                      <a:r>
                        <a:rPr lang="en-IN" dirty="0">
                          <a:latin typeface="Times New Roman" panose="02020603050405020304" pitchFamily="18" charset="0"/>
                          <a:cs typeface="Times New Roman" panose="02020603050405020304" pitchFamily="18" charset="0"/>
                        </a:rPr>
                        <a:t>2015</a:t>
                      </a: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6T SRAM Cell: Design And Analysis</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45nm and 180nm technologies</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power consumption</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delay</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SNM.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445347"/>
                  </a:ext>
                </a:extLst>
              </a:tr>
              <a:tr h="370840">
                <a:tc>
                  <a:txBody>
                    <a:bodyPr/>
                    <a:lstStyle/>
                    <a:p>
                      <a:r>
                        <a:rPr lang="en-IN" dirty="0">
                          <a:latin typeface="Times New Roman" panose="02020603050405020304" pitchFamily="18" charset="0"/>
                          <a:cs typeface="Times New Roman" panose="02020603050405020304" pitchFamily="18" charset="0"/>
                        </a:rPr>
                        <a:t>6</a:t>
                      </a:r>
                    </a:p>
                  </a:txBody>
                  <a:tcPr/>
                </a:tc>
                <a:tc>
                  <a:txBody>
                    <a:bodyPr/>
                    <a:lstStyle/>
                    <a:p>
                      <a:r>
                        <a:rPr lang="en-IN" dirty="0">
                          <a:latin typeface="Times New Roman" panose="02020603050405020304" pitchFamily="18" charset="0"/>
                          <a:cs typeface="Times New Roman" panose="02020603050405020304" pitchFamily="18" charset="0"/>
                        </a:rPr>
                        <a:t>2014</a:t>
                      </a: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A Comparative Analysis of 6 Transistor SRAM and 6T ROM Embedded SRAM. </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power comparisons</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LT SPICE Software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34262347"/>
                  </a:ext>
                </a:extLst>
              </a:tr>
              <a:tr h="370840">
                <a:tc>
                  <a:txBody>
                    <a:bodyPr/>
                    <a:lstStyle/>
                    <a:p>
                      <a:r>
                        <a:rPr lang="en-IN" b="0" dirty="0">
                          <a:latin typeface="Times New Roman" panose="02020603050405020304" pitchFamily="18" charset="0"/>
                          <a:cs typeface="Times New Roman" panose="02020603050405020304" pitchFamily="18" charset="0"/>
                        </a:rPr>
                        <a:t>7</a:t>
                      </a:r>
                    </a:p>
                  </a:txBody>
                  <a:tcPr/>
                </a:tc>
                <a:tc>
                  <a:txBody>
                    <a:bodyPr/>
                    <a:lstStyle/>
                    <a:p>
                      <a:r>
                        <a:rPr lang="en-IN" b="0" dirty="0">
                          <a:latin typeface="Times New Roman" panose="02020603050405020304" pitchFamily="18" charset="0"/>
                          <a:cs typeface="Times New Roman" panose="02020603050405020304" pitchFamily="18" charset="0"/>
                        </a:rPr>
                        <a:t>2022</a:t>
                      </a: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A comparative performance analysis of 6T &amp; 9T SRAM integrated circuits</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180 nm </a:t>
                      </a:r>
                      <a:r>
                        <a:rPr lang="en-IN" sz="1800" b="0" kern="1200" dirty="0">
                          <a:solidFill>
                            <a:schemeClr val="tx1"/>
                          </a:solidFill>
                          <a:effectLst/>
                          <a:latin typeface="Times New Roman" panose="02020603050405020304" pitchFamily="18" charset="0"/>
                          <a:ea typeface="+mn-ea"/>
                          <a:cs typeface="Times New Roman" panose="02020603050405020304" pitchFamily="18" charset="0"/>
                        </a:rPr>
                        <a:t>Technologies</a:t>
                      </a:r>
                      <a:endParaRPr lang="en-IN" b="1"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data stability</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power metrics </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Temperature variations</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0174349"/>
                  </a:ext>
                </a:extLst>
              </a:tr>
              <a:tr h="370840">
                <a:tc>
                  <a:txBody>
                    <a:bodyPr/>
                    <a:lstStyle/>
                    <a:p>
                      <a:r>
                        <a:rPr lang="en-IN" b="0" dirty="0">
                          <a:latin typeface="Times New Roman" panose="02020603050405020304" pitchFamily="18" charset="0"/>
                          <a:cs typeface="Times New Roman" panose="02020603050405020304" pitchFamily="18" charset="0"/>
                        </a:rPr>
                        <a:t>8</a:t>
                      </a:r>
                    </a:p>
                  </a:txBody>
                  <a:tcPr/>
                </a:tc>
                <a:tc>
                  <a:txBody>
                    <a:bodyPr/>
                    <a:lstStyle/>
                    <a:p>
                      <a:r>
                        <a:rPr lang="en-IN" b="0" dirty="0">
                          <a:latin typeface="Times New Roman" panose="02020603050405020304" pitchFamily="18" charset="0"/>
                          <a:cs typeface="Times New Roman" panose="02020603050405020304" pitchFamily="18" charset="0"/>
                        </a:rPr>
                        <a:t>2012</a:t>
                      </a: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Implementation and </a:t>
                      </a:r>
                      <a:r>
                        <a:rPr lang="en-IN" sz="1800" kern="1200" dirty="0" err="1">
                          <a:solidFill>
                            <a:schemeClr val="tx1"/>
                          </a:solidFill>
                          <a:effectLst/>
                          <a:latin typeface="Times New Roman" panose="02020603050405020304" pitchFamily="18" charset="0"/>
                          <a:ea typeface="+mn-ea"/>
                          <a:cs typeface="Times New Roman" panose="02020603050405020304" pitchFamily="18" charset="0"/>
                        </a:rPr>
                        <a:t>desing</a:t>
                      </a:r>
                      <a:r>
                        <a:rPr lang="en-IN" sz="1800" kern="1200" dirty="0">
                          <a:solidFill>
                            <a:schemeClr val="tx1"/>
                          </a:solidFill>
                          <a:effectLst/>
                          <a:latin typeface="Times New Roman" panose="02020603050405020304" pitchFamily="18" charset="0"/>
                          <a:ea typeface="+mn-ea"/>
                          <a:cs typeface="Times New Roman" panose="02020603050405020304" pitchFamily="18" charset="0"/>
                        </a:rPr>
                        <a:t> of 6T-SRAM with read and write assists circuits</a:t>
                      </a:r>
                      <a:endParaRPr lang="en-IN" b="1" dirty="0">
                        <a:latin typeface="Times New Roman" panose="02020603050405020304" pitchFamily="18" charset="0"/>
                        <a:cs typeface="Times New Roman" panose="02020603050405020304" pitchFamily="18" charset="0"/>
                      </a:endParaRPr>
                    </a:p>
                  </a:txBody>
                  <a:tcPr/>
                </a:tc>
                <a:tc>
                  <a:txBody>
                    <a:bodyPr/>
                    <a:lstStyle/>
                    <a:p>
                      <a:pPr algn="just"/>
                      <a:r>
                        <a:rPr lang="en-IN" sz="1800" kern="1200" dirty="0">
                          <a:solidFill>
                            <a:schemeClr val="tx1"/>
                          </a:solidFill>
                          <a:effectLst/>
                          <a:latin typeface="Times New Roman" panose="02020603050405020304" pitchFamily="18" charset="0"/>
                          <a:ea typeface="+mn-ea"/>
                          <a:cs typeface="Times New Roman" panose="02020603050405020304" pitchFamily="18" charset="0"/>
                        </a:rPr>
                        <a:t>65nm technology along with a comparison to 120nm technology</a:t>
                      </a:r>
                      <a:endParaRPr lang="en-IN" b="1"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Power dissipation</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circuit layouts</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schematics</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simulation results</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77852501"/>
                  </a:ext>
                </a:extLst>
              </a:tr>
            </a:tbl>
          </a:graphicData>
        </a:graphic>
      </p:graphicFrame>
    </p:spTree>
    <p:extLst>
      <p:ext uri="{BB962C8B-B14F-4D97-AF65-F5344CB8AC3E}">
        <p14:creationId xmlns:p14="http://schemas.microsoft.com/office/powerpoint/2010/main" val="3750962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228AF6-5FB3-3020-7E62-A0AE3E8AFFB5}"/>
              </a:ext>
            </a:extLst>
          </p:cNvPr>
          <p:cNvSpPr>
            <a:spLocks noGrp="1"/>
          </p:cNvSpPr>
          <p:nvPr>
            <p:ph type="sldNum" sz="quarter" idx="12"/>
          </p:nvPr>
        </p:nvSpPr>
        <p:spPr/>
        <p:txBody>
          <a:bodyPr/>
          <a:lstStyle/>
          <a:p>
            <a:fld id="{2B48B02D-6448-4399-BE2E-C025BF63EF34}" type="slidenum">
              <a:rPr lang="en-IN" smtClean="0"/>
              <a:t>8</a:t>
            </a:fld>
            <a:endParaRPr lang="en-IN"/>
          </a:p>
        </p:txBody>
      </p:sp>
      <p:pic>
        <p:nvPicPr>
          <p:cNvPr id="3" name="Picture 2" descr="A white sheet with black text&#10;&#10;Description automatically generated">
            <a:extLst>
              <a:ext uri="{FF2B5EF4-FFF2-40B4-BE49-F238E27FC236}">
                <a16:creationId xmlns:a16="http://schemas.microsoft.com/office/drawing/2014/main" id="{41AE0D9E-5E44-FCAA-401D-A5B710EC70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415" y="931653"/>
            <a:ext cx="10179170" cy="5424697"/>
          </a:xfrm>
          <a:prstGeom prst="rect">
            <a:avLst/>
          </a:prstGeom>
        </p:spPr>
      </p:pic>
      <p:sp>
        <p:nvSpPr>
          <p:cNvPr id="5" name="TextBox 4">
            <a:extLst>
              <a:ext uri="{FF2B5EF4-FFF2-40B4-BE49-F238E27FC236}">
                <a16:creationId xmlns:a16="http://schemas.microsoft.com/office/drawing/2014/main" id="{97FF2DC5-9A18-3831-3F03-1937F8277199}"/>
              </a:ext>
            </a:extLst>
          </p:cNvPr>
          <p:cNvSpPr txBox="1"/>
          <p:nvPr/>
        </p:nvSpPr>
        <p:spPr>
          <a:xfrm>
            <a:off x="3280194" y="554726"/>
            <a:ext cx="6094562"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SPECIFICATIONS</a:t>
            </a: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OF THE 6 TRANSISTOR SRAM</a:t>
            </a:r>
            <a:endParaRPr lang="en-IN" dirty="0"/>
          </a:p>
        </p:txBody>
      </p:sp>
    </p:spTree>
    <p:extLst>
      <p:ext uri="{BB962C8B-B14F-4D97-AF65-F5344CB8AC3E}">
        <p14:creationId xmlns:p14="http://schemas.microsoft.com/office/powerpoint/2010/main" val="2243475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4E52A7A-BCFD-D59F-235B-28427105057A}"/>
              </a:ext>
            </a:extLst>
          </p:cNvPr>
          <p:cNvSpPr txBox="1"/>
          <p:nvPr/>
        </p:nvSpPr>
        <p:spPr>
          <a:xfrm>
            <a:off x="717422" y="2262541"/>
            <a:ext cx="3283078"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2800" b="1" kern="1200" dirty="0">
                <a:solidFill>
                  <a:srgbClr val="FFFFFF"/>
                </a:solidFill>
                <a:effectLst/>
                <a:latin typeface="Times New Roman" panose="02020603050405020304" pitchFamily="18" charset="0"/>
                <a:ea typeface="+mj-ea"/>
                <a:cs typeface="Times New Roman" panose="02020603050405020304" pitchFamily="18" charset="0"/>
              </a:rPr>
              <a:t>METHODOLOGY</a:t>
            </a:r>
          </a:p>
          <a:p>
            <a:pPr algn="ctr">
              <a:lnSpc>
                <a:spcPct val="90000"/>
              </a:lnSpc>
              <a:spcBef>
                <a:spcPct val="0"/>
              </a:spcBef>
              <a:spcAft>
                <a:spcPts val="600"/>
              </a:spcAft>
            </a:pPr>
            <a:endParaRPr lang="en-US" sz="2800" kern="1200" dirty="0">
              <a:solidFill>
                <a:srgbClr val="FFFFFF"/>
              </a:solidFill>
              <a:latin typeface="Times New Roman" panose="02020603050405020304" pitchFamily="18" charset="0"/>
              <a:ea typeface="+mj-ea"/>
              <a:cs typeface="Times New Roman" panose="02020603050405020304" pitchFamily="18" charset="0"/>
            </a:endParaRPr>
          </a:p>
        </p:txBody>
      </p:sp>
      <p:sp>
        <p:nvSpPr>
          <p:cNvPr id="3" name="Slide Number Placeholder 2">
            <a:extLst>
              <a:ext uri="{FF2B5EF4-FFF2-40B4-BE49-F238E27FC236}">
                <a16:creationId xmlns:a16="http://schemas.microsoft.com/office/drawing/2014/main" id="{3DE17CFB-6A9E-59CF-C6BE-D18EF65BA8C2}"/>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2B48B02D-6448-4399-BE2E-C025BF63EF34}" type="slidenum">
              <a:rPr lang="en-US">
                <a:solidFill>
                  <a:schemeClr val="tx1">
                    <a:alpha val="80000"/>
                  </a:schemeClr>
                </a:solidFill>
                <a:latin typeface="Times New Roman" panose="02020603050405020304" pitchFamily="18" charset="0"/>
                <a:cs typeface="Times New Roman" panose="02020603050405020304" pitchFamily="18" charset="0"/>
              </a:rPr>
              <a:pPr>
                <a:spcAft>
                  <a:spcPts val="600"/>
                </a:spcAft>
              </a:pPr>
              <a:t>9</a:t>
            </a:fld>
            <a:endParaRPr lang="en-US">
              <a:solidFill>
                <a:schemeClr val="tx1">
                  <a:alpha val="80000"/>
                </a:schemeClr>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2FA70A9-957C-5F4D-219C-54FF512C1B0F}"/>
              </a:ext>
            </a:extLst>
          </p:cNvPr>
          <p:cNvPicPr>
            <a:picLocks noChangeAspect="1"/>
          </p:cNvPicPr>
          <p:nvPr/>
        </p:nvPicPr>
        <p:blipFill>
          <a:blip r:embed="rId2"/>
          <a:stretch>
            <a:fillRect/>
          </a:stretch>
        </p:blipFill>
        <p:spPr>
          <a:xfrm>
            <a:off x="4356881" y="756558"/>
            <a:ext cx="7117697" cy="4968671"/>
          </a:xfrm>
          <a:prstGeom prst="rect">
            <a:avLst/>
          </a:prstGeom>
        </p:spPr>
      </p:pic>
      <p:sp>
        <p:nvSpPr>
          <p:cNvPr id="7" name="TextBox 6">
            <a:extLst>
              <a:ext uri="{FF2B5EF4-FFF2-40B4-BE49-F238E27FC236}">
                <a16:creationId xmlns:a16="http://schemas.microsoft.com/office/drawing/2014/main" id="{31A71F18-89C0-124B-C369-39FFEEC2E36B}"/>
              </a:ext>
            </a:extLst>
          </p:cNvPr>
          <p:cNvSpPr txBox="1"/>
          <p:nvPr/>
        </p:nvSpPr>
        <p:spPr>
          <a:xfrm>
            <a:off x="5643831" y="5732110"/>
            <a:ext cx="6094562" cy="369332"/>
          </a:xfrm>
          <a:prstGeom prst="rect">
            <a:avLst/>
          </a:prstGeom>
          <a:noFill/>
        </p:spPr>
        <p:txBody>
          <a:bodyPr wrap="square">
            <a:spAutoFit/>
          </a:bodyPr>
          <a:lstStyle/>
          <a:p>
            <a:r>
              <a:rPr lang="en-US" sz="1800" b="1" dirty="0">
                <a:solidFill>
                  <a:srgbClr val="000000"/>
                </a:solidFill>
                <a:effectLst/>
                <a:latin typeface="Times New Roman" panose="02020603050405020304" pitchFamily="18" charset="0"/>
                <a:ea typeface="Times New Roman" panose="02020603050405020304" pitchFamily="18" charset="0"/>
              </a:rPr>
              <a:t>FLOW DIAGRAM OF CADENCE TOOL</a:t>
            </a:r>
            <a:endParaRPr lang="en-IN" dirty="0"/>
          </a:p>
        </p:txBody>
      </p:sp>
    </p:spTree>
    <p:extLst>
      <p:ext uri="{BB962C8B-B14F-4D97-AF65-F5344CB8AC3E}">
        <p14:creationId xmlns:p14="http://schemas.microsoft.com/office/powerpoint/2010/main" val="2575810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5A75567-1D82-6E7F-6361-E2F0376BDCC4}"/>
              </a:ext>
            </a:extLst>
          </p:cNvPr>
          <p:cNvSpPr>
            <a:spLocks noGrp="1"/>
          </p:cNvSpPr>
          <p:nvPr>
            <p:ph type="sldNum" sz="quarter" idx="12"/>
          </p:nvPr>
        </p:nvSpPr>
        <p:spPr/>
        <p:txBody>
          <a:bodyPr/>
          <a:lstStyle/>
          <a:p>
            <a:fld id="{2B48B02D-6448-4399-BE2E-C025BF63EF34}" type="slidenum">
              <a:rPr lang="en-IN" smtClean="0"/>
              <a:t>10</a:t>
            </a:fld>
            <a:endParaRPr lang="en-IN"/>
          </a:p>
        </p:txBody>
      </p:sp>
      <p:sp>
        <p:nvSpPr>
          <p:cNvPr id="5" name="TextBox 4">
            <a:extLst>
              <a:ext uri="{FF2B5EF4-FFF2-40B4-BE49-F238E27FC236}">
                <a16:creationId xmlns:a16="http://schemas.microsoft.com/office/drawing/2014/main" id="{401E7FAD-C204-765E-F037-FF82306403A3}"/>
              </a:ext>
            </a:extLst>
          </p:cNvPr>
          <p:cNvSpPr txBox="1"/>
          <p:nvPr/>
        </p:nvSpPr>
        <p:spPr>
          <a:xfrm>
            <a:off x="388189" y="174952"/>
            <a:ext cx="11214339" cy="668304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Create a Library:</a:t>
            </a:r>
            <a:r>
              <a:rPr lang="en-IN" sz="2400" dirty="0">
                <a:latin typeface="Times New Roman" panose="02020603050405020304" pitchFamily="18" charset="0"/>
                <a:cs typeface="Times New Roman" panose="02020603050405020304" pitchFamily="18" charset="0"/>
              </a:rPr>
              <a:t> Launch Virtuoso and initiate a new project. Set a name and location for your library. Determine the technology file (.</a:t>
            </a:r>
            <a:r>
              <a:rPr lang="en-IN" sz="2400" dirty="0" err="1">
                <a:latin typeface="Times New Roman" panose="02020603050405020304" pitchFamily="18" charset="0"/>
                <a:cs typeface="Times New Roman" panose="02020603050405020304" pitchFamily="18" charset="0"/>
              </a:rPr>
              <a:t>tf</a:t>
            </a:r>
            <a:r>
              <a:rPr lang="en-IN" sz="2400" dirty="0">
                <a:latin typeface="Times New Roman" panose="02020603050405020304" pitchFamily="18" charset="0"/>
                <a:cs typeface="Times New Roman" panose="02020603050405020304" pitchFamily="18" charset="0"/>
              </a:rPr>
              <a:t>) that specifies design rules and device models.</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Example: </a:t>
            </a:r>
            <a:r>
              <a:rPr lang="en-IN" sz="2400" dirty="0">
                <a:latin typeface="Times New Roman" panose="02020603050405020304" pitchFamily="18" charset="0"/>
                <a:cs typeface="Times New Roman" panose="02020603050405020304" pitchFamily="18" charset="0"/>
              </a:rPr>
              <a:t>gpdk45 library.</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Draw Schematic:</a:t>
            </a:r>
            <a:r>
              <a:rPr lang="en-IN" sz="2400" dirty="0">
                <a:latin typeface="Times New Roman" panose="02020603050405020304" pitchFamily="18" charset="0"/>
                <a:cs typeface="Times New Roman" panose="02020603050405020304" pitchFamily="18" charset="0"/>
              </a:rPr>
              <a:t> Access the schematic editor and create a new schematic. Utilize the component library to place devices (transistors, resistors, etc.).Connect devices with wires and add necessary labels.</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Run Simulation: </a:t>
            </a:r>
            <a:r>
              <a:rPr lang="en-IN" sz="2400" dirty="0">
                <a:latin typeface="Times New Roman" panose="02020603050405020304" pitchFamily="18" charset="0"/>
                <a:cs typeface="Times New Roman" panose="02020603050405020304" pitchFamily="18" charset="0"/>
              </a:rPr>
              <a:t>Choose the appropriate simulator (e.g., Spectre for </a:t>
            </a:r>
            <a:r>
              <a:rPr lang="en-IN" sz="2400" dirty="0" err="1">
                <a:latin typeface="Times New Roman" panose="02020603050405020304" pitchFamily="18" charset="0"/>
                <a:cs typeface="Times New Roman" panose="02020603050405020304" pitchFamily="18" charset="0"/>
              </a:rPr>
              <a:t>analog</a:t>
            </a:r>
            <a:r>
              <a:rPr lang="en-IN" sz="2400" dirty="0">
                <a:latin typeface="Times New Roman" panose="02020603050405020304" pitchFamily="18" charset="0"/>
                <a:cs typeface="Times New Roman" panose="02020603050405020304" pitchFamily="18" charset="0"/>
              </a:rPr>
              <a:t>, AMS Designer for mixed-signal).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circuit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and observe waveforms.</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Create Layout:</a:t>
            </a:r>
            <a:r>
              <a:rPr lang="en-IN" sz="2400" dirty="0">
                <a:latin typeface="Times New Roman" panose="02020603050405020304" pitchFamily="18" charset="0"/>
                <a:cs typeface="Times New Roman" panose="02020603050405020304" pitchFamily="18" charset="0"/>
              </a:rPr>
              <a:t> Access the layout editor and create a new layout for each schematic. Place devices and route connections according to design rules.</a:t>
            </a:r>
          </a:p>
          <a:p>
            <a:pPr marL="342900" indent="-342900" algn="just">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330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94B25F-C345-5798-56EF-E05DFF91370F}"/>
              </a:ext>
            </a:extLst>
          </p:cNvPr>
          <p:cNvSpPr>
            <a:spLocks noGrp="1"/>
          </p:cNvSpPr>
          <p:nvPr>
            <p:ph type="sldNum" sz="quarter" idx="12"/>
          </p:nvPr>
        </p:nvSpPr>
        <p:spPr/>
        <p:txBody>
          <a:bodyPr/>
          <a:lstStyle/>
          <a:p>
            <a:fld id="{2B48B02D-6448-4399-BE2E-C025BF63EF34}" type="slidenum">
              <a:rPr lang="en-IN" smtClean="0"/>
              <a:t>11</a:t>
            </a:fld>
            <a:endParaRPr lang="en-IN"/>
          </a:p>
        </p:txBody>
      </p:sp>
      <p:sp>
        <p:nvSpPr>
          <p:cNvPr id="5" name="TextBox 4">
            <a:extLst>
              <a:ext uri="{FF2B5EF4-FFF2-40B4-BE49-F238E27FC236}">
                <a16:creationId xmlns:a16="http://schemas.microsoft.com/office/drawing/2014/main" id="{6AB0A197-8FA3-4612-B27D-1953C6A62999}"/>
              </a:ext>
            </a:extLst>
          </p:cNvPr>
          <p:cNvSpPr txBox="1"/>
          <p:nvPr/>
        </p:nvSpPr>
        <p:spPr>
          <a:xfrm>
            <a:off x="838200" y="904192"/>
            <a:ext cx="10696755" cy="5011949"/>
          </a:xfrm>
          <a:prstGeom prst="rect">
            <a:avLst/>
          </a:prstGeom>
          <a:noFill/>
        </p:spPr>
        <p:txBody>
          <a:bodyPr wrap="square">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DESIGN VERIFICATION:</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Run Design Rule Check (DRC):</a:t>
            </a:r>
            <a:r>
              <a:rPr lang="en-IN" sz="2400" dirty="0">
                <a:latin typeface="Times New Roman" panose="02020603050405020304" pitchFamily="18" charset="0"/>
                <a:cs typeface="Times New Roman" panose="02020603050405020304" pitchFamily="18" charset="0"/>
              </a:rPr>
              <a:t>Ensure layout matches to technology design rules.</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Perform Layout Versus Schematic (LVS) Check: </a:t>
            </a:r>
            <a:r>
              <a:rPr lang="en-IN" sz="2400" dirty="0">
                <a:latin typeface="Times New Roman" panose="02020603050405020304" pitchFamily="18" charset="0"/>
                <a:cs typeface="Times New Roman" panose="02020603050405020304" pitchFamily="18" charset="0"/>
              </a:rPr>
              <a:t>Verify layout connectivity matches schematic.</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Perform Electrical Rule Check (ERC):</a:t>
            </a:r>
            <a:r>
              <a:rPr lang="en-IN" sz="2400" dirty="0">
                <a:latin typeface="Times New Roman" panose="02020603050405020304" pitchFamily="18" charset="0"/>
                <a:cs typeface="Times New Roman" panose="02020603050405020304" pitchFamily="18" charset="0"/>
              </a:rPr>
              <a:t>Confirm layout electrical correctness.</a:t>
            </a:r>
          </a:p>
          <a:p>
            <a:pPr algn="just">
              <a:lnSpc>
                <a:spcPct val="150000"/>
              </a:lnSpc>
            </a:pPr>
            <a:r>
              <a:rPr lang="en-IN" sz="2400" b="1" dirty="0">
                <a:latin typeface="Times New Roman" panose="02020603050405020304" pitchFamily="18" charset="0"/>
                <a:cs typeface="Times New Roman" panose="02020603050405020304" pitchFamily="18" charset="0"/>
              </a:rPr>
              <a:t>DRC/LVS Fix and Final Layout</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Address DRC/LVS Violations: </a:t>
            </a:r>
            <a:r>
              <a:rPr lang="en-IN" sz="2400" dirty="0">
                <a:latin typeface="Times New Roman" panose="02020603050405020304" pitchFamily="18" charset="0"/>
                <a:cs typeface="Times New Roman" panose="02020603050405020304" pitchFamily="18" charset="0"/>
              </a:rPr>
              <a:t>Modify layout to resolve any violations.</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Generate Final Layout: </a:t>
            </a:r>
            <a:r>
              <a:rPr lang="en-IN" sz="2400" dirty="0">
                <a:latin typeface="Times New Roman" panose="02020603050405020304" pitchFamily="18" charset="0"/>
                <a:cs typeface="Times New Roman" panose="02020603050405020304" pitchFamily="18" charset="0"/>
              </a:rPr>
              <a:t>Produce the GDSII file for fabrication</a:t>
            </a:r>
          </a:p>
        </p:txBody>
      </p:sp>
    </p:spTree>
    <p:extLst>
      <p:ext uri="{BB962C8B-B14F-4D97-AF65-F5344CB8AC3E}">
        <p14:creationId xmlns:p14="http://schemas.microsoft.com/office/powerpoint/2010/main" val="964859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6AC21E6-6D07-9B7E-8757-3DE4302D6C34}"/>
              </a:ext>
            </a:extLst>
          </p:cNvPr>
          <p:cNvSpPr txBox="1"/>
          <p:nvPr/>
        </p:nvSpPr>
        <p:spPr>
          <a:xfrm>
            <a:off x="1028700" y="1967266"/>
            <a:ext cx="2628900"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3600" b="1" kern="1200" dirty="0">
                <a:solidFill>
                  <a:srgbClr val="FFFFFF"/>
                </a:solidFill>
                <a:effectLst/>
                <a:latin typeface="Times New Roman" panose="02020603050405020304" pitchFamily="18" charset="0"/>
                <a:ea typeface="+mj-ea"/>
                <a:cs typeface="Times New Roman" panose="02020603050405020304" pitchFamily="18" charset="0"/>
              </a:rPr>
              <a:t>DESIGN ANALYSIS</a:t>
            </a:r>
          </a:p>
          <a:p>
            <a:pPr algn="ctr">
              <a:lnSpc>
                <a:spcPct val="90000"/>
              </a:lnSpc>
              <a:spcBef>
                <a:spcPct val="0"/>
              </a:spcBef>
              <a:spcAft>
                <a:spcPts val="600"/>
              </a:spcAft>
            </a:pPr>
            <a:endParaRPr lang="en-US" sz="3600" b="1" kern="1200" dirty="0">
              <a:solidFill>
                <a:srgbClr val="FFFFFF"/>
              </a:solidFill>
              <a:latin typeface="Times New Roman" panose="02020603050405020304" pitchFamily="18" charset="0"/>
              <a:ea typeface="+mj-ea"/>
              <a:cs typeface="Times New Roman" panose="02020603050405020304" pitchFamily="18" charset="0"/>
            </a:endParaRPr>
          </a:p>
        </p:txBody>
      </p:sp>
      <p:sp>
        <p:nvSpPr>
          <p:cNvPr id="3" name="Slide Number Placeholder 2">
            <a:extLst>
              <a:ext uri="{FF2B5EF4-FFF2-40B4-BE49-F238E27FC236}">
                <a16:creationId xmlns:a16="http://schemas.microsoft.com/office/drawing/2014/main" id="{B55C9450-9D13-53DF-4931-0B0A25B241B2}"/>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2B48B02D-6448-4399-BE2E-C025BF63EF34}" type="slidenum">
              <a:rPr lang="en-US">
                <a:solidFill>
                  <a:schemeClr val="tx1">
                    <a:alpha val="80000"/>
                  </a:schemeClr>
                </a:solidFill>
              </a:rPr>
              <a:pPr>
                <a:spcAft>
                  <a:spcPts val="600"/>
                </a:spcAft>
              </a:pPr>
              <a:t>12</a:t>
            </a:fld>
            <a:endParaRPr lang="en-US">
              <a:solidFill>
                <a:schemeClr val="tx1">
                  <a:alpha val="80000"/>
                </a:schemeClr>
              </a:solidFill>
            </a:endParaRPr>
          </a:p>
        </p:txBody>
      </p:sp>
      <p:sp>
        <p:nvSpPr>
          <p:cNvPr id="6" name="TextBox 5">
            <a:extLst>
              <a:ext uri="{FF2B5EF4-FFF2-40B4-BE49-F238E27FC236}">
                <a16:creationId xmlns:a16="http://schemas.microsoft.com/office/drawing/2014/main" id="{D064DE2B-0AC6-591B-95AE-D814ECE9F1F6}"/>
              </a:ext>
            </a:extLst>
          </p:cNvPr>
          <p:cNvSpPr txBox="1"/>
          <p:nvPr/>
        </p:nvSpPr>
        <p:spPr>
          <a:xfrm>
            <a:off x="1366888" y="328486"/>
            <a:ext cx="11368016"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SCHEMATIC DESIGN OF 6 TRANSISTOR SRAM CELL</a:t>
            </a:r>
          </a:p>
        </p:txBody>
      </p:sp>
      <p:pic>
        <p:nvPicPr>
          <p:cNvPr id="2" name="Picture 1">
            <a:extLst>
              <a:ext uri="{FF2B5EF4-FFF2-40B4-BE49-F238E27FC236}">
                <a16:creationId xmlns:a16="http://schemas.microsoft.com/office/drawing/2014/main" id="{9584EEE2-9DCC-AA18-25CC-7C5681C7368D}"/>
              </a:ext>
            </a:extLst>
          </p:cNvPr>
          <p:cNvPicPr>
            <a:picLocks noChangeAspect="1"/>
          </p:cNvPicPr>
          <p:nvPr/>
        </p:nvPicPr>
        <p:blipFill rotWithShape="1">
          <a:blip r:embed="rId2"/>
          <a:srcRect l="20236" t="4818" r="16651" b="3304"/>
          <a:stretch/>
        </p:blipFill>
        <p:spPr>
          <a:xfrm>
            <a:off x="4364966" y="885882"/>
            <a:ext cx="7694763" cy="4710023"/>
          </a:xfrm>
          <a:prstGeom prst="rect">
            <a:avLst/>
          </a:prstGeom>
        </p:spPr>
      </p:pic>
      <p:pic>
        <p:nvPicPr>
          <p:cNvPr id="9" name="Picture 8">
            <a:extLst>
              <a:ext uri="{FF2B5EF4-FFF2-40B4-BE49-F238E27FC236}">
                <a16:creationId xmlns:a16="http://schemas.microsoft.com/office/drawing/2014/main" id="{B2569619-62B3-A569-7D71-787EF5CA837F}"/>
              </a:ext>
            </a:extLst>
          </p:cNvPr>
          <p:cNvPicPr>
            <a:picLocks noChangeAspect="1"/>
          </p:cNvPicPr>
          <p:nvPr/>
        </p:nvPicPr>
        <p:blipFill rotWithShape="1">
          <a:blip r:embed="rId3"/>
          <a:srcRect l="5787" r="10772"/>
          <a:stretch/>
        </p:blipFill>
        <p:spPr>
          <a:xfrm>
            <a:off x="4680205" y="5195820"/>
            <a:ext cx="2244659" cy="800169"/>
          </a:xfrm>
          <a:prstGeom prst="rect">
            <a:avLst/>
          </a:prstGeom>
        </p:spPr>
      </p:pic>
      <p:sp>
        <p:nvSpPr>
          <p:cNvPr id="8" name="TextBox 7">
            <a:extLst>
              <a:ext uri="{FF2B5EF4-FFF2-40B4-BE49-F238E27FC236}">
                <a16:creationId xmlns:a16="http://schemas.microsoft.com/office/drawing/2014/main" id="{8E09DBC9-BE09-C519-A508-19C90C63339E}"/>
              </a:ext>
            </a:extLst>
          </p:cNvPr>
          <p:cNvSpPr txBox="1"/>
          <p:nvPr/>
        </p:nvSpPr>
        <p:spPr>
          <a:xfrm>
            <a:off x="5825706" y="5811323"/>
            <a:ext cx="6366294" cy="369332"/>
          </a:xfrm>
          <a:prstGeom prst="rect">
            <a:avLst/>
          </a:prstGeom>
          <a:noFill/>
        </p:spPr>
        <p:txBody>
          <a:bodyPr wrap="square">
            <a:spAutoFit/>
          </a:bodyPr>
          <a:lstStyle/>
          <a:p>
            <a:r>
              <a:rPr lang="en-US" sz="1800" b="1" kern="1200" dirty="0">
                <a:solidFill>
                  <a:srgbClr val="000000"/>
                </a:solidFill>
                <a:effectLst/>
                <a:latin typeface="Times New Roman" panose="02020603050405020304" pitchFamily="18" charset="0"/>
                <a:ea typeface="Times New Roman" panose="02020603050405020304" pitchFamily="18" charset="0"/>
              </a:rPr>
              <a:t>SCHEMATIC OF 6 TRANSISTOR SRAM</a:t>
            </a:r>
            <a:endParaRPr lang="en-IN" dirty="0"/>
          </a:p>
        </p:txBody>
      </p:sp>
    </p:spTree>
    <p:extLst>
      <p:ext uri="{BB962C8B-B14F-4D97-AF65-F5344CB8AC3E}">
        <p14:creationId xmlns:p14="http://schemas.microsoft.com/office/powerpoint/2010/main" val="3114061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B2514C7-3BD9-563A-AB73-340A9D83A5E5}"/>
              </a:ext>
            </a:extLst>
          </p:cNvPr>
          <p:cNvSpPr txBox="1"/>
          <p:nvPr/>
        </p:nvSpPr>
        <p:spPr>
          <a:xfrm>
            <a:off x="310048" y="584434"/>
            <a:ext cx="11568854" cy="1114380"/>
          </a:xfrm>
          <a:prstGeom prst="rect">
            <a:avLst/>
          </a:prstGeom>
        </p:spPr>
        <p:txBody>
          <a:bodyPr vert="horz" lIns="91440" tIns="45720" rIns="91440" bIns="45720" rtlCol="0" anchor="b">
            <a:normAutofit fontScale="92500"/>
          </a:bodyPr>
          <a:lstStyle/>
          <a:p>
            <a:pPr algn="ctr">
              <a:lnSpc>
                <a:spcPct val="90000"/>
              </a:lnSpc>
              <a:spcBef>
                <a:spcPct val="0"/>
              </a:spcBef>
              <a:spcAft>
                <a:spcPts val="600"/>
              </a:spcAft>
            </a:pPr>
            <a:r>
              <a:rPr lang="en-US" sz="4400" b="1" dirty="0">
                <a:latin typeface="Times New Roman" panose="02020603050405020304" pitchFamily="18" charset="0"/>
                <a:ea typeface="+mj-ea"/>
                <a:cs typeface="Times New Roman" panose="02020603050405020304" pitchFamily="18" charset="0"/>
              </a:rPr>
              <a:t>TEST BENCH OF 6 TRANSISTOR SRAM CELL</a:t>
            </a:r>
          </a:p>
        </p:txBody>
      </p:sp>
      <p:sp>
        <p:nvSpPr>
          <p:cNvPr id="2" name="Slide Number Placeholder 1">
            <a:extLst>
              <a:ext uri="{FF2B5EF4-FFF2-40B4-BE49-F238E27FC236}">
                <a16:creationId xmlns:a16="http://schemas.microsoft.com/office/drawing/2014/main" id="{1AABAD79-71BE-0396-9653-156C2F79142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2B48B02D-6448-4399-BE2E-C025BF63EF34}" type="slidenum">
              <a:rPr lang="en-US" smtClean="0"/>
              <a:pPr>
                <a:spcAft>
                  <a:spcPts val="600"/>
                </a:spcAft>
              </a:pPr>
              <a:t>13</a:t>
            </a:fld>
            <a:endParaRPr lang="en-US"/>
          </a:p>
        </p:txBody>
      </p:sp>
      <p:pic>
        <p:nvPicPr>
          <p:cNvPr id="3" name="Picture 2">
            <a:extLst>
              <a:ext uri="{FF2B5EF4-FFF2-40B4-BE49-F238E27FC236}">
                <a16:creationId xmlns:a16="http://schemas.microsoft.com/office/drawing/2014/main" id="{72DCC6F9-9A03-0002-7291-710713E00567}"/>
              </a:ext>
            </a:extLst>
          </p:cNvPr>
          <p:cNvPicPr>
            <a:picLocks noChangeAspect="1"/>
          </p:cNvPicPr>
          <p:nvPr/>
        </p:nvPicPr>
        <p:blipFill rotWithShape="1">
          <a:blip r:embed="rId2"/>
          <a:srcRect l="7251" t="3417" r="7933" b="3253"/>
          <a:stretch/>
        </p:blipFill>
        <p:spPr>
          <a:xfrm>
            <a:off x="181234" y="1908174"/>
            <a:ext cx="4141182" cy="3604105"/>
          </a:xfrm>
          <a:prstGeom prst="rect">
            <a:avLst/>
          </a:prstGeom>
        </p:spPr>
      </p:pic>
      <p:pic>
        <p:nvPicPr>
          <p:cNvPr id="5" name="Picture 4">
            <a:extLst>
              <a:ext uri="{FF2B5EF4-FFF2-40B4-BE49-F238E27FC236}">
                <a16:creationId xmlns:a16="http://schemas.microsoft.com/office/drawing/2014/main" id="{C12877AF-7911-3CF1-E732-63A96CB059BD}"/>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Lst>
          </a:blip>
          <a:srcRect l="27453" t="5995" r="23302" b="3809"/>
          <a:stretch/>
        </p:blipFill>
        <p:spPr>
          <a:xfrm>
            <a:off x="5253270" y="1596065"/>
            <a:ext cx="6003985" cy="4405387"/>
          </a:xfrm>
          <a:prstGeom prst="rect">
            <a:avLst/>
          </a:prstGeom>
        </p:spPr>
      </p:pic>
      <p:sp>
        <p:nvSpPr>
          <p:cNvPr id="8" name="TextBox 7">
            <a:extLst>
              <a:ext uri="{FF2B5EF4-FFF2-40B4-BE49-F238E27FC236}">
                <a16:creationId xmlns:a16="http://schemas.microsoft.com/office/drawing/2014/main" id="{923C3384-973F-A8F7-6D49-F0F42F786F31}"/>
              </a:ext>
            </a:extLst>
          </p:cNvPr>
          <p:cNvSpPr txBox="1"/>
          <p:nvPr/>
        </p:nvSpPr>
        <p:spPr>
          <a:xfrm>
            <a:off x="243696" y="5512279"/>
            <a:ext cx="4078720" cy="369332"/>
          </a:xfrm>
          <a:prstGeom prst="rect">
            <a:avLst/>
          </a:prstGeom>
          <a:noFill/>
        </p:spPr>
        <p:txBody>
          <a:bodyPr wrap="square">
            <a:spAutoFit/>
          </a:bodyPr>
          <a:lstStyle/>
          <a:p>
            <a:r>
              <a:rPr lang="en-US" sz="1800" b="1" dirty="0">
                <a:solidFill>
                  <a:srgbClr val="000000"/>
                </a:solidFill>
                <a:effectLst/>
                <a:latin typeface="Times New Roman" panose="02020603050405020304" pitchFamily="18" charset="0"/>
                <a:ea typeface="Times New Roman" panose="02020603050405020304" pitchFamily="18" charset="0"/>
              </a:rPr>
              <a:t>SYMBOL OF 6 TRANSISTOR SRAM</a:t>
            </a:r>
            <a:endParaRPr lang="en-IN" dirty="0"/>
          </a:p>
        </p:txBody>
      </p:sp>
      <p:sp>
        <p:nvSpPr>
          <p:cNvPr id="11" name="TextBox 10">
            <a:extLst>
              <a:ext uri="{FF2B5EF4-FFF2-40B4-BE49-F238E27FC236}">
                <a16:creationId xmlns:a16="http://schemas.microsoft.com/office/drawing/2014/main" id="{8019EFAA-B3F8-DCD4-C549-37FD331AAB99}"/>
              </a:ext>
            </a:extLst>
          </p:cNvPr>
          <p:cNvSpPr txBox="1"/>
          <p:nvPr/>
        </p:nvSpPr>
        <p:spPr>
          <a:xfrm>
            <a:off x="5563319" y="5994235"/>
            <a:ext cx="6094562" cy="369332"/>
          </a:xfrm>
          <a:prstGeom prst="rect">
            <a:avLst/>
          </a:prstGeom>
          <a:noFill/>
        </p:spPr>
        <p:txBody>
          <a:bodyPr wrap="square">
            <a:spAutoFit/>
          </a:bodyPr>
          <a:lstStyle/>
          <a:p>
            <a:pPr algn="ctr">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TEST BENCH FOR 6 TRANSISTOR SRAM SCHEMATIC</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51685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8DD9A9-6184-841E-95DC-19FB352D1FEA}"/>
              </a:ext>
            </a:extLst>
          </p:cNvPr>
          <p:cNvSpPr>
            <a:spLocks noGrp="1"/>
          </p:cNvSpPr>
          <p:nvPr>
            <p:ph type="sldNum" sz="quarter" idx="12"/>
          </p:nvPr>
        </p:nvSpPr>
        <p:spPr/>
        <p:txBody>
          <a:bodyPr/>
          <a:lstStyle/>
          <a:p>
            <a:fld id="{2B48B02D-6448-4399-BE2E-C025BF63EF34}" type="slidenum">
              <a:rPr lang="en-IN" smtClean="0"/>
              <a:t>14</a:t>
            </a:fld>
            <a:endParaRPr lang="en-IN"/>
          </a:p>
        </p:txBody>
      </p:sp>
      <p:sp>
        <p:nvSpPr>
          <p:cNvPr id="5" name="TextBox 4">
            <a:extLst>
              <a:ext uri="{FF2B5EF4-FFF2-40B4-BE49-F238E27FC236}">
                <a16:creationId xmlns:a16="http://schemas.microsoft.com/office/drawing/2014/main" id="{0F35677B-45A1-F722-3831-793E457556E4}"/>
              </a:ext>
            </a:extLst>
          </p:cNvPr>
          <p:cNvSpPr txBox="1"/>
          <p:nvPr/>
        </p:nvSpPr>
        <p:spPr>
          <a:xfrm>
            <a:off x="166540" y="164808"/>
            <a:ext cx="11858920" cy="6556667"/>
          </a:xfrm>
          <a:prstGeom prst="rect">
            <a:avLst/>
          </a:prstGeom>
          <a:noFill/>
        </p:spPr>
        <p:txBody>
          <a:bodyPr wrap="square">
            <a:spAutoFit/>
          </a:bodyPr>
          <a:lstStyle/>
          <a:p>
            <a:pPr algn="just">
              <a:lnSpc>
                <a:spcPct val="107000"/>
              </a:lnSpc>
              <a:spcAft>
                <a:spcPts val="800"/>
              </a:spcAf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WORD LINE (WL) ACTIVATION:</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When the word line (WL) is set high (WL=1), it activates the access transistors within the SRAM cell.</a:t>
            </a:r>
          </a:p>
          <a:p>
            <a:pPr algn="just">
              <a:lnSpc>
                <a:spcPct val="107000"/>
              </a:lnSpc>
              <a:spcAft>
                <a:spcPts val="800"/>
              </a:spcAf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READ AND WRITE OPERATIONS:</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With the word line high, both read and write operations can occur.</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During a read operation, the stored data is accessed without altering it.</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During a write operation, new data is written into the cell, potentially changing the stored information.</a:t>
            </a:r>
          </a:p>
          <a:p>
            <a:pPr algn="just">
              <a:lnSpc>
                <a:spcPct val="107000"/>
              </a:lnSpc>
              <a:spcAft>
                <a:spcPts val="800"/>
              </a:spcAf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BITLINE (BL) AND COMPLEMENTARY BITLINE (BLB) BEHAVIOR:</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When BL (</a:t>
            </a:r>
            <a:r>
              <a:rPr lang="en-IN" kern="100" dirty="0" err="1">
                <a:effectLst/>
                <a:latin typeface="Times New Roman" panose="02020603050405020304" pitchFamily="18" charset="0"/>
                <a:ea typeface="Aptos" panose="020B0004020202020204" pitchFamily="34" charset="0"/>
                <a:cs typeface="Times New Roman" panose="02020603050405020304" pitchFamily="18" charset="0"/>
              </a:rPr>
              <a:t>Bitline</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is high (BL=1), BLB (Complementary </a:t>
            </a:r>
            <a:r>
              <a:rPr lang="en-IN" kern="100" dirty="0" err="1">
                <a:effectLst/>
                <a:latin typeface="Times New Roman" panose="02020603050405020304" pitchFamily="18" charset="0"/>
                <a:ea typeface="Aptos" panose="020B0004020202020204" pitchFamily="34" charset="0"/>
                <a:cs typeface="Times New Roman" panose="02020603050405020304" pitchFamily="18" charset="0"/>
              </a:rPr>
              <a:t>Bitline</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should be low (BLB=0), indicating a '1' is being read or written.</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Conversely, when BL is low (BL=0), BLB should be high (BLB=1), indicating a '0'.</a:t>
            </a:r>
          </a:p>
          <a:p>
            <a:pPr algn="just">
              <a:lnSpc>
                <a:spcPct val="107000"/>
              </a:lnSpc>
              <a:spcAft>
                <a:spcPts val="800"/>
              </a:spcAf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INNER INVERTERS AS MEMORY UNIT:</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The </a:t>
            </a:r>
            <a:r>
              <a:rPr lang="en-IN" kern="100" dirty="0" err="1">
                <a:effectLst/>
                <a:latin typeface="Times New Roman" panose="02020603050405020304" pitchFamily="18" charset="0"/>
                <a:ea typeface="Aptos" panose="020B0004020202020204" pitchFamily="34" charset="0"/>
                <a:cs typeface="Times New Roman" panose="02020603050405020304" pitchFamily="18" charset="0"/>
              </a:rPr>
              <a:t>behavior</a:t>
            </a:r>
            <a:r>
              <a:rPr lang="en-IN" kern="100" dirty="0">
                <a:effectLst/>
                <a:latin typeface="Times New Roman" panose="02020603050405020304" pitchFamily="18" charset="0"/>
                <a:ea typeface="Aptos" panose="020B0004020202020204" pitchFamily="34" charset="0"/>
                <a:cs typeface="Times New Roman" panose="02020603050405020304" pitchFamily="18" charset="0"/>
              </a:rPr>
              <a:t> of the inner inverters, acting as the memory unit, depends on the voltages applied to BL and BLB.</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When the appropriate voltage configuration is applied, the cross-coupled inverters store the desired bit of information ('0' or '1').</a:t>
            </a:r>
          </a:p>
          <a:p>
            <a:pPr algn="just">
              <a:lnSpc>
                <a:spcPct val="107000"/>
              </a:lnSpc>
              <a:spcAft>
                <a:spcPts val="800"/>
              </a:spcAft>
            </a:pPr>
            <a:r>
              <a:rPr lang="en-IN" b="1" kern="100" dirty="0">
                <a:effectLst/>
                <a:latin typeface="Times New Roman" panose="02020603050405020304" pitchFamily="18" charset="0"/>
                <a:ea typeface="Aptos" panose="020B0004020202020204" pitchFamily="34" charset="0"/>
                <a:cs typeface="Times New Roman" panose="02020603050405020304" pitchFamily="18" charset="0"/>
              </a:rPr>
              <a:t>OUTPUT BEHAVIOR:</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During a read operation, if the stored data (Q) is low ('0'), then its complement (QBAR) should be high ('1').</a:t>
            </a:r>
          </a:p>
          <a:p>
            <a:pPr marL="742950" lvl="1" indent="-285750" algn="just">
              <a:lnSpc>
                <a:spcPct val="107000"/>
              </a:lnSpc>
              <a:spcAft>
                <a:spcPts val="800"/>
              </a:spcAft>
              <a:buFont typeface="Arial" panose="020B0604020202020204" pitchFamily="34" charset="0"/>
              <a:buChar char="•"/>
            </a:pPr>
            <a:r>
              <a:rPr lang="en-IN" kern="100" dirty="0">
                <a:effectLst/>
                <a:latin typeface="Times New Roman" panose="02020603050405020304" pitchFamily="18" charset="0"/>
                <a:ea typeface="Aptos" panose="020B0004020202020204" pitchFamily="34" charset="0"/>
                <a:cs typeface="Times New Roman" panose="02020603050405020304" pitchFamily="18" charset="0"/>
              </a:rPr>
              <a:t>Conversely, if the stored data (Q) is high ('1'), then its complement (QBAR) should be low ('0').</a:t>
            </a:r>
          </a:p>
        </p:txBody>
      </p:sp>
    </p:spTree>
    <p:extLst>
      <p:ext uri="{BB962C8B-B14F-4D97-AF65-F5344CB8AC3E}">
        <p14:creationId xmlns:p14="http://schemas.microsoft.com/office/powerpoint/2010/main" val="392655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939206-D67C-3BE1-9346-2AFB3B12CFEE}"/>
              </a:ext>
            </a:extLst>
          </p:cNvPr>
          <p:cNvSpPr>
            <a:spLocks noGrp="1"/>
          </p:cNvSpPr>
          <p:nvPr>
            <p:ph type="sldNum" sz="quarter" idx="12"/>
          </p:nvPr>
        </p:nvSpPr>
        <p:spPr/>
        <p:txBody>
          <a:bodyPr/>
          <a:lstStyle/>
          <a:p>
            <a:fld id="{2B48B02D-6448-4399-BE2E-C025BF63EF34}" type="slidenum">
              <a:rPr lang="en-IN" smtClean="0"/>
              <a:t>15</a:t>
            </a:fld>
            <a:endParaRPr lang="en-IN"/>
          </a:p>
        </p:txBody>
      </p:sp>
      <p:sp>
        <p:nvSpPr>
          <p:cNvPr id="4" name="TextBox 3">
            <a:extLst>
              <a:ext uri="{FF2B5EF4-FFF2-40B4-BE49-F238E27FC236}">
                <a16:creationId xmlns:a16="http://schemas.microsoft.com/office/drawing/2014/main" id="{1E4E3A67-A7C6-1A06-499C-34E3B0B3D5AA}"/>
              </a:ext>
            </a:extLst>
          </p:cNvPr>
          <p:cNvSpPr txBox="1"/>
          <p:nvPr/>
        </p:nvSpPr>
        <p:spPr>
          <a:xfrm>
            <a:off x="370840" y="280243"/>
            <a:ext cx="11450320" cy="7109639"/>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In the context of a 6-transistor SRAM (6T SRAM) cell, BL (</a:t>
            </a:r>
            <a:r>
              <a:rPr lang="en-IN" sz="2400" dirty="0" err="1">
                <a:latin typeface="Times New Roman" panose="02020603050405020304" pitchFamily="18" charset="0"/>
                <a:cs typeface="Times New Roman" panose="02020603050405020304" pitchFamily="18" charset="0"/>
              </a:rPr>
              <a:t>Bitline</a:t>
            </a:r>
            <a:r>
              <a:rPr lang="en-IN" sz="2400" dirty="0">
                <a:latin typeface="Times New Roman" panose="02020603050405020304" pitchFamily="18" charset="0"/>
                <a:cs typeface="Times New Roman" panose="02020603050405020304" pitchFamily="18" charset="0"/>
              </a:rPr>
              <a:t>) and BLB (Complementary </a:t>
            </a:r>
            <a:r>
              <a:rPr lang="en-IN" sz="2400" dirty="0" err="1">
                <a:latin typeface="Times New Roman" panose="02020603050405020304" pitchFamily="18" charset="0"/>
                <a:cs typeface="Times New Roman" panose="02020603050405020304" pitchFamily="18" charset="0"/>
              </a:rPr>
              <a:t>Bitline</a:t>
            </a:r>
            <a:r>
              <a:rPr lang="en-IN" sz="2400" dirty="0">
                <a:latin typeface="Times New Roman" panose="02020603050405020304" pitchFamily="18" charset="0"/>
                <a:cs typeface="Times New Roman" panose="02020603050405020304" pitchFamily="18" charset="0"/>
              </a:rPr>
              <a:t>), often referred to as BL BAR, are two crucial signals associated with the memory cell's read and write operations.</a:t>
            </a: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1. BITLINE (BL)</a:t>
            </a:r>
            <a:endParaRPr lang="en-IN"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BL, or </a:t>
            </a:r>
            <a:r>
              <a:rPr lang="en-IN" sz="2400" dirty="0" err="1">
                <a:latin typeface="Times New Roman" panose="02020603050405020304" pitchFamily="18" charset="0"/>
                <a:cs typeface="Times New Roman" panose="02020603050405020304" pitchFamily="18" charset="0"/>
              </a:rPr>
              <a:t>Bitline</a:t>
            </a:r>
            <a:r>
              <a:rPr lang="en-IN" sz="2400" dirty="0">
                <a:latin typeface="Times New Roman" panose="02020603050405020304" pitchFamily="18" charset="0"/>
                <a:cs typeface="Times New Roman" panose="02020603050405020304" pitchFamily="18" charset="0"/>
              </a:rPr>
              <a:t>, is one of the two conductive pathways used for reading from or writing to the SRAM cell.</a:t>
            </a:r>
          </a:p>
          <a:p>
            <a:pPr marL="28575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During a read operation, BL carries the sensed voltage, and during a write operation, the voltage on BL is manipulated to write data into the cell.</a:t>
            </a:r>
          </a:p>
          <a:p>
            <a:pPr algn="just"/>
            <a:endParaRPr lang="en-IN" sz="2400" b="1"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2.COMPLEMENTARY BITLINE (BLB OR BL BAR)</a:t>
            </a:r>
          </a:p>
          <a:p>
            <a:pPr marL="28575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BLB, or Complementary </a:t>
            </a:r>
            <a:r>
              <a:rPr lang="en-IN" sz="2400" dirty="0" err="1">
                <a:latin typeface="Times New Roman" panose="02020603050405020304" pitchFamily="18" charset="0"/>
                <a:cs typeface="Times New Roman" panose="02020603050405020304" pitchFamily="18" charset="0"/>
              </a:rPr>
              <a:t>Bitline</a:t>
            </a:r>
            <a:r>
              <a:rPr lang="en-IN" sz="2400" dirty="0">
                <a:latin typeface="Times New Roman" panose="02020603050405020304" pitchFamily="18" charset="0"/>
                <a:cs typeface="Times New Roman" panose="02020603050405020304" pitchFamily="18" charset="0"/>
              </a:rPr>
              <a:t> (sometimes denoted as BL BAR), is the complementary signal to BL.</a:t>
            </a:r>
          </a:p>
          <a:p>
            <a:pPr marL="28575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During a read operation, BLB carries the complement of the sensed voltage on BL. This complementary information is essential for the accurate determination of the stored bit.</a:t>
            </a:r>
          </a:p>
          <a:p>
            <a:pPr marL="28575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During a write operation, the voltage on BLB is manipulated to complement the data being written onto BL, ensuring the correct state is stored in the SRAM cell.</a:t>
            </a: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1460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F9D57A9-3CCD-7AC6-97DD-B2DFB9EBC2D4}"/>
              </a:ext>
            </a:extLst>
          </p:cNvPr>
          <p:cNvSpPr>
            <a:spLocks noGrp="1"/>
          </p:cNvSpPr>
          <p:nvPr>
            <p:ph type="sldNum" sz="quarter" idx="12"/>
          </p:nvPr>
        </p:nvSpPr>
        <p:spPr/>
        <p:txBody>
          <a:bodyPr/>
          <a:lstStyle/>
          <a:p>
            <a:fld id="{2B48B02D-6448-4399-BE2E-C025BF63EF34}" type="slidenum">
              <a:rPr lang="en-IN" smtClean="0"/>
              <a:t>16</a:t>
            </a:fld>
            <a:endParaRPr lang="en-IN"/>
          </a:p>
        </p:txBody>
      </p:sp>
      <p:sp>
        <p:nvSpPr>
          <p:cNvPr id="5" name="TextBox 4">
            <a:extLst>
              <a:ext uri="{FF2B5EF4-FFF2-40B4-BE49-F238E27FC236}">
                <a16:creationId xmlns:a16="http://schemas.microsoft.com/office/drawing/2014/main" id="{25A8658E-E563-3C72-6684-06F5535910D8}"/>
              </a:ext>
            </a:extLst>
          </p:cNvPr>
          <p:cNvSpPr txBox="1"/>
          <p:nvPr/>
        </p:nvSpPr>
        <p:spPr>
          <a:xfrm>
            <a:off x="437071" y="42634"/>
            <a:ext cx="11317857" cy="7054303"/>
          </a:xfrm>
          <a:prstGeom prst="rect">
            <a:avLst/>
          </a:prstGeom>
          <a:noFill/>
        </p:spPr>
        <p:txBody>
          <a:bodyPr wrap="square">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READ OPERATION</a:t>
            </a:r>
          </a:p>
          <a:p>
            <a:pPr algn="just">
              <a:lnSpc>
                <a:spcPct val="150000"/>
              </a:lnSpc>
            </a:pPr>
            <a:r>
              <a:rPr lang="en-IN" sz="2000" dirty="0">
                <a:latin typeface="Times New Roman" panose="02020603050405020304" pitchFamily="18" charset="0"/>
                <a:cs typeface="Times New Roman" panose="02020603050405020304" pitchFamily="18" charset="0"/>
              </a:rPr>
              <a:t>During a read operation in a 6-transistor SRAM (6T SRAM) cell, the corresponding </a:t>
            </a:r>
            <a:r>
              <a:rPr lang="en-IN" sz="2000" dirty="0" err="1">
                <a:latin typeface="Times New Roman" panose="02020603050405020304" pitchFamily="18" charset="0"/>
                <a:cs typeface="Times New Roman" panose="02020603050405020304" pitchFamily="18" charset="0"/>
              </a:rPr>
              <a:t>wordline</a:t>
            </a:r>
            <a:r>
              <a:rPr lang="en-IN" sz="2000" dirty="0">
                <a:latin typeface="Times New Roman" panose="02020603050405020304" pitchFamily="18" charset="0"/>
                <a:cs typeface="Times New Roman" panose="02020603050405020304" pitchFamily="18" charset="0"/>
              </a:rPr>
              <a:t> is activated. The stored data is sensed through the </a:t>
            </a:r>
            <a:r>
              <a:rPr lang="en-IN" sz="2000" dirty="0" err="1">
                <a:latin typeface="Times New Roman" panose="02020603050405020304" pitchFamily="18" charset="0"/>
                <a:cs typeface="Times New Roman" panose="02020603050405020304" pitchFamily="18" charset="0"/>
              </a:rPr>
              <a:t>bitlines</a:t>
            </a:r>
            <a:r>
              <a:rPr lang="en-IN" sz="2000" dirty="0">
                <a:latin typeface="Times New Roman" panose="02020603050405020304" pitchFamily="18" charset="0"/>
                <a:cs typeface="Times New Roman" panose="02020603050405020304" pitchFamily="18" charset="0"/>
              </a:rPr>
              <a:t>, and a sense amplifier amplifies the voltage difference to determine the stored bit value ('0' or '1'). The read operation is a key factor in the overall efficiency and responsiveness of the 6T SRAM cell.</a:t>
            </a:r>
          </a:p>
          <a:p>
            <a:pPr algn="just">
              <a:lnSpc>
                <a:spcPct val="150000"/>
              </a:lnSpc>
            </a:pPr>
            <a:r>
              <a:rPr lang="en-US" sz="2000" b="1" dirty="0">
                <a:latin typeface="Times New Roman" panose="02020603050405020304" pitchFamily="18" charset="0"/>
                <a:cs typeface="Times New Roman" panose="02020603050405020304" pitchFamily="18" charset="0"/>
              </a:rPr>
              <a:t>WRITE OPERATION</a:t>
            </a:r>
            <a:endParaRPr lang="en-IN" sz="2000" b="1"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a write operation of a 6-transistor SRAM (6T SRAM) cell, the </a:t>
            </a:r>
            <a:r>
              <a:rPr lang="en-US" sz="2000" dirty="0" err="1">
                <a:latin typeface="Times New Roman" panose="02020603050405020304" pitchFamily="18" charset="0"/>
                <a:cs typeface="Times New Roman" panose="02020603050405020304" pitchFamily="18" charset="0"/>
              </a:rPr>
              <a:t>wordline</a:t>
            </a:r>
            <a:r>
              <a:rPr lang="en-US" sz="2000" dirty="0">
                <a:latin typeface="Times New Roman" panose="02020603050405020304" pitchFamily="18" charset="0"/>
                <a:cs typeface="Times New Roman" panose="02020603050405020304" pitchFamily="18" charset="0"/>
              </a:rPr>
              <a:t> is activated, allowing input data to be written into the cell. The voltages on the </a:t>
            </a:r>
            <a:r>
              <a:rPr lang="en-US" sz="2000" dirty="0" err="1">
                <a:latin typeface="Times New Roman" panose="02020603050405020304" pitchFamily="18" charset="0"/>
                <a:cs typeface="Times New Roman" panose="02020603050405020304" pitchFamily="18" charset="0"/>
              </a:rPr>
              <a:t>bitlines</a:t>
            </a:r>
            <a:r>
              <a:rPr lang="en-US" sz="2000" dirty="0">
                <a:latin typeface="Times New Roman" panose="02020603050405020304" pitchFamily="18" charset="0"/>
                <a:cs typeface="Times New Roman" panose="02020603050405020304" pitchFamily="18" charset="0"/>
              </a:rPr>
              <a:t> are manipulated to set the cross-coupled inverters to the desired state corresponding to the data ('0' or '1'). This process ensures reliable data storage until the next read or write operation. </a:t>
            </a:r>
          </a:p>
          <a:p>
            <a:pPr algn="just">
              <a:lnSpc>
                <a:spcPct val="150000"/>
              </a:lnSpc>
            </a:pPr>
            <a:r>
              <a:rPr lang="en-IN" sz="2000" b="1" dirty="0">
                <a:latin typeface="Times New Roman" panose="02020603050405020304" pitchFamily="18" charset="0"/>
                <a:cs typeface="Times New Roman" panose="02020603050405020304" pitchFamily="18" charset="0"/>
              </a:rPr>
              <a:t>HOLD OPERATION</a:t>
            </a:r>
          </a:p>
          <a:p>
            <a:pPr algn="just">
              <a:lnSpc>
                <a:spcPct val="150000"/>
              </a:lnSpc>
            </a:pPr>
            <a:r>
              <a:rPr lang="en-IN" sz="2000" dirty="0">
                <a:latin typeface="Times New Roman" panose="02020603050405020304" pitchFamily="18" charset="0"/>
                <a:cs typeface="Times New Roman" panose="02020603050405020304" pitchFamily="18" charset="0"/>
              </a:rPr>
              <a:t>During the hold operation in a 6-transistor SRAM (6T SRAM) cell, the stored data is maintained without active read or write processes. The cross-coupled inverters sustain a stable state, ensuring data integrity during periods of inactivity.</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8280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Slide Number Placeholder 2">
            <a:extLst>
              <a:ext uri="{FF2B5EF4-FFF2-40B4-BE49-F238E27FC236}">
                <a16:creationId xmlns:a16="http://schemas.microsoft.com/office/drawing/2014/main" id="{60B62889-AA96-E978-2040-DA3327AD523D}"/>
              </a:ext>
            </a:extLst>
          </p:cNvPr>
          <p:cNvSpPr>
            <a:spLocks noGrp="1"/>
          </p:cNvSpPr>
          <p:nvPr>
            <p:ph type="sldNum" sz="quarter" idx="12"/>
          </p:nvPr>
        </p:nvSpPr>
        <p:spPr>
          <a:xfrm>
            <a:off x="8610600" y="6356350"/>
            <a:ext cx="2743200" cy="365125"/>
          </a:xfrm>
        </p:spPr>
        <p:txBody>
          <a:bodyPr>
            <a:normAutofit/>
          </a:bodyPr>
          <a:lstStyle/>
          <a:p>
            <a:pPr>
              <a:spcAft>
                <a:spcPts val="600"/>
              </a:spcAft>
            </a:pPr>
            <a:fld id="{2B48B02D-6448-4399-BE2E-C025BF63EF34}" type="slidenum">
              <a:rPr lang="en-IN" smtClean="0">
                <a:solidFill>
                  <a:srgbClr val="FFFFFF"/>
                </a:solidFill>
              </a:rPr>
              <a:pPr>
                <a:spcAft>
                  <a:spcPts val="600"/>
                </a:spcAft>
              </a:pPr>
              <a:t>17</a:t>
            </a:fld>
            <a:endParaRPr lang="en-IN" dirty="0">
              <a:solidFill>
                <a:srgbClr val="FFFFFF"/>
              </a:solidFill>
            </a:endParaRPr>
          </a:p>
        </p:txBody>
      </p:sp>
      <p:sp>
        <p:nvSpPr>
          <p:cNvPr id="7" name="TextBox 6">
            <a:extLst>
              <a:ext uri="{FF2B5EF4-FFF2-40B4-BE49-F238E27FC236}">
                <a16:creationId xmlns:a16="http://schemas.microsoft.com/office/drawing/2014/main" id="{01B2FE8B-535D-42C8-FD95-BA43279A236F}"/>
              </a:ext>
            </a:extLst>
          </p:cNvPr>
          <p:cNvSpPr txBox="1"/>
          <p:nvPr/>
        </p:nvSpPr>
        <p:spPr>
          <a:xfrm>
            <a:off x="4620039" y="487826"/>
            <a:ext cx="7981122" cy="584775"/>
          </a:xfrm>
          <a:prstGeom prst="rect">
            <a:avLst/>
          </a:prstGeom>
          <a:noFill/>
        </p:spPr>
        <p:txBody>
          <a:bodyPr wrap="square" rtlCol="0">
            <a:spAutoFit/>
          </a:bodyPr>
          <a:lstStyle/>
          <a:p>
            <a:r>
              <a:rPr lang="en-IN" sz="3200" b="1" dirty="0"/>
              <a:t>RESULTS</a:t>
            </a:r>
          </a:p>
        </p:txBody>
      </p:sp>
      <p:sp>
        <p:nvSpPr>
          <p:cNvPr id="11" name="TextBox 10">
            <a:extLst>
              <a:ext uri="{FF2B5EF4-FFF2-40B4-BE49-F238E27FC236}">
                <a16:creationId xmlns:a16="http://schemas.microsoft.com/office/drawing/2014/main" id="{840C469A-9FE0-C246-514C-A86798BB07C5}"/>
              </a:ext>
            </a:extLst>
          </p:cNvPr>
          <p:cNvSpPr txBox="1"/>
          <p:nvPr/>
        </p:nvSpPr>
        <p:spPr>
          <a:xfrm>
            <a:off x="255104" y="6165130"/>
            <a:ext cx="4675115" cy="369332"/>
          </a:xfrm>
          <a:prstGeom prst="rect">
            <a:avLst/>
          </a:prstGeom>
          <a:noFill/>
        </p:spPr>
        <p:txBody>
          <a:bodyPr wrap="square" rtlCol="0">
            <a:spAutoFit/>
          </a:bodyPr>
          <a:lstStyle/>
          <a:p>
            <a:r>
              <a:rPr lang="en-IN" b="1" dirty="0"/>
              <a:t>READ OPERATION</a:t>
            </a:r>
          </a:p>
        </p:txBody>
      </p:sp>
      <p:sp>
        <p:nvSpPr>
          <p:cNvPr id="12" name="TextBox 11">
            <a:extLst>
              <a:ext uri="{FF2B5EF4-FFF2-40B4-BE49-F238E27FC236}">
                <a16:creationId xmlns:a16="http://schemas.microsoft.com/office/drawing/2014/main" id="{AAD3E86B-2DAB-E507-55D6-B24254FE8604}"/>
              </a:ext>
            </a:extLst>
          </p:cNvPr>
          <p:cNvSpPr txBox="1"/>
          <p:nvPr/>
        </p:nvSpPr>
        <p:spPr>
          <a:xfrm>
            <a:off x="9275975" y="5671876"/>
            <a:ext cx="2318994" cy="369332"/>
          </a:xfrm>
          <a:prstGeom prst="rect">
            <a:avLst/>
          </a:prstGeom>
          <a:noFill/>
        </p:spPr>
        <p:txBody>
          <a:bodyPr wrap="square" rtlCol="0">
            <a:spAutoFit/>
          </a:bodyPr>
          <a:lstStyle/>
          <a:p>
            <a:r>
              <a:rPr lang="en-IN" b="1" dirty="0"/>
              <a:t>POWER</a:t>
            </a:r>
          </a:p>
        </p:txBody>
      </p:sp>
      <p:pic>
        <p:nvPicPr>
          <p:cNvPr id="2" name="Picture 1">
            <a:extLst>
              <a:ext uri="{FF2B5EF4-FFF2-40B4-BE49-F238E27FC236}">
                <a16:creationId xmlns:a16="http://schemas.microsoft.com/office/drawing/2014/main" id="{14B96F63-26CD-6821-0465-7412A4870207}"/>
              </a:ext>
            </a:extLst>
          </p:cNvPr>
          <p:cNvPicPr>
            <a:picLocks noChangeAspect="1"/>
          </p:cNvPicPr>
          <p:nvPr/>
        </p:nvPicPr>
        <p:blipFill>
          <a:blip r:embed="rId2"/>
          <a:stretch>
            <a:fillRect/>
          </a:stretch>
        </p:blipFill>
        <p:spPr>
          <a:xfrm>
            <a:off x="255104" y="1055666"/>
            <a:ext cx="11752866" cy="4935180"/>
          </a:xfrm>
          <a:prstGeom prst="rect">
            <a:avLst/>
          </a:prstGeom>
        </p:spPr>
      </p:pic>
      <p:sp>
        <p:nvSpPr>
          <p:cNvPr id="8" name="TextBox 7">
            <a:extLst>
              <a:ext uri="{FF2B5EF4-FFF2-40B4-BE49-F238E27FC236}">
                <a16:creationId xmlns:a16="http://schemas.microsoft.com/office/drawing/2014/main" id="{C5951712-D3FD-F721-3D06-D016B34F926C}"/>
              </a:ext>
            </a:extLst>
          </p:cNvPr>
          <p:cNvSpPr txBox="1"/>
          <p:nvPr/>
        </p:nvSpPr>
        <p:spPr>
          <a:xfrm>
            <a:off x="3159424" y="5906777"/>
            <a:ext cx="6301596" cy="463397"/>
          </a:xfrm>
          <a:prstGeom prst="rect">
            <a:avLst/>
          </a:prstGeom>
          <a:noFill/>
        </p:spPr>
        <p:txBody>
          <a:bodyPr wrap="square">
            <a:spAutoFit/>
          </a:bodyPr>
          <a:lstStyle/>
          <a:p>
            <a:pPr algn="ctr">
              <a:lnSpc>
                <a:spcPct val="150000"/>
              </a:lnSpc>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SIMULATION RESULTS OF 6T SRAM</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6606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79FCAC-7AB7-D45E-279D-A112B773693C}"/>
              </a:ext>
            </a:extLst>
          </p:cNvPr>
          <p:cNvSpPr>
            <a:spLocks noGrp="1"/>
          </p:cNvSpPr>
          <p:nvPr>
            <p:ph type="sldNum" sz="quarter" idx="12"/>
          </p:nvPr>
        </p:nvSpPr>
        <p:spPr/>
        <p:txBody>
          <a:bodyPr/>
          <a:lstStyle/>
          <a:p>
            <a:fld id="{2B48B02D-6448-4399-BE2E-C025BF63EF34}" type="slidenum">
              <a:rPr lang="en-IN" smtClean="0"/>
              <a:t>18</a:t>
            </a:fld>
            <a:endParaRPr lang="en-IN"/>
          </a:p>
        </p:txBody>
      </p:sp>
      <p:pic>
        <p:nvPicPr>
          <p:cNvPr id="3" name="Picture 2">
            <a:extLst>
              <a:ext uri="{FF2B5EF4-FFF2-40B4-BE49-F238E27FC236}">
                <a16:creationId xmlns:a16="http://schemas.microsoft.com/office/drawing/2014/main" id="{E49DF2E6-6E11-F1CA-A6C9-098D8AB5EE57}"/>
              </a:ext>
            </a:extLst>
          </p:cNvPr>
          <p:cNvPicPr>
            <a:picLocks noChangeAspect="1"/>
          </p:cNvPicPr>
          <p:nvPr/>
        </p:nvPicPr>
        <p:blipFill>
          <a:blip r:embed="rId2"/>
          <a:stretch>
            <a:fillRect/>
          </a:stretch>
        </p:blipFill>
        <p:spPr>
          <a:xfrm>
            <a:off x="1043795" y="1052423"/>
            <a:ext cx="10437962" cy="3821502"/>
          </a:xfrm>
          <a:prstGeom prst="rect">
            <a:avLst/>
          </a:prstGeom>
        </p:spPr>
      </p:pic>
      <p:sp>
        <p:nvSpPr>
          <p:cNvPr id="4" name="TextBox 3">
            <a:extLst>
              <a:ext uri="{FF2B5EF4-FFF2-40B4-BE49-F238E27FC236}">
                <a16:creationId xmlns:a16="http://schemas.microsoft.com/office/drawing/2014/main" id="{52363013-3843-6A53-AB30-A41EDB20B7E6}"/>
              </a:ext>
            </a:extLst>
          </p:cNvPr>
          <p:cNvSpPr txBox="1"/>
          <p:nvPr/>
        </p:nvSpPr>
        <p:spPr>
          <a:xfrm>
            <a:off x="1561380" y="4873925"/>
            <a:ext cx="9402793"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POWER CONSUMPTION RESULTS FOR DIFFERENT TRANSISTOR RATIOS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7819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636967-D754-8434-AED7-7094CA6C9873}"/>
              </a:ext>
            </a:extLst>
          </p:cNvPr>
          <p:cNvSpPr>
            <a:spLocks noGrp="1"/>
          </p:cNvSpPr>
          <p:nvPr>
            <p:ph type="sldNum" sz="quarter" idx="12"/>
          </p:nvPr>
        </p:nvSpPr>
        <p:spPr/>
        <p:txBody>
          <a:bodyPr/>
          <a:lstStyle/>
          <a:p>
            <a:fld id="{2B48B02D-6448-4399-BE2E-C025BF63EF34}" type="slidenum">
              <a:rPr lang="en-IN" smtClean="0"/>
              <a:t>19</a:t>
            </a:fld>
            <a:endParaRPr lang="en-IN"/>
          </a:p>
        </p:txBody>
      </p:sp>
      <p:pic>
        <p:nvPicPr>
          <p:cNvPr id="4" name="Picture 3">
            <a:extLst>
              <a:ext uri="{FF2B5EF4-FFF2-40B4-BE49-F238E27FC236}">
                <a16:creationId xmlns:a16="http://schemas.microsoft.com/office/drawing/2014/main" id="{2FA36F7F-0672-6BFF-73ED-B9F65D9B2147}"/>
              </a:ext>
            </a:extLst>
          </p:cNvPr>
          <p:cNvPicPr>
            <a:picLocks noChangeAspect="1"/>
          </p:cNvPicPr>
          <p:nvPr/>
        </p:nvPicPr>
        <p:blipFill>
          <a:blip r:embed="rId2"/>
          <a:stretch>
            <a:fillRect/>
          </a:stretch>
        </p:blipFill>
        <p:spPr>
          <a:xfrm>
            <a:off x="2441275" y="1138157"/>
            <a:ext cx="7323827" cy="2720255"/>
          </a:xfrm>
          <a:prstGeom prst="rect">
            <a:avLst/>
          </a:prstGeom>
        </p:spPr>
      </p:pic>
      <p:sp>
        <p:nvSpPr>
          <p:cNvPr id="7" name="TextBox 6">
            <a:extLst>
              <a:ext uri="{FF2B5EF4-FFF2-40B4-BE49-F238E27FC236}">
                <a16:creationId xmlns:a16="http://schemas.microsoft.com/office/drawing/2014/main" id="{28B94B66-E6AA-65F2-2D89-F6F85FF39BCD}"/>
              </a:ext>
            </a:extLst>
          </p:cNvPr>
          <p:cNvSpPr txBox="1"/>
          <p:nvPr/>
        </p:nvSpPr>
        <p:spPr>
          <a:xfrm>
            <a:off x="2314395" y="3922615"/>
            <a:ext cx="7563209" cy="878895"/>
          </a:xfrm>
          <a:prstGeom prst="rect">
            <a:avLst/>
          </a:prstGeom>
          <a:noFill/>
        </p:spPr>
        <p:txBody>
          <a:bodyPr wrap="square">
            <a:spAutoFit/>
          </a:bodyPr>
          <a:lstStyle/>
          <a:p>
            <a:pPr algn="ctr">
              <a:lnSpc>
                <a:spcPct val="150000"/>
              </a:lnSpc>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FINGER WIDTH AND TOTAL WIDTH OF ACCESS TRANSISTORS AS 240N AND FOR INNER CROSS-COUPLED INVERTERS, AS 120N.</a:t>
            </a:r>
            <a:endParaRPr lang="en-IN" sz="12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71312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C10C30-683B-4208-6023-E4D7058DB631}"/>
              </a:ext>
            </a:extLst>
          </p:cNvPr>
          <p:cNvSpPr>
            <a:spLocks noGrp="1"/>
          </p:cNvSpPr>
          <p:nvPr>
            <p:ph type="sldNum" sz="quarter" idx="12"/>
          </p:nvPr>
        </p:nvSpPr>
        <p:spPr/>
        <p:txBody>
          <a:bodyPr/>
          <a:lstStyle/>
          <a:p>
            <a:fld id="{2B48B02D-6448-4399-BE2E-C025BF63EF34}" type="slidenum">
              <a:rPr lang="en-IN" smtClean="0"/>
              <a:t>20</a:t>
            </a:fld>
            <a:endParaRPr lang="en-IN"/>
          </a:p>
        </p:txBody>
      </p:sp>
      <p:pic>
        <p:nvPicPr>
          <p:cNvPr id="5" name="Picture 4">
            <a:extLst>
              <a:ext uri="{FF2B5EF4-FFF2-40B4-BE49-F238E27FC236}">
                <a16:creationId xmlns:a16="http://schemas.microsoft.com/office/drawing/2014/main" id="{0B11E8BF-206C-8177-2365-2CBBC0C4232C}"/>
              </a:ext>
            </a:extLst>
          </p:cNvPr>
          <p:cNvPicPr>
            <a:picLocks noChangeAspect="1"/>
          </p:cNvPicPr>
          <p:nvPr/>
        </p:nvPicPr>
        <p:blipFill>
          <a:blip r:embed="rId2"/>
          <a:stretch>
            <a:fillRect/>
          </a:stretch>
        </p:blipFill>
        <p:spPr>
          <a:xfrm>
            <a:off x="1768415" y="1205560"/>
            <a:ext cx="8652294" cy="3073944"/>
          </a:xfrm>
          <a:prstGeom prst="rect">
            <a:avLst/>
          </a:prstGeom>
        </p:spPr>
      </p:pic>
      <p:sp>
        <p:nvSpPr>
          <p:cNvPr id="4" name="TextBox 3">
            <a:extLst>
              <a:ext uri="{FF2B5EF4-FFF2-40B4-BE49-F238E27FC236}">
                <a16:creationId xmlns:a16="http://schemas.microsoft.com/office/drawing/2014/main" id="{F696CF6C-1B77-C7F5-70CD-EB8CEF075B05}"/>
              </a:ext>
            </a:extLst>
          </p:cNvPr>
          <p:cNvSpPr txBox="1"/>
          <p:nvPr/>
        </p:nvSpPr>
        <p:spPr>
          <a:xfrm>
            <a:off x="3288821" y="4486538"/>
            <a:ext cx="6094562" cy="369332"/>
          </a:xfrm>
          <a:prstGeom prst="rect">
            <a:avLst/>
          </a:prstGeom>
          <a:noFill/>
        </p:spPr>
        <p:txBody>
          <a:bodyPr wrap="square">
            <a:spAutoFit/>
          </a:bodyPr>
          <a:lstStyle/>
          <a:p>
            <a:pPr algn="ctr"/>
            <a:r>
              <a:rPr lang="en-US" sz="1800" b="1" dirty="0">
                <a:solidFill>
                  <a:srgbClr val="000000"/>
                </a:solidFill>
                <a:effectLst/>
                <a:latin typeface="Times New Roman" panose="02020603050405020304" pitchFamily="18" charset="0"/>
                <a:ea typeface="Times New Roman" panose="02020603050405020304" pitchFamily="18" charset="0"/>
              </a:rPr>
              <a:t>PROPAGATION DELAY</a:t>
            </a:r>
            <a:endParaRPr lang="en-IN" dirty="0"/>
          </a:p>
        </p:txBody>
      </p:sp>
    </p:spTree>
    <p:extLst>
      <p:ext uri="{BB962C8B-B14F-4D97-AF65-F5344CB8AC3E}">
        <p14:creationId xmlns:p14="http://schemas.microsoft.com/office/powerpoint/2010/main" val="3025747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BC029E-C31D-8AA3-19EF-E957204E63E3}"/>
              </a:ext>
            </a:extLst>
          </p:cNvPr>
          <p:cNvSpPr>
            <a:spLocks noGrp="1"/>
          </p:cNvSpPr>
          <p:nvPr>
            <p:ph type="sldNum" sz="quarter" idx="12"/>
          </p:nvPr>
        </p:nvSpPr>
        <p:spPr/>
        <p:txBody>
          <a:bodyPr/>
          <a:lstStyle/>
          <a:p>
            <a:fld id="{2B48B02D-6448-4399-BE2E-C025BF63EF34}" type="slidenum">
              <a:rPr lang="en-IN" smtClean="0"/>
              <a:t>21</a:t>
            </a:fld>
            <a:endParaRPr lang="en-IN"/>
          </a:p>
        </p:txBody>
      </p:sp>
      <p:pic>
        <p:nvPicPr>
          <p:cNvPr id="4" name="Picture 3">
            <a:extLst>
              <a:ext uri="{FF2B5EF4-FFF2-40B4-BE49-F238E27FC236}">
                <a16:creationId xmlns:a16="http://schemas.microsoft.com/office/drawing/2014/main" id="{0481FBAF-1141-4850-979C-E10373FA17C5}"/>
              </a:ext>
            </a:extLst>
          </p:cNvPr>
          <p:cNvPicPr>
            <a:picLocks noChangeAspect="1"/>
          </p:cNvPicPr>
          <p:nvPr/>
        </p:nvPicPr>
        <p:blipFill>
          <a:blip r:embed="rId2"/>
          <a:stretch>
            <a:fillRect/>
          </a:stretch>
        </p:blipFill>
        <p:spPr>
          <a:xfrm>
            <a:off x="850197" y="846950"/>
            <a:ext cx="10150720" cy="3749365"/>
          </a:xfrm>
          <a:prstGeom prst="rect">
            <a:avLst/>
          </a:prstGeom>
        </p:spPr>
      </p:pic>
      <p:sp>
        <p:nvSpPr>
          <p:cNvPr id="6" name="TextBox 5">
            <a:extLst>
              <a:ext uri="{FF2B5EF4-FFF2-40B4-BE49-F238E27FC236}">
                <a16:creationId xmlns:a16="http://schemas.microsoft.com/office/drawing/2014/main" id="{9BE64136-FE5E-D583-CD44-B1B5F638F638}"/>
              </a:ext>
            </a:extLst>
          </p:cNvPr>
          <p:cNvSpPr txBox="1"/>
          <p:nvPr/>
        </p:nvSpPr>
        <p:spPr>
          <a:xfrm>
            <a:off x="3150798" y="4596315"/>
            <a:ext cx="6094562" cy="463397"/>
          </a:xfrm>
          <a:prstGeom prst="rect">
            <a:avLst/>
          </a:prstGeom>
          <a:noFill/>
        </p:spPr>
        <p:txBody>
          <a:bodyPr wrap="square">
            <a:spAutoFit/>
          </a:bodyPr>
          <a:lstStyle/>
          <a:p>
            <a:pPr algn="ctr">
              <a:lnSpc>
                <a:spcPct val="150000"/>
              </a:lnSpc>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BLOCKS OF 6T SRAM LAYOUT</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20708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AECACD-F7F3-238B-7508-3AB6C80E948B}"/>
              </a:ext>
            </a:extLst>
          </p:cNvPr>
          <p:cNvSpPr>
            <a:spLocks noGrp="1"/>
          </p:cNvSpPr>
          <p:nvPr>
            <p:ph type="sldNum" sz="quarter" idx="12"/>
          </p:nvPr>
        </p:nvSpPr>
        <p:spPr/>
        <p:txBody>
          <a:bodyPr/>
          <a:lstStyle/>
          <a:p>
            <a:fld id="{2B48B02D-6448-4399-BE2E-C025BF63EF34}" type="slidenum">
              <a:rPr lang="en-IN" smtClean="0"/>
              <a:t>22</a:t>
            </a:fld>
            <a:endParaRPr lang="en-IN"/>
          </a:p>
        </p:txBody>
      </p:sp>
      <p:pic>
        <p:nvPicPr>
          <p:cNvPr id="3" name="Picture 2">
            <a:extLst>
              <a:ext uri="{FF2B5EF4-FFF2-40B4-BE49-F238E27FC236}">
                <a16:creationId xmlns:a16="http://schemas.microsoft.com/office/drawing/2014/main" id="{B190263A-453A-86D4-BE85-385ACF09DE57}"/>
              </a:ext>
            </a:extLst>
          </p:cNvPr>
          <p:cNvPicPr>
            <a:picLocks noChangeAspect="1"/>
          </p:cNvPicPr>
          <p:nvPr/>
        </p:nvPicPr>
        <p:blipFill rotWithShape="1">
          <a:blip r:embed="rId2"/>
          <a:srcRect l="32546" t="5755" r="32938" b="3165"/>
          <a:stretch/>
        </p:blipFill>
        <p:spPr>
          <a:xfrm>
            <a:off x="1035169" y="973564"/>
            <a:ext cx="4208110" cy="4468630"/>
          </a:xfrm>
          <a:prstGeom prst="rect">
            <a:avLst/>
          </a:prstGeom>
          <a:ln>
            <a:solidFill>
              <a:schemeClr val="accent1">
                <a:lumMod val="60000"/>
                <a:lumOff val="40000"/>
              </a:schemeClr>
            </a:solidFill>
          </a:ln>
        </p:spPr>
      </p:pic>
      <p:pic>
        <p:nvPicPr>
          <p:cNvPr id="4" name="Picture 3">
            <a:extLst>
              <a:ext uri="{FF2B5EF4-FFF2-40B4-BE49-F238E27FC236}">
                <a16:creationId xmlns:a16="http://schemas.microsoft.com/office/drawing/2014/main" id="{FD3C25B8-D120-42FA-99DE-0222DFFEE7E1}"/>
              </a:ext>
            </a:extLst>
          </p:cNvPr>
          <p:cNvPicPr>
            <a:picLocks noChangeAspect="1"/>
          </p:cNvPicPr>
          <p:nvPr/>
        </p:nvPicPr>
        <p:blipFill>
          <a:blip r:embed="rId3"/>
          <a:stretch>
            <a:fillRect/>
          </a:stretch>
        </p:blipFill>
        <p:spPr>
          <a:xfrm>
            <a:off x="6372494" y="973564"/>
            <a:ext cx="5743742" cy="2728196"/>
          </a:xfrm>
          <a:prstGeom prst="rect">
            <a:avLst/>
          </a:prstGeom>
        </p:spPr>
      </p:pic>
      <p:sp>
        <p:nvSpPr>
          <p:cNvPr id="6" name="TextBox 5">
            <a:extLst>
              <a:ext uri="{FF2B5EF4-FFF2-40B4-BE49-F238E27FC236}">
                <a16:creationId xmlns:a16="http://schemas.microsoft.com/office/drawing/2014/main" id="{C9B249AD-50B5-BB66-0337-3199D59B8B47}"/>
              </a:ext>
            </a:extLst>
          </p:cNvPr>
          <p:cNvSpPr txBox="1"/>
          <p:nvPr/>
        </p:nvSpPr>
        <p:spPr>
          <a:xfrm>
            <a:off x="1035169" y="5607972"/>
            <a:ext cx="4968816"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LAYOUT FOR 6 TRANSISTOR SRAM CELL</a:t>
            </a:r>
            <a:endParaRPr lang="en-IN" dirty="0"/>
          </a:p>
        </p:txBody>
      </p:sp>
      <p:sp>
        <p:nvSpPr>
          <p:cNvPr id="8" name="TextBox 7">
            <a:extLst>
              <a:ext uri="{FF2B5EF4-FFF2-40B4-BE49-F238E27FC236}">
                <a16:creationId xmlns:a16="http://schemas.microsoft.com/office/drawing/2014/main" id="{5DC0E4D2-71B7-F75B-80FB-6D2267126609}"/>
              </a:ext>
            </a:extLst>
          </p:cNvPr>
          <p:cNvSpPr txBox="1"/>
          <p:nvPr/>
        </p:nvSpPr>
        <p:spPr>
          <a:xfrm>
            <a:off x="6197084" y="3701760"/>
            <a:ext cx="6094562" cy="463397"/>
          </a:xfrm>
          <a:prstGeom prst="rect">
            <a:avLst/>
          </a:prstGeom>
          <a:noFill/>
        </p:spPr>
        <p:txBody>
          <a:bodyPr wrap="square">
            <a:spAutoFit/>
          </a:bodyPr>
          <a:lstStyle/>
          <a:p>
            <a:pPr algn="ctr">
              <a:lnSpc>
                <a:spcPct val="150000"/>
              </a:lnSpc>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AREA OF 6T SRAM LAYOUT</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7242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E6CFF4-B029-883D-93E5-E4F579D0C64B}"/>
              </a:ext>
            </a:extLst>
          </p:cNvPr>
          <p:cNvSpPr>
            <a:spLocks noGrp="1"/>
          </p:cNvSpPr>
          <p:nvPr>
            <p:ph type="sldNum" sz="quarter" idx="12"/>
          </p:nvPr>
        </p:nvSpPr>
        <p:spPr/>
        <p:txBody>
          <a:bodyPr/>
          <a:lstStyle/>
          <a:p>
            <a:fld id="{2B48B02D-6448-4399-BE2E-C025BF63EF34}" type="slidenum">
              <a:rPr lang="en-IN" smtClean="0"/>
              <a:t>23</a:t>
            </a:fld>
            <a:endParaRPr lang="en-IN"/>
          </a:p>
        </p:txBody>
      </p:sp>
      <p:sp>
        <p:nvSpPr>
          <p:cNvPr id="4" name="TextBox 3">
            <a:extLst>
              <a:ext uri="{FF2B5EF4-FFF2-40B4-BE49-F238E27FC236}">
                <a16:creationId xmlns:a16="http://schemas.microsoft.com/office/drawing/2014/main" id="{66E4FCE6-FB67-5CE0-E17A-1B12926D4294}"/>
              </a:ext>
            </a:extLst>
          </p:cNvPr>
          <p:cNvSpPr txBox="1"/>
          <p:nvPr/>
        </p:nvSpPr>
        <p:spPr>
          <a:xfrm>
            <a:off x="1053860" y="408772"/>
            <a:ext cx="10205049" cy="5626990"/>
          </a:xfrm>
          <a:prstGeom prst="rect">
            <a:avLst/>
          </a:prstGeom>
          <a:noFill/>
        </p:spPr>
        <p:txBody>
          <a:bodyPr wrap="square">
            <a:spAutoFit/>
          </a:bodyPr>
          <a:lstStyle/>
          <a:p>
            <a:pPr algn="just">
              <a:lnSpc>
                <a:spcPct val="150000"/>
              </a:lnSpc>
              <a:spcAft>
                <a:spcPts val="800"/>
              </a:spcAft>
            </a:pP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We have analysed the outputs of the 6-transistor SRAM in 45nm technology. We obtained the outputs of the 6T SRAM read operations, including BL, BLB, Q, and QB, and we have submitted these outputs. Additionally, we have calculated the overall </a:t>
            </a:r>
            <a:r>
              <a:rPr lang="en-IN" sz="2200" b="1" kern="100" dirty="0">
                <a:effectLst/>
                <a:latin typeface="Times New Roman" panose="02020603050405020304" pitchFamily="18" charset="0"/>
                <a:ea typeface="Aptos" panose="020B0004020202020204" pitchFamily="34" charset="0"/>
                <a:cs typeface="Times New Roman" panose="02020603050405020304" pitchFamily="18" charset="0"/>
              </a:rPr>
              <a:t>Power Consumption, </a:t>
            </a:r>
            <a:r>
              <a:rPr lang="en-US" sz="2200" b="1" dirty="0">
                <a:solidFill>
                  <a:srgbClr val="000000"/>
                </a:solidFill>
                <a:effectLst/>
                <a:latin typeface="Times New Roman" panose="02020603050405020304" pitchFamily="18" charset="0"/>
                <a:ea typeface="Times New Roman" panose="02020603050405020304" pitchFamily="18" charset="0"/>
              </a:rPr>
              <a:t>Propagation Delay, and </a:t>
            </a:r>
            <a:r>
              <a:rPr lang="en-IN" sz="22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Area of 6t SRAM Layout </a:t>
            </a: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of the 6T SRAM cell in 45nm technology, Power Consumption</a:t>
            </a:r>
            <a:r>
              <a:rPr lang="en-IN" sz="22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which is approximately 28n watts and </a:t>
            </a:r>
            <a:r>
              <a:rPr lang="en-US" sz="2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Propagation Delay </a:t>
            </a:r>
            <a:r>
              <a:rPr lang="en-US" sz="2200" dirty="0">
                <a:latin typeface="Times New Roman" panose="02020603050405020304" pitchFamily="18" charset="0"/>
                <a:cs typeface="Times New Roman" panose="02020603050405020304" pitchFamily="18" charset="0"/>
              </a:rPr>
              <a:t>with delay values ranging from 1.442 nanoseconds to 7.073 nanoseconds for different signal pairs and</a:t>
            </a: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Furthermore, the layout design of the SRAM cell, conducted using Cadence Layout XL, resulted in an area requirement of 11.155 square nanometers</a:t>
            </a: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 We compared the results of 45nm and 90nm technology in terms of power consumption and simulation outcomes. Our analysis revealed that 45nm technology exhibits lower power consumption compared to 90nm technology. </a:t>
            </a:r>
            <a:endParaRPr lang="en-IN" sz="2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8430060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883FA8-A7A2-6954-3288-586816C7DCCB}"/>
              </a:ext>
            </a:extLst>
          </p:cNvPr>
          <p:cNvSpPr>
            <a:spLocks noGrp="1"/>
          </p:cNvSpPr>
          <p:nvPr>
            <p:ph type="sldNum" sz="quarter" idx="12"/>
          </p:nvPr>
        </p:nvSpPr>
        <p:spPr/>
        <p:txBody>
          <a:bodyPr/>
          <a:lstStyle/>
          <a:p>
            <a:fld id="{2B48B02D-6448-4399-BE2E-C025BF63EF34}" type="slidenum">
              <a:rPr lang="en-IN" smtClean="0"/>
              <a:t>24</a:t>
            </a:fld>
            <a:endParaRPr lang="en-IN"/>
          </a:p>
        </p:txBody>
      </p:sp>
      <p:pic>
        <p:nvPicPr>
          <p:cNvPr id="3" name="Picture 2" descr="A table with numbers and letters">
            <a:extLst>
              <a:ext uri="{FF2B5EF4-FFF2-40B4-BE49-F238E27FC236}">
                <a16:creationId xmlns:a16="http://schemas.microsoft.com/office/drawing/2014/main" id="{87D5EC91-2F21-1EDF-576C-E54D12034575}"/>
              </a:ext>
            </a:extLst>
          </p:cNvPr>
          <p:cNvPicPr>
            <a:picLocks noChangeAspect="1"/>
          </p:cNvPicPr>
          <p:nvPr/>
        </p:nvPicPr>
        <p:blipFill>
          <a:blip r:embed="rId2"/>
          <a:stretch>
            <a:fillRect/>
          </a:stretch>
        </p:blipFill>
        <p:spPr>
          <a:xfrm>
            <a:off x="2092534" y="1431984"/>
            <a:ext cx="8006931" cy="3851629"/>
          </a:xfrm>
          <a:prstGeom prst="rect">
            <a:avLst/>
          </a:prstGeom>
        </p:spPr>
      </p:pic>
      <p:sp>
        <p:nvSpPr>
          <p:cNvPr id="5" name="TextBox 4">
            <a:extLst>
              <a:ext uri="{FF2B5EF4-FFF2-40B4-BE49-F238E27FC236}">
                <a16:creationId xmlns:a16="http://schemas.microsoft.com/office/drawing/2014/main" id="{F0265F1A-B4CA-8267-88CE-D72CB16E2B85}"/>
              </a:ext>
            </a:extLst>
          </p:cNvPr>
          <p:cNvSpPr txBox="1"/>
          <p:nvPr/>
        </p:nvSpPr>
        <p:spPr>
          <a:xfrm>
            <a:off x="2092533" y="638355"/>
            <a:ext cx="7896855" cy="646331"/>
          </a:xfrm>
          <a:prstGeom prst="rect">
            <a:avLst/>
          </a:prstGeom>
          <a:noFill/>
        </p:spPr>
        <p:txBody>
          <a:bodyPr wrap="square">
            <a:spAutoFit/>
          </a:bodyPr>
          <a:lstStyle/>
          <a:p>
            <a:pPr algn="ctr">
              <a:spcBef>
                <a:spcPts val="600"/>
              </a:spcBef>
              <a:spcAft>
                <a:spcPts val="6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FINAL RESULTS OF 6 TRANSISTOR SRAM CELL IN 45 NANO METER TECHNOLOGY</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56982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54C2620-0AB7-243C-51B0-216086802481}"/>
              </a:ext>
            </a:extLst>
          </p:cNvPr>
          <p:cNvSpPr>
            <a:spLocks noGrp="1"/>
          </p:cNvSpPr>
          <p:nvPr>
            <p:ph type="sldNum" sz="quarter" idx="12"/>
          </p:nvPr>
        </p:nvSpPr>
        <p:spPr/>
        <p:txBody>
          <a:bodyPr/>
          <a:lstStyle/>
          <a:p>
            <a:fld id="{2B48B02D-6448-4399-BE2E-C025BF63EF34}" type="slidenum">
              <a:rPr lang="en-IN" smtClean="0"/>
              <a:t>25</a:t>
            </a:fld>
            <a:endParaRPr lang="en-IN"/>
          </a:p>
        </p:txBody>
      </p:sp>
      <p:sp>
        <p:nvSpPr>
          <p:cNvPr id="5" name="TextBox 4">
            <a:extLst>
              <a:ext uri="{FF2B5EF4-FFF2-40B4-BE49-F238E27FC236}">
                <a16:creationId xmlns:a16="http://schemas.microsoft.com/office/drawing/2014/main" id="{2666F9CA-0169-0176-1754-DEA96C5ACC68}"/>
              </a:ext>
            </a:extLst>
          </p:cNvPr>
          <p:cNvSpPr txBox="1"/>
          <p:nvPr/>
        </p:nvSpPr>
        <p:spPr>
          <a:xfrm>
            <a:off x="385314" y="283175"/>
            <a:ext cx="11421372" cy="5629105"/>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CONCLUSION</a:t>
            </a:r>
            <a:endParaRPr lang="en-US" sz="2800" b="1" dirty="0">
              <a:latin typeface="Times New Roman" panose="02020603050405020304" pitchFamily="18" charset="0"/>
              <a:cs typeface="Times New Roman" panose="02020603050405020304" pitchFamily="18" charset="0"/>
            </a:endParaRPr>
          </a:p>
          <a:p>
            <a:pPr algn="just">
              <a:lnSpc>
                <a:spcPct val="150000"/>
              </a:lnSpc>
              <a:spcBef>
                <a:spcPts val="600"/>
              </a:spcBef>
              <a:spcAft>
                <a:spcPts val="600"/>
              </a:spcAf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In conclusion, the analysis of the 6-transistor SRAM using Cadence software in the 45-nanometer </a:t>
            </a:r>
            <a:r>
              <a:rPr lang="en-US" sz="2000" dirty="0">
                <a:solidFill>
                  <a:srgbClr val="0D0D0D"/>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technology generation</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reveals important insights into its performance characteristics. The power consumption of the SRAM cell varied between 28.05n watts and 74.169n watts across different simulations and parameter configurations. Notably, the lowest power consumption observed was 28.05n watts, indicating improved power efficiency under specific parameter settings. Additionally, delay characterization provided valuable information on the timing behavior of the SRAM cell, with delay values ranging from 1.442 nanoseconds to 7.073 nanoseconds for different signal pairs. These measurements offer insights into the speed and efficiency of data access operations within the SRAM cell. Furthermore, the layout design of the SRAM cell, conducted using Cadence Layout XL, resulted in an area requirement of 11.155 square nanometers. This comprehensive analysis underscores the importance of optimizing design parameters to achieve a balance between power efficiency, performance, and layout area in 45-nanometer technology for 6-transistor SRAM designs.</a:t>
            </a:r>
            <a:endParaRPr lang="en-IN" sz="20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2367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Question mark on green pastel background">
            <a:extLst>
              <a:ext uri="{FF2B5EF4-FFF2-40B4-BE49-F238E27FC236}">
                <a16:creationId xmlns:a16="http://schemas.microsoft.com/office/drawing/2014/main" id="{C6C9EC9D-3B38-9FFF-64C9-0AE452889E56}"/>
              </a:ext>
            </a:extLst>
          </p:cNvPr>
          <p:cNvPicPr>
            <a:picLocks noChangeAspect="1"/>
          </p:cNvPicPr>
          <p:nvPr/>
        </p:nvPicPr>
        <p:blipFill rotWithShape="1">
          <a:blip r:embed="rId2"/>
          <a:srcRect b="5436"/>
          <a:stretch/>
        </p:blipFill>
        <p:spPr>
          <a:xfrm>
            <a:off x="2522358" y="10"/>
            <a:ext cx="9669642" cy="6857990"/>
          </a:xfrm>
          <a:prstGeom prst="rect">
            <a:avLst/>
          </a:prstGeom>
        </p:spPr>
      </p:pic>
      <p:sp>
        <p:nvSpPr>
          <p:cNvPr id="24" name="Rectangle 23">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38F8DF9B-36EC-6A90-F35B-03B270F13199}"/>
              </a:ext>
            </a:extLst>
          </p:cNvPr>
          <p:cNvSpPr txBox="1"/>
          <p:nvPr/>
        </p:nvSpPr>
        <p:spPr>
          <a:xfrm>
            <a:off x="952228" y="743447"/>
            <a:ext cx="3973385" cy="3692028"/>
          </a:xfrm>
          <a:prstGeom prst="rect">
            <a:avLst/>
          </a:prstGeom>
          <a:noFill/>
        </p:spPr>
        <p:txBody>
          <a:bodyPr vert="horz" lIns="91440" tIns="45720" rIns="91440" bIns="45720" rtlCol="0" anchor="b">
            <a:normAutofit/>
          </a:bodyPr>
          <a:lstStyle/>
          <a:p>
            <a:pPr>
              <a:lnSpc>
                <a:spcPct val="90000"/>
              </a:lnSpc>
              <a:spcBef>
                <a:spcPct val="0"/>
              </a:spcBef>
              <a:spcAft>
                <a:spcPts val="600"/>
              </a:spcAft>
            </a:pPr>
            <a:r>
              <a:rPr lang="en-US" sz="5200">
                <a:latin typeface="+mj-lt"/>
                <a:ea typeface="+mj-ea"/>
                <a:cs typeface="+mj-cs"/>
              </a:rPr>
              <a:t>ANY QUESTIONS</a:t>
            </a:r>
          </a:p>
        </p:txBody>
      </p:sp>
      <p:sp>
        <p:nvSpPr>
          <p:cNvPr id="3" name="Slide Number Placeholder 2">
            <a:extLst>
              <a:ext uri="{FF2B5EF4-FFF2-40B4-BE49-F238E27FC236}">
                <a16:creationId xmlns:a16="http://schemas.microsoft.com/office/drawing/2014/main" id="{0F14877B-5A50-3811-A7C7-0A09BF8A1E4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2B48B02D-6448-4399-BE2E-C025BF63EF34}" type="slidenum">
              <a:rPr lang="en-US">
                <a:solidFill>
                  <a:srgbClr val="FFFFFF"/>
                </a:solidFill>
                <a:latin typeface="Calibri" panose="020F0502020204030204"/>
              </a:rPr>
              <a:pPr>
                <a:spcAft>
                  <a:spcPts val="600"/>
                </a:spcAft>
                <a:defRPr/>
              </a:pPr>
              <a:t>26</a:t>
            </a:fld>
            <a:endParaRPr lang="en-US">
              <a:solidFill>
                <a:srgbClr val="FFFFFF"/>
              </a:solidFill>
              <a:latin typeface="Calibri" panose="020F0502020204030204"/>
            </a:endParaRPr>
          </a:p>
        </p:txBody>
      </p:sp>
    </p:spTree>
    <p:extLst>
      <p:ext uri="{BB962C8B-B14F-4D97-AF65-F5344CB8AC3E}">
        <p14:creationId xmlns:p14="http://schemas.microsoft.com/office/powerpoint/2010/main" val="8966803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Handshake">
            <a:extLst>
              <a:ext uri="{FF2B5EF4-FFF2-40B4-BE49-F238E27FC236}">
                <a16:creationId xmlns:a16="http://schemas.microsoft.com/office/drawing/2014/main" id="{317BAD86-8B0D-6C46-620B-5A00D8E816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22" name="Freeform: Shape 21">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4" name="TextBox 3">
            <a:extLst>
              <a:ext uri="{FF2B5EF4-FFF2-40B4-BE49-F238E27FC236}">
                <a16:creationId xmlns:a16="http://schemas.microsoft.com/office/drawing/2014/main" id="{C8E5E490-DE95-E9FC-C543-63197B436BCB}"/>
              </a:ext>
            </a:extLst>
          </p:cNvPr>
          <p:cNvSpPr txBox="1"/>
          <p:nvPr/>
        </p:nvSpPr>
        <p:spPr>
          <a:xfrm>
            <a:off x="5622061" y="762538"/>
            <a:ext cx="5649349" cy="319986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kern="1200" dirty="0">
                <a:solidFill>
                  <a:srgbClr val="FFFFFF"/>
                </a:solidFill>
                <a:latin typeface="+mj-lt"/>
                <a:ea typeface="+mj-ea"/>
                <a:cs typeface="+mj-cs"/>
              </a:rPr>
              <a:t>THANK YOU</a:t>
            </a:r>
          </a:p>
        </p:txBody>
      </p:sp>
      <p:sp>
        <p:nvSpPr>
          <p:cNvPr id="24"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onnsiteX0" fmla="*/ 0 w 5303520"/>
              <a:gd name="connsiteY0" fmla="*/ 0 h 18288"/>
              <a:gd name="connsiteX1" fmla="*/ 556870 w 5303520"/>
              <a:gd name="connsiteY1" fmla="*/ 0 h 18288"/>
              <a:gd name="connsiteX2" fmla="*/ 1272845 w 5303520"/>
              <a:gd name="connsiteY2" fmla="*/ 0 h 18288"/>
              <a:gd name="connsiteX3" fmla="*/ 1882750 w 5303520"/>
              <a:gd name="connsiteY3" fmla="*/ 0 h 18288"/>
              <a:gd name="connsiteX4" fmla="*/ 2439619 w 5303520"/>
              <a:gd name="connsiteY4" fmla="*/ 0 h 18288"/>
              <a:gd name="connsiteX5" fmla="*/ 3155594 w 5303520"/>
              <a:gd name="connsiteY5" fmla="*/ 0 h 18288"/>
              <a:gd name="connsiteX6" fmla="*/ 3818534 w 5303520"/>
              <a:gd name="connsiteY6" fmla="*/ 0 h 18288"/>
              <a:gd name="connsiteX7" fmla="*/ 4481474 w 5303520"/>
              <a:gd name="connsiteY7" fmla="*/ 0 h 18288"/>
              <a:gd name="connsiteX8" fmla="*/ 5303520 w 5303520"/>
              <a:gd name="connsiteY8" fmla="*/ 0 h 18288"/>
              <a:gd name="connsiteX9" fmla="*/ 5303520 w 5303520"/>
              <a:gd name="connsiteY9" fmla="*/ 18288 h 18288"/>
              <a:gd name="connsiteX10" fmla="*/ 4746650 w 5303520"/>
              <a:gd name="connsiteY10" fmla="*/ 18288 h 18288"/>
              <a:gd name="connsiteX11" fmla="*/ 4242816 w 5303520"/>
              <a:gd name="connsiteY11" fmla="*/ 18288 h 18288"/>
              <a:gd name="connsiteX12" fmla="*/ 3526841 w 5303520"/>
              <a:gd name="connsiteY12" fmla="*/ 18288 h 18288"/>
              <a:gd name="connsiteX13" fmla="*/ 2969971 w 5303520"/>
              <a:gd name="connsiteY13" fmla="*/ 18288 h 18288"/>
              <a:gd name="connsiteX14" fmla="*/ 2253996 w 5303520"/>
              <a:gd name="connsiteY14" fmla="*/ 18288 h 18288"/>
              <a:gd name="connsiteX15" fmla="*/ 1484986 w 5303520"/>
              <a:gd name="connsiteY15" fmla="*/ 18288 h 18288"/>
              <a:gd name="connsiteX16" fmla="*/ 875081 w 5303520"/>
              <a:gd name="connsiteY16" fmla="*/ 18288 h 18288"/>
              <a:gd name="connsiteX17" fmla="*/ 0 w 5303520"/>
              <a:gd name="connsiteY17" fmla="*/ 18288 h 18288"/>
              <a:gd name="connsiteX18" fmla="*/ 0 w 530352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10098A4-E89A-D359-2742-C61A7DB548BC}"/>
              </a:ext>
            </a:extLst>
          </p:cNvPr>
          <p:cNvSpPr>
            <a:spLocks noGrp="1"/>
          </p:cNvSpPr>
          <p:nvPr>
            <p:ph type="sldNum" sz="quarter" idx="12"/>
          </p:nvPr>
        </p:nvSpPr>
        <p:spPr>
          <a:xfrm>
            <a:off x="9832848" y="6356350"/>
            <a:ext cx="1520952" cy="365125"/>
          </a:xfrm>
        </p:spPr>
        <p:txBody>
          <a:bodyPr vert="horz" lIns="91440" tIns="45720" rIns="91440" bIns="45720" rtlCol="0" anchor="ctr">
            <a:normAutofit/>
          </a:bodyPr>
          <a:lstStyle/>
          <a:p>
            <a:pPr>
              <a:spcAft>
                <a:spcPts val="600"/>
              </a:spcAft>
            </a:pPr>
            <a:fld id="{2B48B02D-6448-4399-BE2E-C025BF63EF34}" type="slidenum">
              <a:rPr lang="en-US">
                <a:solidFill>
                  <a:srgbClr val="FFFFFF"/>
                </a:solidFill>
              </a:rPr>
              <a:pPr>
                <a:spcAft>
                  <a:spcPts val="600"/>
                </a:spcAft>
              </a:pPr>
              <a:t>27</a:t>
            </a:fld>
            <a:endParaRPr lang="en-US">
              <a:solidFill>
                <a:srgbClr val="FFFFFF"/>
              </a:solidFill>
            </a:endParaRPr>
          </a:p>
        </p:txBody>
      </p:sp>
    </p:spTree>
    <p:extLst>
      <p:ext uri="{BB962C8B-B14F-4D97-AF65-F5344CB8AC3E}">
        <p14:creationId xmlns:p14="http://schemas.microsoft.com/office/powerpoint/2010/main" val="2074415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1016</TotalTime>
  <Words>1973</Words>
  <Application>Microsoft Office PowerPoint</Application>
  <PresentationFormat>Widescreen</PresentationFormat>
  <Paragraphs>187</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Arial</vt:lpstr>
      <vt:lpstr>Bookman Old Style</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DURGA PRASAD REDDY CHILUKURI</dc:creator>
  <cp:lastModifiedBy>20761A0476</cp:lastModifiedBy>
  <cp:revision>71</cp:revision>
  <dcterms:created xsi:type="dcterms:W3CDTF">2024-01-04T04:45:52Z</dcterms:created>
  <dcterms:modified xsi:type="dcterms:W3CDTF">2024-04-06T03:27:21Z</dcterms:modified>
</cp:coreProperties>
</file>