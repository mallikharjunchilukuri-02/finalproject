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75" r:id="rId5"/>
    <p:sldId id="266" r:id="rId6"/>
    <p:sldId id="267" r:id="rId7"/>
    <p:sldId id="288" r:id="rId8"/>
    <p:sldId id="263" r:id="rId9"/>
    <p:sldId id="269" r:id="rId10"/>
    <p:sldId id="280" r:id="rId11"/>
    <p:sldId id="276" r:id="rId12"/>
    <p:sldId id="289" r:id="rId13"/>
    <p:sldId id="283" r:id="rId14"/>
    <p:sldId id="286" r:id="rId15"/>
    <p:sldId id="284" r:id="rId16"/>
    <p:sldId id="285" r:id="rId17"/>
    <p:sldId id="282" r:id="rId18"/>
    <p:sldId id="287" r:id="rId19"/>
    <p:sldId id="272" r:id="rId20"/>
    <p:sldId id="291" r:id="rId21"/>
    <p:sldId id="296" r:id="rId22"/>
    <p:sldId id="293" r:id="rId23"/>
    <p:sldId id="294" r:id="rId24"/>
    <p:sldId id="290" r:id="rId25"/>
    <p:sldId id="292" r:id="rId26"/>
    <p:sldId id="295" r:id="rId27"/>
    <p:sldId id="297" r:id="rId28"/>
    <p:sldId id="27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2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9" d="100"/>
          <a:sy n="89" d="100"/>
        </p:scale>
        <p:origin x="4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9T16:21:04.647"/>
    </inkml:context>
    <inkml:brush xml:id="br0">
      <inkml:brushProperty name="width" value="0.05" units="cm"/>
      <inkml:brushProperty name="height" value="0.05" units="cm"/>
      <inkml:brushProperty name="color" value="#FFFFFF"/>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D1A8-C0F4-413B-92FD-DA08A7E6F57F}" type="datetimeFigureOut">
              <a:rPr lang="en-IN" smtClean="0"/>
              <a:t>20-04-2024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7F0C5-2045-4613-9DED-84D80F7014A5}" type="slidenum">
              <a:rPr lang="en-IN" smtClean="0"/>
              <a:t>‹#›</a:t>
            </a:fld>
            <a:endParaRPr lang="en-IN"/>
          </a:p>
        </p:txBody>
      </p:sp>
    </p:spTree>
    <p:extLst>
      <p:ext uri="{BB962C8B-B14F-4D97-AF65-F5344CB8AC3E}">
        <p14:creationId xmlns:p14="http://schemas.microsoft.com/office/powerpoint/2010/main" val="337381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5354-38F7-5ABB-0C85-EE01FFAA4F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45F9B7-9985-5BB4-FABB-EC7DB87C2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4DF5A0-FCA5-B0C0-14A0-9129F21929E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E94F9975-F42F-029A-039E-3D8D3A4A9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D7982-CAB2-CE72-C5B1-D9F26BB69D1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12773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7337A-54D9-672E-A857-581725EE25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835902-0996-A083-46D6-3CD89D7330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FFEB3D-CFA5-4F91-C5CE-36BE7A43BB01}"/>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7313FF50-A99E-4B18-552B-099591BBA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99257-43DF-D340-27F9-A0E0503B3BD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04980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2CC2-BE46-3C90-B51B-DD037B0E7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7E63EB-43D6-5085-601C-63D00F4337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147264-8256-3449-A7C3-4C67B378DC9C}"/>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C523CEA5-C100-ACCB-BDF0-96D3360BD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ED4C93-A74C-FAE5-89EF-42727DEBF3EA}"/>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413467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E3C0-7BA1-8BC2-1FDE-4902E79E35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2D1A92-590E-E5E0-495B-CAD3CF5A76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4E41FF-A2D1-B7C5-4D98-3476C28E5E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B6D276-5B78-3A0E-6F14-272273064EB9}"/>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4C41210E-690F-BF80-05CA-873C27B37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B4A736-9684-AC74-FDB9-20C379C652DD}"/>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7434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5F66-AB23-13DF-D7DF-4D4AEE6632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35B03-E274-01E1-E54E-2871E85CA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E9612-3666-564D-8ECA-22DCA725BA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74CE39-B0A8-28DA-C95F-EF8F2A714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2997D9-116D-FF30-4330-FED6EDAEEC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0800F0-02E0-A3F1-1A3F-0803A2111359}"/>
              </a:ext>
            </a:extLst>
          </p:cNvPr>
          <p:cNvSpPr>
            <a:spLocks noGrp="1"/>
          </p:cNvSpPr>
          <p:nvPr>
            <p:ph type="dt" sz="half" idx="10"/>
          </p:nvPr>
        </p:nvSpPr>
        <p:spPr/>
        <p:txBody>
          <a:bodyPr/>
          <a:lstStyle/>
          <a:p>
            <a:r>
              <a:rPr lang="en-US"/>
              <a:t>04-01-2024</a:t>
            </a:r>
            <a:endParaRPr lang="en-IN"/>
          </a:p>
        </p:txBody>
      </p:sp>
      <p:sp>
        <p:nvSpPr>
          <p:cNvPr id="8" name="Footer Placeholder 7">
            <a:extLst>
              <a:ext uri="{FF2B5EF4-FFF2-40B4-BE49-F238E27FC236}">
                <a16:creationId xmlns:a16="http://schemas.microsoft.com/office/drawing/2014/main" id="{6FEF534C-5D00-9E4E-2CD2-1EC06B61D3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E85646-B3DD-3D67-6F5F-8B934BBB765C}"/>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309091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A5F8-EC11-7E1C-F62E-17470C67EC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25ACE3-8904-7FC1-513E-E26EC1B9D679}"/>
              </a:ext>
            </a:extLst>
          </p:cNvPr>
          <p:cNvSpPr>
            <a:spLocks noGrp="1"/>
          </p:cNvSpPr>
          <p:nvPr>
            <p:ph type="dt" sz="half" idx="10"/>
          </p:nvPr>
        </p:nvSpPr>
        <p:spPr/>
        <p:txBody>
          <a:bodyPr/>
          <a:lstStyle/>
          <a:p>
            <a:r>
              <a:rPr lang="en-US"/>
              <a:t>04-01-2024</a:t>
            </a:r>
            <a:endParaRPr lang="en-IN"/>
          </a:p>
        </p:txBody>
      </p:sp>
      <p:sp>
        <p:nvSpPr>
          <p:cNvPr id="4" name="Footer Placeholder 3">
            <a:extLst>
              <a:ext uri="{FF2B5EF4-FFF2-40B4-BE49-F238E27FC236}">
                <a16:creationId xmlns:a16="http://schemas.microsoft.com/office/drawing/2014/main" id="{D09B48D1-D9C0-8F07-7BC8-589FFC59D7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61E3AD-2BC8-622A-ECB4-0D139C51CEF6}"/>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866081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9C5B08-7FD3-223D-3761-3DAFA70002CE}"/>
              </a:ext>
            </a:extLst>
          </p:cNvPr>
          <p:cNvSpPr>
            <a:spLocks noGrp="1"/>
          </p:cNvSpPr>
          <p:nvPr>
            <p:ph type="dt" sz="half" idx="10"/>
          </p:nvPr>
        </p:nvSpPr>
        <p:spPr/>
        <p:txBody>
          <a:bodyPr/>
          <a:lstStyle/>
          <a:p>
            <a:r>
              <a:rPr lang="en-US"/>
              <a:t>04-01-2024</a:t>
            </a:r>
            <a:endParaRPr lang="en-IN"/>
          </a:p>
        </p:txBody>
      </p:sp>
      <p:sp>
        <p:nvSpPr>
          <p:cNvPr id="3" name="Footer Placeholder 2">
            <a:extLst>
              <a:ext uri="{FF2B5EF4-FFF2-40B4-BE49-F238E27FC236}">
                <a16:creationId xmlns:a16="http://schemas.microsoft.com/office/drawing/2014/main" id="{71834A73-0F87-A44B-B7FB-72C8BEED4F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A6DBAF-00E5-D51C-9096-3188E8177B04}"/>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424537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2BDEB-C4ED-C215-E4FC-4D20D6A50A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3BFC64-27E1-5783-7794-2567F75DE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811322-CCEF-043A-37D3-D7716BDCC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A9D4BA-675C-FCA5-019B-3D3BAC8FAB7A}"/>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C301FE5F-F665-EB01-72DC-FCB7DE675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644E2-85F4-5904-9C45-FEC2E153319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28276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CEDA2-4DE0-9FA5-85C2-F8388A484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00C8C5-1621-8D7D-5D1D-3F3F6C1A78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0C850-FF16-4670-FF79-701CB939D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C8459-B4C3-1245-0554-47F1D53912E4}"/>
              </a:ext>
            </a:extLst>
          </p:cNvPr>
          <p:cNvSpPr>
            <a:spLocks noGrp="1"/>
          </p:cNvSpPr>
          <p:nvPr>
            <p:ph type="dt" sz="half" idx="10"/>
          </p:nvPr>
        </p:nvSpPr>
        <p:spPr/>
        <p:txBody>
          <a:bodyPr/>
          <a:lstStyle/>
          <a:p>
            <a:r>
              <a:rPr lang="en-US"/>
              <a:t>04-01-2024</a:t>
            </a:r>
            <a:endParaRPr lang="en-IN"/>
          </a:p>
        </p:txBody>
      </p:sp>
      <p:sp>
        <p:nvSpPr>
          <p:cNvPr id="6" name="Footer Placeholder 5">
            <a:extLst>
              <a:ext uri="{FF2B5EF4-FFF2-40B4-BE49-F238E27FC236}">
                <a16:creationId xmlns:a16="http://schemas.microsoft.com/office/drawing/2014/main" id="{6E71FDE3-EBC8-A582-E458-B6EC856523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A43482-1BCE-C363-BBCB-D5DB70FE5481}"/>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9350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7EAB-C972-769B-98F4-A3649B0397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A9A901-D737-F245-9D6C-DDBC677AD5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D3274-51D8-F2F9-0F46-CBEF3AB262E2}"/>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82E8095F-6E80-7465-2FAD-75E5E5A314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584A2-412D-6C99-AFD7-4C7387999D77}"/>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1529829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A8A53-1CC9-CA34-89CC-AD0666918A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84F336-5C1C-C607-EA6D-6E9726EB63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C0DDA-7FFA-2B5C-A211-73E5AF78E4C5}"/>
              </a:ext>
            </a:extLst>
          </p:cNvPr>
          <p:cNvSpPr>
            <a:spLocks noGrp="1"/>
          </p:cNvSpPr>
          <p:nvPr>
            <p:ph type="dt" sz="half" idx="10"/>
          </p:nvPr>
        </p:nvSpPr>
        <p:spPr/>
        <p:txBody>
          <a:bodyPr/>
          <a:lstStyle/>
          <a:p>
            <a:r>
              <a:rPr lang="en-US"/>
              <a:t>04-01-2024</a:t>
            </a:r>
            <a:endParaRPr lang="en-IN"/>
          </a:p>
        </p:txBody>
      </p:sp>
      <p:sp>
        <p:nvSpPr>
          <p:cNvPr id="5" name="Footer Placeholder 4">
            <a:extLst>
              <a:ext uri="{FF2B5EF4-FFF2-40B4-BE49-F238E27FC236}">
                <a16:creationId xmlns:a16="http://schemas.microsoft.com/office/drawing/2014/main" id="{D68B5327-58AF-F190-395F-F536B94FE8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EF424-B270-D011-586D-9770EEB3A855}"/>
              </a:ext>
            </a:extLst>
          </p:cNvPr>
          <p:cNvSpPr>
            <a:spLocks noGrp="1"/>
          </p:cNvSpPr>
          <p:nvPr>
            <p:ph type="sldNum" sz="quarter" idx="12"/>
          </p:nvPr>
        </p:nvSpPr>
        <p:spPr/>
        <p:txBody>
          <a:bodyPr/>
          <a:lstStyle/>
          <a:p>
            <a:fld id="{2B48B02D-6448-4399-BE2E-C025BF63EF34}" type="slidenum">
              <a:rPr lang="en-IN" smtClean="0"/>
              <a:t>‹#›</a:t>
            </a:fld>
            <a:endParaRPr lang="en-IN"/>
          </a:p>
        </p:txBody>
      </p:sp>
    </p:spTree>
    <p:extLst>
      <p:ext uri="{BB962C8B-B14F-4D97-AF65-F5344CB8AC3E}">
        <p14:creationId xmlns:p14="http://schemas.microsoft.com/office/powerpoint/2010/main" val="2567390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D4FA20-BF1F-8891-1E48-1D5915B9A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D2D94E-5EE8-1486-2826-FD831388D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9621E-BEA5-06C8-D385-A8F290E90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04-01-2024</a:t>
            </a:r>
            <a:endParaRPr lang="en-IN"/>
          </a:p>
        </p:txBody>
      </p:sp>
      <p:sp>
        <p:nvSpPr>
          <p:cNvPr id="5" name="Footer Placeholder 4">
            <a:extLst>
              <a:ext uri="{FF2B5EF4-FFF2-40B4-BE49-F238E27FC236}">
                <a16:creationId xmlns:a16="http://schemas.microsoft.com/office/drawing/2014/main" id="{1ADB0787-1C27-4E31-5303-4E0A0401B1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D1C0B-D100-D455-2479-AAEFF6F44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8B02D-6448-4399-BE2E-C025BF63EF34}" type="slidenum">
              <a:rPr lang="en-IN" smtClean="0"/>
              <a:t>‹#›</a:t>
            </a:fld>
            <a:endParaRPr lang="en-IN"/>
          </a:p>
        </p:txBody>
      </p:sp>
    </p:spTree>
    <p:extLst>
      <p:ext uri="{BB962C8B-B14F-4D97-AF65-F5344CB8AC3E}">
        <p14:creationId xmlns:p14="http://schemas.microsoft.com/office/powerpoint/2010/main" val="445889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540E22-BC74-87B3-6F81-A3C5575A2B35}"/>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55779" y="213588"/>
            <a:ext cx="1413410" cy="1621972"/>
          </a:xfrm>
          <a:prstGeom prst="rect">
            <a:avLst/>
          </a:prstGeom>
          <a:ln w="28575">
            <a:solidFill>
              <a:schemeClr val="tx1"/>
            </a:solidFill>
          </a:ln>
        </p:spPr>
      </p:pic>
      <p:sp>
        <p:nvSpPr>
          <p:cNvPr id="6" name="TextBox 5">
            <a:extLst>
              <a:ext uri="{FF2B5EF4-FFF2-40B4-BE49-F238E27FC236}">
                <a16:creationId xmlns:a16="http://schemas.microsoft.com/office/drawing/2014/main" id="{6DA80388-7A83-02D8-E4FC-3FD1AA668D49}"/>
              </a:ext>
            </a:extLst>
          </p:cNvPr>
          <p:cNvSpPr txBox="1"/>
          <p:nvPr/>
        </p:nvSpPr>
        <p:spPr>
          <a:xfrm>
            <a:off x="1679348" y="294868"/>
            <a:ext cx="10258652" cy="1454244"/>
          </a:xfrm>
          <a:prstGeom prst="rect">
            <a:avLst/>
          </a:prstGeom>
          <a:solidFill>
            <a:schemeClr val="bg1"/>
          </a:solidFill>
          <a:ln w="28575">
            <a:solidFill>
              <a:schemeClr val="tx1"/>
            </a:solidFill>
          </a:ln>
        </p:spPr>
        <p:txBody>
          <a:bodyPr wrap="square">
            <a:spAutoFit/>
          </a:bodyPr>
          <a:lstStyle/>
          <a:p>
            <a:r>
              <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LAKIREDDY BALI REDDY COLLEGE OF ENGINEERING</a:t>
            </a:r>
          </a:p>
          <a:p>
            <a:endParaRPr lang="en-US" sz="295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950" b="1" dirty="0">
                <a:latin typeface="Times New Roman" panose="02020603050405020304" pitchFamily="18" charset="0"/>
                <a:cs typeface="Times New Roman" panose="02020603050405020304" pitchFamily="18" charset="0"/>
              </a:rPr>
              <a:t>Electronics and Communication Engineering</a:t>
            </a:r>
            <a:endParaRPr lang="en-IN" sz="295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D898172-D66D-17B5-012B-B5ACAD99310C}"/>
              </a:ext>
            </a:extLst>
          </p:cNvPr>
          <p:cNvSpPr txBox="1"/>
          <p:nvPr/>
        </p:nvSpPr>
        <p:spPr>
          <a:xfrm>
            <a:off x="1576579" y="4510758"/>
            <a:ext cx="9680701" cy="1923604"/>
          </a:xfrm>
          <a:prstGeom prst="rect">
            <a:avLst/>
          </a:prstGeom>
          <a:solidFill>
            <a:schemeClr val="bg1"/>
          </a:solidFill>
          <a:ln>
            <a:noFill/>
          </a:ln>
        </p:spPr>
        <p:txBody>
          <a:bodyPr wrap="square">
            <a:spAutoFit/>
          </a:bodyPr>
          <a:lstStyle/>
          <a:p>
            <a:pPr algn="just">
              <a:lnSpc>
                <a:spcPct val="150000"/>
              </a:lnSpc>
              <a:spcAft>
                <a:spcPts val="800"/>
              </a:spcAft>
            </a:pPr>
            <a:r>
              <a:rPr lang="en-US" b="1" dirty="0"/>
              <a:t>    PROJECT GUIDE</a:t>
            </a:r>
            <a:r>
              <a:rPr lang="en-US" dirty="0"/>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TEAM MEMBERS (BATCH-7)</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Bookman Old Style" panose="02050604050505020204" pitchFamily="18" charset="0"/>
                <a:ea typeface="Times New Roman" panose="02020603050405020304" pitchFamily="18" charset="0"/>
              </a:rPr>
              <a:t>Dr. P. </a:t>
            </a:r>
            <a:r>
              <a:rPr lang="en-US" sz="1800" b="1" dirty="0" err="1">
                <a:effectLst/>
                <a:latin typeface="Bookman Old Style" panose="02050604050505020204" pitchFamily="18" charset="0"/>
                <a:ea typeface="Times New Roman" panose="02020603050405020304" pitchFamily="18" charset="0"/>
              </a:rPr>
              <a:t>Lachi</a:t>
            </a:r>
            <a:r>
              <a:rPr lang="en-US" sz="1800" b="1" dirty="0">
                <a:effectLst/>
                <a:latin typeface="Bookman Old Style" panose="02050604050505020204" pitchFamily="18" charset="0"/>
                <a:ea typeface="Times New Roman" panose="02020603050405020304" pitchFamily="18" charset="0"/>
              </a:rPr>
              <a:t> Reddy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t>B. SATYA SURESH                   (</a:t>
            </a:r>
            <a:r>
              <a:rPr lang="en-IN" b="1" dirty="0"/>
              <a:t>20761A0471</a:t>
            </a:r>
            <a:r>
              <a:rPr lang="en-IN" dirty="0"/>
              <a:t>)</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t>      PROFESSOR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CH. MALLIKHARJUN REDDY (</a:t>
            </a:r>
            <a:r>
              <a:rPr lang="en-IN" b="1" dirty="0"/>
              <a:t>20761A0476</a:t>
            </a:r>
            <a:r>
              <a:rPr lang="en-IN" dirty="0"/>
              <a:t>)</a:t>
            </a:r>
            <a:endParaRPr lang="en-US" dirty="0"/>
          </a:p>
          <a:p>
            <a:r>
              <a:rPr lang="en-US" kern="100" dirty="0">
                <a:latin typeface="Calibri" panose="020F0502020204030204" pitchFamily="34" charset="0"/>
                <a:ea typeface="Calibri" panose="020F0502020204030204" pitchFamily="34" charset="0"/>
                <a:cs typeface="Times New Roman" panose="02020603050405020304" pitchFamily="18" charset="0"/>
              </a:rPr>
              <a:t>	</a:t>
            </a:r>
            <a:r>
              <a:rPr lang="en-IN" kern="100" dirty="0">
                <a:latin typeface="Calibri" panose="020F0502020204030204" pitchFamily="34" charset="0"/>
                <a:ea typeface="Calibri" panose="020F0502020204030204" pitchFamily="34" charset="0"/>
                <a:cs typeface="Times New Roman" panose="02020603050405020304" pitchFamily="18" charset="0"/>
              </a:rPr>
              <a:t>				</a:t>
            </a:r>
            <a:r>
              <a:rPr lang="en-IN" dirty="0"/>
              <a:t>P. BHUVANA SRI                     (</a:t>
            </a:r>
            <a:r>
              <a:rPr lang="en-IN" b="1" dirty="0"/>
              <a:t>20761A04A3</a:t>
            </a:r>
            <a:r>
              <a:rPr lang="en-IN" dirty="0"/>
              <a:t>)</a:t>
            </a:r>
          </a:p>
        </p:txBody>
      </p:sp>
      <p:sp>
        <p:nvSpPr>
          <p:cNvPr id="11" name="TextBox 10">
            <a:extLst>
              <a:ext uri="{FF2B5EF4-FFF2-40B4-BE49-F238E27FC236}">
                <a16:creationId xmlns:a16="http://schemas.microsoft.com/office/drawing/2014/main" id="{2094C99E-4C4A-566E-4B0B-D038DA335CA9}"/>
              </a:ext>
            </a:extLst>
          </p:cNvPr>
          <p:cNvSpPr txBox="1"/>
          <p:nvPr/>
        </p:nvSpPr>
        <p:spPr>
          <a:xfrm>
            <a:off x="255779" y="2468101"/>
            <a:ext cx="11682221" cy="1867178"/>
          </a:xfrm>
          <a:prstGeom prst="rect">
            <a:avLst/>
          </a:prstGeom>
          <a:solidFill>
            <a:schemeClr val="bg1"/>
          </a:solidFill>
          <a:ln w="38100">
            <a:solidFill>
              <a:schemeClr val="bg1"/>
            </a:solidFill>
          </a:ln>
        </p:spPr>
        <p:txBody>
          <a:bodyPr wrap="square" rtlCol="0">
            <a:spAutoFit/>
          </a:bodyPr>
          <a:lstStyle/>
          <a:p>
            <a:pPr algn="ctr">
              <a:lnSpc>
                <a:spcPct val="150000"/>
              </a:lnSpc>
              <a:spcAft>
                <a:spcPts val="800"/>
              </a:spcAft>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IMPLEMENTATION AND ANALYSIS OF </a:t>
            </a:r>
            <a:endPar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6 - TRANSISTOR SRAM</a:t>
            </a:r>
            <a:r>
              <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CELL</a:t>
            </a:r>
            <a:endParaRPr lang="en-IN" sz="2800"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90C86666-1527-8FE9-90AD-2AD83A99F413}"/>
              </a:ext>
            </a:extLst>
          </p:cNvPr>
          <p:cNvSpPr>
            <a:spLocks noGrp="1"/>
          </p:cNvSpPr>
          <p:nvPr>
            <p:ph type="sldNum" sz="quarter" idx="12"/>
          </p:nvPr>
        </p:nvSpPr>
        <p:spPr/>
        <p:txBody>
          <a:bodyPr/>
          <a:lstStyle/>
          <a:p>
            <a:fld id="{2B48B02D-6448-4399-BE2E-C025BF63EF34}" type="slidenum">
              <a:rPr lang="en-IN" smtClean="0"/>
              <a:t>1</a:t>
            </a:fld>
            <a:endParaRPr lang="en-IN"/>
          </a:p>
        </p:txBody>
      </p:sp>
    </p:spTree>
    <p:extLst>
      <p:ext uri="{BB962C8B-B14F-4D97-AF65-F5344CB8AC3E}">
        <p14:creationId xmlns:p14="http://schemas.microsoft.com/office/powerpoint/2010/main" val="3919877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09B59C-DB00-B765-0B06-1A93C405CF1F}"/>
              </a:ext>
            </a:extLst>
          </p:cNvPr>
          <p:cNvSpPr txBox="1"/>
          <p:nvPr/>
        </p:nvSpPr>
        <p:spPr>
          <a:xfrm>
            <a:off x="4189066" y="474315"/>
            <a:ext cx="5793134" cy="5038065"/>
          </a:xfrm>
          <a:prstGeom prst="rect">
            <a:avLst/>
          </a:prstGeom>
        </p:spPr>
        <p:txBody>
          <a:bodyPr vert="horz" lIns="91440" tIns="45720" rIns="91440" bIns="45720" rtlCol="0" anchor="ctr">
            <a:normAutofit/>
          </a:bodyPr>
          <a:lstStyle/>
          <a:p>
            <a:pPr>
              <a:lnSpc>
                <a:spcPct val="90000"/>
              </a:lnSpc>
              <a:spcAft>
                <a:spcPts val="600"/>
              </a:spcAft>
            </a:pPr>
            <a:r>
              <a:rPr lang="en-US" sz="4400" b="1" dirty="0">
                <a:latin typeface="Times New Roman" panose="02020603050405020304" pitchFamily="18" charset="0"/>
                <a:cs typeface="Times New Roman" panose="02020603050405020304" pitchFamily="18" charset="0"/>
              </a:rPr>
              <a:t>CONTENTS</a:t>
            </a:r>
          </a:p>
          <a:p>
            <a:pPr indent="-228600">
              <a:lnSpc>
                <a:spcPct val="90000"/>
              </a:lnSpc>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a:t>
            </a:r>
          </a:p>
          <a:p>
            <a:pPr marL="457200" indent="-228600">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a:t>
            </a:r>
          </a:p>
          <a:p>
            <a:pPr marL="457200" indent="-228600">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REVIEW</a:t>
            </a:r>
          </a:p>
          <a:p>
            <a:pPr marL="457200" indent="-228600">
              <a:lnSpc>
                <a:spcPct val="90000"/>
              </a:lnSpc>
              <a:spcAft>
                <a:spcPts val="600"/>
              </a:spcAft>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METHODOLOGY</a:t>
            </a:r>
          </a:p>
          <a:p>
            <a:pPr marL="457200" indent="-228600">
              <a:lnSpc>
                <a:spcPct val="90000"/>
              </a:lnSpc>
              <a:spcAft>
                <a:spcPts val="600"/>
              </a:spcAft>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DESIGN ANALYSIS</a:t>
            </a:r>
          </a:p>
          <a:p>
            <a:pPr marL="457200" indent="-228600">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RESULTS</a:t>
            </a:r>
            <a:endParaRPr lang="en-US" sz="2400" dirty="0">
              <a:effectLst/>
              <a:latin typeface="Times New Roman" panose="02020603050405020304" pitchFamily="18" charset="0"/>
              <a:cs typeface="Times New Roman" panose="02020603050405020304" pitchFamily="18" charset="0"/>
            </a:endParaRPr>
          </a:p>
          <a:p>
            <a:pPr marL="457200" indent="-228600">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CONCLUSIONS</a:t>
            </a:r>
          </a:p>
          <a:p>
            <a:pPr indent="-228600">
              <a:lnSpc>
                <a:spcPct val="90000"/>
              </a:lnSpc>
              <a:spcAft>
                <a:spcPts val="600"/>
              </a:spcAf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CA238D9-5511-151C-F123-E51BD494C5D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a:solidFill>
                  <a:schemeClr val="tx1">
                    <a:lumMod val="50000"/>
                    <a:lumOff val="50000"/>
                  </a:schemeClr>
                </a:solidFill>
              </a:rPr>
              <a:pPr>
                <a:spcAft>
                  <a:spcPts val="600"/>
                </a:spcAft>
              </a:pPr>
              <a:t>2</a:t>
            </a:fld>
            <a:endParaRPr lang="en-US">
              <a:solidFill>
                <a:schemeClr val="tx1">
                  <a:lumMod val="50000"/>
                  <a:lumOff val="50000"/>
                </a:schemeClr>
              </a:solidFill>
            </a:endParaRPr>
          </a:p>
        </p:txBody>
      </p:sp>
      <p:grpSp>
        <p:nvGrpSpPr>
          <p:cNvPr id="9" name="Group 8">
            <a:extLst>
              <a:ext uri="{FF2B5EF4-FFF2-40B4-BE49-F238E27FC236}">
                <a16:creationId xmlns:a16="http://schemas.microsoft.com/office/drawing/2014/main" id="{626842FA-90AD-EEBD-ABE0-E9EF9A5D14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EF621AD8-9B7B-4C37-1CB2-16C6A6AA71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46A872-CF51-D0BD-D9F3-500F32EEB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60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16097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D11C47-F3D8-6C9B-AC1D-77914BFE3BD8}"/>
              </a:ext>
            </a:extLst>
          </p:cNvPr>
          <p:cNvSpPr>
            <a:spLocks noGrp="1"/>
          </p:cNvSpPr>
          <p:nvPr>
            <p:ph type="sldNum" sz="quarter" idx="12"/>
          </p:nvPr>
        </p:nvSpPr>
        <p:spPr/>
        <p:txBody>
          <a:bodyPr/>
          <a:lstStyle/>
          <a:p>
            <a:fld id="{2B48B02D-6448-4399-BE2E-C025BF63EF34}" type="slidenum">
              <a:rPr lang="en-IN" smtClean="0"/>
              <a:t>3</a:t>
            </a:fld>
            <a:endParaRPr lang="en-IN"/>
          </a:p>
        </p:txBody>
      </p:sp>
      <p:sp>
        <p:nvSpPr>
          <p:cNvPr id="5" name="TextBox 4">
            <a:extLst>
              <a:ext uri="{FF2B5EF4-FFF2-40B4-BE49-F238E27FC236}">
                <a16:creationId xmlns:a16="http://schemas.microsoft.com/office/drawing/2014/main" id="{DB0F3119-7D63-D1BA-CC58-FE86E78FB5ED}"/>
              </a:ext>
            </a:extLst>
          </p:cNvPr>
          <p:cNvSpPr txBox="1"/>
          <p:nvPr/>
        </p:nvSpPr>
        <p:spPr>
          <a:xfrm>
            <a:off x="557841" y="342337"/>
            <a:ext cx="11197087" cy="5864234"/>
          </a:xfrm>
          <a:prstGeom prst="rect">
            <a:avLst/>
          </a:prstGeom>
          <a:noFill/>
        </p:spPr>
        <p:txBody>
          <a:bodyPr wrap="square">
            <a:spAutoFit/>
          </a:bodyPr>
          <a:lstStyle/>
          <a:p>
            <a:pPr algn="ctr">
              <a:lnSpc>
                <a:spcPct val="150000"/>
              </a:lnSpc>
              <a:spcAft>
                <a:spcPts val="800"/>
              </a:spcAf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ABSTRACT</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SRAM (Static Random-Access Memory) is crucial for fast on-chip data storage.</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The 6T SRAM cell consists of six transistors arranged precisely for stability and efficient read/write operations.</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It's particularly vital in high-performance applications like cache memory.</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This project aims to assess the performance, stability, and energy efficiency of the 6T SRAM cell.</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Simulations will evaluate key parameters such as access time, write time, and power consumption.</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Goals include identifying design limitations, proposing enhancements, and analyzing factors like noise tolerance and data corruption resistance.</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Energy efficiency, a critical concern, will be evaluated by analyzing dynamic power under various operating scenarios.</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Layout analysis will be conducted to optimize performance and stability.</a:t>
            </a:r>
          </a:p>
          <a:p>
            <a:pPr marL="342900" indent="-342900" algn="just">
              <a:spcAft>
                <a:spcPts val="800"/>
              </a:spcAft>
              <a:buFont typeface="Arial" panose="020B0604020202020204" pitchFamily="34" charset="0"/>
              <a:buChar char="•"/>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Comparison with other SRAM cell designs like 4T and 8T cells will highlight trade-offs and advantages.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Arial" panose="020B0604020202020204" pitchFamily="34" charset="0"/>
              <a:buChar char="•"/>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41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AE0C38-22A9-9BEF-A11C-61F64E316648}"/>
              </a:ext>
            </a:extLst>
          </p:cNvPr>
          <p:cNvSpPr>
            <a:spLocks noGrp="1"/>
          </p:cNvSpPr>
          <p:nvPr>
            <p:ph type="sldNum" sz="quarter" idx="12"/>
          </p:nvPr>
        </p:nvSpPr>
        <p:spPr/>
        <p:txBody>
          <a:bodyPr/>
          <a:lstStyle/>
          <a:p>
            <a:fld id="{2B48B02D-6448-4399-BE2E-C025BF63EF34}" type="slidenum">
              <a:rPr lang="en-IN" smtClean="0"/>
              <a:t>4</a:t>
            </a:fld>
            <a:endParaRPr lang="en-IN"/>
          </a:p>
        </p:txBody>
      </p:sp>
      <p:sp>
        <p:nvSpPr>
          <p:cNvPr id="5" name="TextBox 4">
            <a:extLst>
              <a:ext uri="{FF2B5EF4-FFF2-40B4-BE49-F238E27FC236}">
                <a16:creationId xmlns:a16="http://schemas.microsoft.com/office/drawing/2014/main" id="{8BA6379E-7801-D987-4AF7-9CA3D355DC7B}"/>
              </a:ext>
            </a:extLst>
          </p:cNvPr>
          <p:cNvSpPr txBox="1"/>
          <p:nvPr/>
        </p:nvSpPr>
        <p:spPr>
          <a:xfrm>
            <a:off x="751936" y="134967"/>
            <a:ext cx="10688128" cy="5207644"/>
          </a:xfrm>
          <a:prstGeom prst="rect">
            <a:avLst/>
          </a:prstGeom>
          <a:noFill/>
        </p:spPr>
        <p:txBody>
          <a:bodyPr wrap="square">
            <a:spAutoFit/>
          </a:bodyPr>
          <a:lstStyle/>
          <a:p>
            <a:pPr algn="ctr">
              <a:lnSpc>
                <a:spcPct val="150000"/>
              </a:lnSpc>
            </a:pPr>
            <a:r>
              <a:rPr lang="en-IN" sz="2400" b="1" dirty="0">
                <a:latin typeface="Times New Roman" panose="02020603050405020304" pitchFamily="18" charset="0"/>
                <a:cs typeface="Times New Roman" panose="02020603050405020304" pitchFamily="18" charset="0"/>
              </a:rPr>
              <a:t>INTRODUCTION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6T SRAM cell is a core component of static random-access memory (SRAM), used extensively in modern integrated circuits.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consists of six transistors arranged in a cross-coupled configuration.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Key features include stability, speed, and efficiency, achieved through balanced design.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Components include two cross-coupled inverters for data storage and access transistors for read/write operations.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Unlike dynamic RAM, 6T SRAM retains data without constant refreshing.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Preferred for cache memories in high-performance computing due to its reliability.</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 and optimization of 6T SRAM cells significantly impact the performance and efficiency of memory subsystems in ICs.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7343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81DDDC-3EC3-CEA1-E209-AE310D274431}"/>
              </a:ext>
            </a:extLst>
          </p:cNvPr>
          <p:cNvSpPr>
            <a:spLocks noGrp="1"/>
          </p:cNvSpPr>
          <p:nvPr>
            <p:ph type="sldNum" sz="quarter" idx="12"/>
          </p:nvPr>
        </p:nvSpPr>
        <p:spPr/>
        <p:txBody>
          <a:bodyPr/>
          <a:lstStyle/>
          <a:p>
            <a:fld id="{2B48B02D-6448-4399-BE2E-C025BF63EF34}" type="slidenum">
              <a:rPr lang="en-IN" smtClean="0"/>
              <a:t>5</a:t>
            </a:fld>
            <a:endParaRPr lang="en-IN"/>
          </a:p>
        </p:txBody>
      </p:sp>
      <p:graphicFrame>
        <p:nvGraphicFramePr>
          <p:cNvPr id="4" name="Table 3">
            <a:extLst>
              <a:ext uri="{FF2B5EF4-FFF2-40B4-BE49-F238E27FC236}">
                <a16:creationId xmlns:a16="http://schemas.microsoft.com/office/drawing/2014/main" id="{A213DD78-7284-B736-29E7-562999B6AC6F}"/>
              </a:ext>
            </a:extLst>
          </p:cNvPr>
          <p:cNvGraphicFramePr>
            <a:graphicFrameLocks noGrp="1"/>
          </p:cNvGraphicFramePr>
          <p:nvPr>
            <p:extLst>
              <p:ext uri="{D42A27DB-BD31-4B8C-83A1-F6EECF244321}">
                <p14:modId xmlns:p14="http://schemas.microsoft.com/office/powerpoint/2010/main" val="1749563735"/>
              </p:ext>
            </p:extLst>
          </p:nvPr>
        </p:nvGraphicFramePr>
        <p:xfrm>
          <a:off x="449473" y="598537"/>
          <a:ext cx="10816625" cy="5120640"/>
        </p:xfrm>
        <a:graphic>
          <a:graphicData uri="http://schemas.openxmlformats.org/drawingml/2006/table">
            <a:tbl>
              <a:tblPr firstRow="1" bandRow="1">
                <a:tableStyleId>{5940675A-B579-460E-94D1-54222C63F5DA}</a:tableStyleId>
              </a:tblPr>
              <a:tblGrid>
                <a:gridCol w="551191">
                  <a:extLst>
                    <a:ext uri="{9D8B030D-6E8A-4147-A177-3AD203B41FA5}">
                      <a16:colId xmlns:a16="http://schemas.microsoft.com/office/drawing/2014/main" val="2742642265"/>
                    </a:ext>
                  </a:extLst>
                </a:gridCol>
                <a:gridCol w="3559207">
                  <a:extLst>
                    <a:ext uri="{9D8B030D-6E8A-4147-A177-3AD203B41FA5}">
                      <a16:colId xmlns:a16="http://schemas.microsoft.com/office/drawing/2014/main" val="2387309984"/>
                    </a:ext>
                  </a:extLst>
                </a:gridCol>
                <a:gridCol w="2287726">
                  <a:extLst>
                    <a:ext uri="{9D8B030D-6E8A-4147-A177-3AD203B41FA5}">
                      <a16:colId xmlns:a16="http://schemas.microsoft.com/office/drawing/2014/main" val="2918473584"/>
                    </a:ext>
                  </a:extLst>
                </a:gridCol>
                <a:gridCol w="4418501">
                  <a:extLst>
                    <a:ext uri="{9D8B030D-6E8A-4147-A177-3AD203B41FA5}">
                      <a16:colId xmlns:a16="http://schemas.microsoft.com/office/drawing/2014/main" val="1211037752"/>
                    </a:ext>
                  </a:extLst>
                </a:gridCol>
              </a:tblGrid>
              <a:tr h="370840">
                <a:tc>
                  <a:txBody>
                    <a:bodyPr/>
                    <a:lstStyle/>
                    <a:p>
                      <a:r>
                        <a:rPr lang="en-IN" b="1">
                          <a:latin typeface="Times New Roman" panose="02020603050405020304" pitchFamily="18" charset="0"/>
                          <a:cs typeface="Times New Roman" panose="02020603050405020304" pitchFamily="18" charset="0"/>
                        </a:rPr>
                        <a:t>SNO</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TITLE</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TECHNOLOGY USED</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a:latin typeface="Times New Roman" panose="02020603050405020304" pitchFamily="18" charset="0"/>
                          <a:cs typeface="Times New Roman" panose="02020603050405020304" pitchFamily="18" charset="0"/>
                        </a:rPr>
                        <a:t>PARAMETERS ANALYSED</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5796975"/>
                  </a:ext>
                </a:extLst>
              </a:tr>
              <a:tr h="370840">
                <a:tc>
                  <a:txBody>
                    <a:bodyPr/>
                    <a:lstStyle/>
                    <a:p>
                      <a:r>
                        <a:rPr lang="en-IN">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tx1"/>
                          </a:solidFill>
                          <a:effectLst/>
                          <a:latin typeface="Times New Roman" panose="02020603050405020304" pitchFamily="18" charset="0"/>
                          <a:ea typeface="+mn-ea"/>
                          <a:cs typeface="Times New Roman" panose="02020603050405020304" pitchFamily="18" charset="0"/>
                        </a:rPr>
                        <a:t>Design and Performance Comparison of 6-T SRAM Cell </a:t>
                      </a:r>
                      <a:r>
                        <a:rPr lang="en-IN" dirty="0">
                          <a:latin typeface="Times New Roman" panose="02020603050405020304" pitchFamily="18" charset="0"/>
                          <a:cs typeface="Times New Roman" panose="02020603050405020304" pitchFamily="18" charset="0"/>
                        </a:rPr>
                        <a:t>2021</a:t>
                      </a:r>
                      <a:endParaRPr lang="en-IN" sz="1800" b="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kern="1200">
                          <a:solidFill>
                            <a:schemeClr val="tx1"/>
                          </a:solidFill>
                          <a:effectLst/>
                          <a:latin typeface="Times New Roman" panose="02020603050405020304" pitchFamily="18" charset="0"/>
                          <a:ea typeface="+mn-ea"/>
                          <a:cs typeface="Times New Roman" panose="02020603050405020304" pitchFamily="18" charset="0"/>
                        </a:rPr>
                        <a:t>32nm CMOS, FinFET and CNTFET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average power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leakage current</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read stability</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write-ability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3876472"/>
                  </a:ext>
                </a:extLst>
              </a:tr>
              <a:tr h="370840">
                <a:tc>
                  <a:txBody>
                    <a:bodyPr/>
                    <a:lstStyle/>
                    <a:p>
                      <a:r>
                        <a:rPr lang="en-IN">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Performance Analysis of 6T and 9T SRAM </a:t>
                      </a:r>
                      <a:r>
                        <a:rPr lang="en-IN" dirty="0">
                          <a:latin typeface="Times New Roman" panose="02020603050405020304" pitchFamily="18" charset="0"/>
                          <a:cs typeface="Times New Roman" panose="02020603050405020304" pitchFamily="18" charset="0"/>
                        </a:rPr>
                        <a:t>2019</a:t>
                      </a:r>
                    </a:p>
                  </a:txBody>
                  <a:tcPr/>
                </a:tc>
                <a:tc>
                  <a:txBody>
                    <a:bodyPr/>
                    <a:lstStyle/>
                    <a:p>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45nm CMOS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stability,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leakage, </a:t>
                      </a:r>
                    </a:p>
                    <a:p>
                      <a:pPr marL="285750" indent="-285750">
                        <a:buFont typeface="Arial" panose="020B0604020202020204" pitchFamily="34" charset="0"/>
                        <a:buChar char="•"/>
                      </a:pPr>
                      <a:r>
                        <a:rPr lang="en-IN" sz="1800" kern="10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process variations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359456"/>
                  </a:ext>
                </a:extLst>
              </a:tr>
              <a:tr h="370840">
                <a:tc>
                  <a:txBody>
                    <a:bodyPr/>
                    <a:lstStyle/>
                    <a:p>
                      <a:r>
                        <a:rPr lang="en-IN">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Analysis of 6T SRAM cell in different technologies </a:t>
                      </a:r>
                      <a:r>
                        <a:rPr lang="en-IN" dirty="0">
                          <a:latin typeface="Times New Roman" panose="02020603050405020304" pitchFamily="18" charset="0"/>
                          <a:cs typeface="Times New Roman" panose="02020603050405020304" pitchFamily="18" charset="0"/>
                        </a:rPr>
                        <a:t>2017</a:t>
                      </a: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180nm, 90nm, and 45nm technology </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Speed</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power dissipation </a:t>
                      </a:r>
                    </a:p>
                    <a:p>
                      <a:pPr marL="285750" indent="-285750">
                        <a:buFont typeface="Arial" panose="020B0604020202020204" pitchFamily="34" charset="0"/>
                        <a:buChar char="•"/>
                      </a:pPr>
                      <a:r>
                        <a:rPr lang="en-IN" sz="1800" kern="1200">
                          <a:solidFill>
                            <a:schemeClr val="tx1"/>
                          </a:solidFill>
                          <a:effectLst/>
                          <a:latin typeface="Times New Roman" panose="02020603050405020304" pitchFamily="18" charset="0"/>
                          <a:ea typeface="+mn-ea"/>
                          <a:cs typeface="Times New Roman" panose="02020603050405020304" pitchFamily="18" charset="0"/>
                        </a:rPr>
                        <a:t>static noise margin.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9889776"/>
                  </a:ext>
                </a:extLst>
              </a:tr>
              <a:tr h="370840">
                <a:tc>
                  <a:txBody>
                    <a:bodyPr/>
                    <a:lstStyle/>
                    <a:p>
                      <a:r>
                        <a:rPr lang="en-IN">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Design of low power 6T-SRAM cell and analysis for high-speed application. </a:t>
                      </a:r>
                      <a:r>
                        <a:rPr lang="en-IN" dirty="0">
                          <a:latin typeface="Times New Roman" panose="02020603050405020304" pitchFamily="18" charset="0"/>
                          <a:cs typeface="Times New Roman" panose="02020603050405020304" pitchFamily="18" charset="0"/>
                        </a:rPr>
                        <a:t>2016</a:t>
                      </a:r>
                    </a:p>
                  </a:txBody>
                  <a:tcPr/>
                </a:tc>
                <a:tc>
                  <a:txBody>
                    <a:bodyPr/>
                    <a:lstStyle/>
                    <a:p>
                      <a:r>
                        <a:rPr lang="en-IN" sz="1800" kern="1200">
                          <a:solidFill>
                            <a:schemeClr val="tx1"/>
                          </a:solidFill>
                          <a:effectLst/>
                          <a:latin typeface="Times New Roman" panose="02020603050405020304" pitchFamily="18" charset="0"/>
                          <a:ea typeface="+mn-ea"/>
                          <a:cs typeface="Times New Roman" panose="02020603050405020304" pitchFamily="18" charset="0"/>
                        </a:rPr>
                        <a:t>90nm technology</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Static Noise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Retention Voltage</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Read Margin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Write Margin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9088751"/>
                  </a:ext>
                </a:extLst>
              </a:tr>
            </a:tbl>
          </a:graphicData>
        </a:graphic>
      </p:graphicFrame>
      <p:sp>
        <p:nvSpPr>
          <p:cNvPr id="5" name="TextBox 4">
            <a:extLst>
              <a:ext uri="{FF2B5EF4-FFF2-40B4-BE49-F238E27FC236}">
                <a16:creationId xmlns:a16="http://schemas.microsoft.com/office/drawing/2014/main" id="{E7A2A34B-C987-9042-C01C-EC24ACA5F449}"/>
              </a:ext>
            </a:extLst>
          </p:cNvPr>
          <p:cNvSpPr txBox="1"/>
          <p:nvPr/>
        </p:nvSpPr>
        <p:spPr>
          <a:xfrm>
            <a:off x="4280858" y="136525"/>
            <a:ext cx="6094562" cy="461665"/>
          </a:xfrm>
          <a:prstGeom prst="rect">
            <a:avLst/>
          </a:prstGeom>
          <a:noFill/>
        </p:spPr>
        <p:txBody>
          <a:bodyPr wrap="square">
            <a:spAutoFit/>
          </a:bodyPr>
          <a:lstStyle/>
          <a:p>
            <a:r>
              <a:rPr lang="en-IN" sz="2400" b="1" dirty="0"/>
              <a:t>LITERATURE SURVEY</a:t>
            </a:r>
            <a:endParaRPr lang="en-IN" b="1" dirty="0"/>
          </a:p>
        </p:txBody>
      </p:sp>
    </p:spTree>
    <p:extLst>
      <p:ext uri="{BB962C8B-B14F-4D97-AF65-F5344CB8AC3E}">
        <p14:creationId xmlns:p14="http://schemas.microsoft.com/office/powerpoint/2010/main" val="3387509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A48587-3C30-718B-8279-D27044874CA2}"/>
              </a:ext>
            </a:extLst>
          </p:cNvPr>
          <p:cNvSpPr>
            <a:spLocks noGrp="1"/>
          </p:cNvSpPr>
          <p:nvPr>
            <p:ph type="sldNum" sz="quarter" idx="12"/>
          </p:nvPr>
        </p:nvSpPr>
        <p:spPr/>
        <p:txBody>
          <a:bodyPr/>
          <a:lstStyle/>
          <a:p>
            <a:fld id="{2B48B02D-6448-4399-BE2E-C025BF63EF34}" type="slidenum">
              <a:rPr lang="en-IN" smtClean="0"/>
              <a:t>6</a:t>
            </a:fld>
            <a:endParaRPr lang="en-IN"/>
          </a:p>
        </p:txBody>
      </p:sp>
      <p:graphicFrame>
        <p:nvGraphicFramePr>
          <p:cNvPr id="4" name="Table 3">
            <a:extLst>
              <a:ext uri="{FF2B5EF4-FFF2-40B4-BE49-F238E27FC236}">
                <a16:creationId xmlns:a16="http://schemas.microsoft.com/office/drawing/2014/main" id="{96F5241E-2C11-C7B1-BE1E-924A67AAF398}"/>
              </a:ext>
            </a:extLst>
          </p:cNvPr>
          <p:cNvGraphicFramePr>
            <a:graphicFrameLocks noGrp="1"/>
          </p:cNvGraphicFramePr>
          <p:nvPr>
            <p:extLst>
              <p:ext uri="{D42A27DB-BD31-4B8C-83A1-F6EECF244321}">
                <p14:modId xmlns:p14="http://schemas.microsoft.com/office/powerpoint/2010/main" val="3553004478"/>
              </p:ext>
            </p:extLst>
          </p:nvPr>
        </p:nvGraphicFramePr>
        <p:xfrm>
          <a:off x="389626" y="298750"/>
          <a:ext cx="11212902" cy="5577840"/>
        </p:xfrm>
        <a:graphic>
          <a:graphicData uri="http://schemas.openxmlformats.org/drawingml/2006/table">
            <a:tbl>
              <a:tblPr firstRow="1" bandRow="1">
                <a:tableStyleId>{5940675A-B579-460E-94D1-54222C63F5DA}</a:tableStyleId>
              </a:tblPr>
              <a:tblGrid>
                <a:gridCol w="645544">
                  <a:extLst>
                    <a:ext uri="{9D8B030D-6E8A-4147-A177-3AD203B41FA5}">
                      <a16:colId xmlns:a16="http://schemas.microsoft.com/office/drawing/2014/main" val="335693675"/>
                    </a:ext>
                  </a:extLst>
                </a:gridCol>
                <a:gridCol w="4774911">
                  <a:extLst>
                    <a:ext uri="{9D8B030D-6E8A-4147-A177-3AD203B41FA5}">
                      <a16:colId xmlns:a16="http://schemas.microsoft.com/office/drawing/2014/main" val="1813536483"/>
                    </a:ext>
                  </a:extLst>
                </a:gridCol>
                <a:gridCol w="2287726">
                  <a:extLst>
                    <a:ext uri="{9D8B030D-6E8A-4147-A177-3AD203B41FA5}">
                      <a16:colId xmlns:a16="http://schemas.microsoft.com/office/drawing/2014/main" val="9339324"/>
                    </a:ext>
                  </a:extLst>
                </a:gridCol>
                <a:gridCol w="3504721">
                  <a:extLst>
                    <a:ext uri="{9D8B030D-6E8A-4147-A177-3AD203B41FA5}">
                      <a16:colId xmlns:a16="http://schemas.microsoft.com/office/drawing/2014/main" val="928752027"/>
                    </a:ext>
                  </a:extLst>
                </a:gridCol>
              </a:tblGrid>
              <a:tr h="370840">
                <a:tc>
                  <a:txBody>
                    <a:bodyPr/>
                    <a:lstStyle/>
                    <a:p>
                      <a:r>
                        <a:rPr lang="en-IN" b="1" dirty="0">
                          <a:latin typeface="Times New Roman" panose="02020603050405020304" pitchFamily="18" charset="0"/>
                          <a:cs typeface="Times New Roman" panose="02020603050405020304" pitchFamily="18" charset="0"/>
                        </a:rPr>
                        <a:t>SNO</a:t>
                      </a:r>
                    </a:p>
                  </a:txBody>
                  <a:tcPr/>
                </a:tc>
                <a:tc>
                  <a:txBody>
                    <a:bodyPr/>
                    <a:lstStyle/>
                    <a:p>
                      <a:r>
                        <a:rPr lang="en-IN" b="1" dirty="0">
                          <a:latin typeface="Times New Roman" panose="02020603050405020304" pitchFamily="18" charset="0"/>
                          <a:cs typeface="Times New Roman" panose="02020603050405020304" pitchFamily="18" charset="0"/>
                        </a:rPr>
                        <a:t>TITLE</a:t>
                      </a:r>
                    </a:p>
                  </a:txBody>
                  <a:tcPr/>
                </a:tc>
                <a:tc>
                  <a:txBody>
                    <a:bodyPr/>
                    <a:lstStyle/>
                    <a:p>
                      <a:r>
                        <a:rPr lang="en-IN" b="1" dirty="0">
                          <a:latin typeface="Times New Roman" panose="02020603050405020304" pitchFamily="18" charset="0"/>
                          <a:cs typeface="Times New Roman" panose="02020603050405020304" pitchFamily="18" charset="0"/>
                        </a:rPr>
                        <a:t>TECHNOLOGY USED</a:t>
                      </a:r>
                    </a:p>
                  </a:txBody>
                  <a:tcPr/>
                </a:tc>
                <a:tc>
                  <a:txBody>
                    <a:bodyPr/>
                    <a:lstStyle/>
                    <a:p>
                      <a:r>
                        <a:rPr lang="en-IN" b="1" dirty="0">
                          <a:latin typeface="Times New Roman" panose="02020603050405020304" pitchFamily="18" charset="0"/>
                          <a:cs typeface="Times New Roman" panose="02020603050405020304" pitchFamily="18" charset="0"/>
                        </a:rPr>
                        <a:t>PARAMETERS ANALYSED</a:t>
                      </a:r>
                    </a:p>
                  </a:txBody>
                  <a:tcPr/>
                </a:tc>
                <a:extLst>
                  <a:ext uri="{0D108BD9-81ED-4DB2-BD59-A6C34878D82A}">
                    <a16:rowId xmlns:a16="http://schemas.microsoft.com/office/drawing/2014/main" val="4226829623"/>
                  </a:ext>
                </a:extLst>
              </a:tr>
              <a:tr h="370840">
                <a:tc>
                  <a:txBody>
                    <a:bodyPr/>
                    <a:lstStyle/>
                    <a:p>
                      <a:r>
                        <a:rPr lang="en-IN" dirty="0">
                          <a:latin typeface="Times New Roman" panose="02020603050405020304" pitchFamily="18" charset="0"/>
                          <a:cs typeface="Times New Roman" panose="02020603050405020304" pitchFamily="18" charset="0"/>
                        </a:rPr>
                        <a:t>5</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6T SRAM Cell: Design And Analysis</a:t>
                      </a:r>
                    </a:p>
                    <a:p>
                      <a:r>
                        <a:rPr lang="en-IN" dirty="0">
                          <a:latin typeface="Times New Roman" panose="02020603050405020304" pitchFamily="18" charset="0"/>
                          <a:cs typeface="Times New Roman" panose="02020603050405020304" pitchFamily="18" charset="0"/>
                        </a:rPr>
                        <a:t>2015</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45nm and 180nm technologies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consumption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delay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SNM.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445347"/>
                  </a:ext>
                </a:extLst>
              </a:tr>
              <a:tr h="370840">
                <a:tc>
                  <a:txBody>
                    <a:bodyPr/>
                    <a:lstStyle/>
                    <a:p>
                      <a:r>
                        <a:rPr lang="en-IN" dirty="0">
                          <a:latin typeface="Times New Roman" panose="02020603050405020304" pitchFamily="18" charset="0"/>
                          <a:cs typeface="Times New Roman" panose="02020603050405020304" pitchFamily="18" charset="0"/>
                        </a:rPr>
                        <a:t>6</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Analysis of 6 Transistor SRAM and 6T ROM Embedded SRAM. </a:t>
                      </a:r>
                      <a:r>
                        <a:rPr lang="en-IN" dirty="0">
                          <a:latin typeface="Times New Roman" panose="02020603050405020304" pitchFamily="18" charset="0"/>
                          <a:cs typeface="Times New Roman" panose="02020603050405020304" pitchFamily="18" charset="0"/>
                        </a:rPr>
                        <a:t>2014</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comparisons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LT SPICE Software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4262347"/>
                  </a:ext>
                </a:extLst>
              </a:tr>
              <a:tr h="370840">
                <a:tc>
                  <a:txBody>
                    <a:bodyPr/>
                    <a:lstStyle/>
                    <a:p>
                      <a:r>
                        <a:rPr lang="en-IN" b="0" dirty="0">
                          <a:latin typeface="Times New Roman" panose="02020603050405020304" pitchFamily="18" charset="0"/>
                          <a:cs typeface="Times New Roman" panose="02020603050405020304" pitchFamily="18" charset="0"/>
                        </a:rPr>
                        <a:t>7</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A comparative performance analysis of 6T &amp; 9T SRAM integrated circuits</a:t>
                      </a:r>
                    </a:p>
                    <a:p>
                      <a:r>
                        <a:rPr lang="en-IN" b="0" dirty="0">
                          <a:latin typeface="Times New Roman" panose="02020603050405020304" pitchFamily="18" charset="0"/>
                          <a:cs typeface="Times New Roman" panose="02020603050405020304" pitchFamily="18" charset="0"/>
                        </a:rPr>
                        <a:t>2022</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180 nm </a:t>
                      </a:r>
                      <a:r>
                        <a:rPr lang="en-IN" sz="1800" b="0" kern="1200" dirty="0">
                          <a:solidFill>
                            <a:schemeClr val="tx1"/>
                          </a:solidFill>
                          <a:effectLst/>
                          <a:latin typeface="Times New Roman" panose="02020603050405020304" pitchFamily="18" charset="0"/>
                          <a:ea typeface="+mn-ea"/>
                          <a:cs typeface="Times New Roman" panose="02020603050405020304" pitchFamily="18" charset="0"/>
                        </a:rPr>
                        <a:t>Technologies</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data stability</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metrics </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Temperature variations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0174349"/>
                  </a:ext>
                </a:extLst>
              </a:tr>
              <a:tr h="370840">
                <a:tc>
                  <a:txBody>
                    <a:bodyPr/>
                    <a:lstStyle/>
                    <a:p>
                      <a:r>
                        <a:rPr lang="en-IN" b="0" dirty="0">
                          <a:latin typeface="Times New Roman" panose="02020603050405020304" pitchFamily="18" charset="0"/>
                          <a:cs typeface="Times New Roman" panose="02020603050405020304" pitchFamily="18" charset="0"/>
                        </a:rPr>
                        <a:t>8</a:t>
                      </a:r>
                    </a:p>
                  </a:txBody>
                  <a:tcPr/>
                </a:tc>
                <a:tc>
                  <a:txBody>
                    <a:bodyPr/>
                    <a:lstStyle/>
                    <a:p>
                      <a:r>
                        <a:rPr lang="en-IN" sz="1800" kern="1200" dirty="0">
                          <a:solidFill>
                            <a:schemeClr val="tx1"/>
                          </a:solidFill>
                          <a:effectLst/>
                          <a:latin typeface="Times New Roman" panose="02020603050405020304" pitchFamily="18" charset="0"/>
                          <a:ea typeface="+mn-ea"/>
                          <a:cs typeface="Times New Roman" panose="02020603050405020304" pitchFamily="18" charset="0"/>
                        </a:rPr>
                        <a:t>Implementation and </a:t>
                      </a:r>
                      <a:r>
                        <a:rPr lang="en-IN" sz="1800" kern="1200" dirty="0" err="1">
                          <a:solidFill>
                            <a:schemeClr val="tx1"/>
                          </a:solidFill>
                          <a:effectLst/>
                          <a:latin typeface="Times New Roman" panose="02020603050405020304" pitchFamily="18" charset="0"/>
                          <a:ea typeface="+mn-ea"/>
                          <a:cs typeface="Times New Roman" panose="02020603050405020304" pitchFamily="18" charset="0"/>
                        </a:rPr>
                        <a:t>desing</a:t>
                      </a:r>
                      <a:r>
                        <a:rPr lang="en-IN" sz="1800" kern="1200" dirty="0">
                          <a:solidFill>
                            <a:schemeClr val="tx1"/>
                          </a:solidFill>
                          <a:effectLst/>
                          <a:latin typeface="Times New Roman" panose="02020603050405020304" pitchFamily="18" charset="0"/>
                          <a:ea typeface="+mn-ea"/>
                          <a:cs typeface="Times New Roman" panose="02020603050405020304" pitchFamily="18" charset="0"/>
                        </a:rPr>
                        <a:t> of 6T-SRAM with read and write assists circuits</a:t>
                      </a:r>
                    </a:p>
                    <a:p>
                      <a:r>
                        <a:rPr lang="en-IN" b="0" dirty="0">
                          <a:latin typeface="Times New Roman" panose="02020603050405020304" pitchFamily="18" charset="0"/>
                          <a:cs typeface="Times New Roman" panose="02020603050405020304" pitchFamily="18" charset="0"/>
                        </a:rPr>
                        <a:t>2012</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IN" sz="1800" kern="1200" dirty="0">
                          <a:solidFill>
                            <a:schemeClr val="tx1"/>
                          </a:solidFill>
                          <a:effectLst/>
                          <a:latin typeface="Times New Roman" panose="02020603050405020304" pitchFamily="18" charset="0"/>
                          <a:ea typeface="+mn-ea"/>
                          <a:cs typeface="Times New Roman" panose="02020603050405020304" pitchFamily="18" charset="0"/>
                        </a:rPr>
                        <a:t>65nm technology along with a comparison to 120nm technology</a:t>
                      </a:r>
                      <a:endParaRPr lang="en-IN"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Power dissipation</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circuit layouts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schematics</a:t>
                      </a:r>
                    </a:p>
                    <a:p>
                      <a:pPr marL="285750" indent="-285750">
                        <a:buFont typeface="Arial" panose="020B0604020202020204" pitchFamily="34" charset="0"/>
                        <a:buChar char="•"/>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simulation results</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7852501"/>
                  </a:ext>
                </a:extLst>
              </a:tr>
              <a:tr h="370840">
                <a:tc>
                  <a:txBody>
                    <a:bodyPr/>
                    <a:lstStyle/>
                    <a:p>
                      <a:r>
                        <a:rPr lang="en-IN" b="0" dirty="0">
                          <a:latin typeface="Times New Roman" panose="02020603050405020304" pitchFamily="18" charset="0"/>
                          <a:cs typeface="Times New Roman" panose="02020603050405020304" pitchFamily="18" charset="0"/>
                        </a:rPr>
                        <a:t>9</a:t>
                      </a:r>
                    </a:p>
                  </a:txBody>
                  <a:tcPr/>
                </a:tc>
                <a:tc>
                  <a:txBody>
                    <a:bodyPr/>
                    <a:lstStyle/>
                    <a:p>
                      <a:r>
                        <a:rPr lang="en-US" sz="1800" kern="1200" dirty="0">
                          <a:solidFill>
                            <a:schemeClr val="tx1"/>
                          </a:solidFill>
                          <a:effectLst/>
                          <a:latin typeface="Times New Roman" panose="02020603050405020304" pitchFamily="18" charset="0"/>
                          <a:ea typeface="+mn-ea"/>
                          <a:cs typeface="Times New Roman" panose="02020603050405020304" pitchFamily="18" charset="0"/>
                        </a:rPr>
                        <a:t>In-Memory Multi-Bit Multiplication and Accumulation in 6T SRAM Array</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IN" b="0" dirty="0">
                          <a:latin typeface="Times New Roman" panose="02020603050405020304" pitchFamily="18" charset="0"/>
                          <a:cs typeface="Times New Roman" panose="02020603050405020304" pitchFamily="18" charset="0"/>
                        </a:rPr>
                        <a:t>90nm</a:t>
                      </a:r>
                    </a:p>
                  </a:txBody>
                  <a:tcPr/>
                </a:tc>
                <a:tc>
                  <a:txBody>
                    <a:bodyPr/>
                    <a:lstStyle/>
                    <a:p>
                      <a:pPr marL="285750" indent="-285750">
                        <a:buFont typeface="Arial" panose="020B0604020202020204" pitchFamily="34" charset="0"/>
                        <a:buChar char="•"/>
                      </a:pPr>
                      <a:r>
                        <a:rPr lang="en-US" sz="1800" kern="1200" dirty="0">
                          <a:solidFill>
                            <a:schemeClr val="tx1"/>
                          </a:solidFill>
                          <a:effectLst/>
                          <a:latin typeface="+mn-lt"/>
                          <a:ea typeface="+mn-ea"/>
                          <a:cs typeface="+mn-cs"/>
                        </a:rPr>
                        <a:t>Delay</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energy usage </a:t>
                      </a:r>
                    </a:p>
                  </a:txBody>
                  <a:tcPr/>
                </a:tc>
                <a:extLst>
                  <a:ext uri="{0D108BD9-81ED-4DB2-BD59-A6C34878D82A}">
                    <a16:rowId xmlns:a16="http://schemas.microsoft.com/office/drawing/2014/main" val="536660754"/>
                  </a:ext>
                </a:extLst>
              </a:tr>
              <a:tr h="370840">
                <a:tc>
                  <a:txBody>
                    <a:bodyPr/>
                    <a:lstStyle/>
                    <a:p>
                      <a:r>
                        <a:rPr lang="en-IN" b="0" dirty="0">
                          <a:latin typeface="Times New Roman" panose="02020603050405020304" pitchFamily="18" charset="0"/>
                          <a:cs typeface="Times New Roman" panose="02020603050405020304" pitchFamily="18" charset="0"/>
                        </a:rPr>
                        <a:t>10</a:t>
                      </a:r>
                    </a:p>
                  </a:txBody>
                  <a:tcPr/>
                </a:tc>
                <a:tc>
                  <a:txBody>
                    <a:bodyPr/>
                    <a:lstStyle/>
                    <a:p>
                      <a:r>
                        <a:rPr lang="en-US" sz="1800" kern="1200" dirty="0">
                          <a:solidFill>
                            <a:schemeClr val="tx1"/>
                          </a:solidFill>
                          <a:effectLst/>
                          <a:latin typeface="+mn-lt"/>
                          <a:ea typeface="+mn-ea"/>
                          <a:cs typeface="+mn-cs"/>
                        </a:rPr>
                        <a:t>Analysis of radiation-hardening techniques for 6T SRAMs with structured layouts</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IN" b="0" dirty="0">
                          <a:latin typeface="Times New Roman" panose="02020603050405020304" pitchFamily="18" charset="0"/>
                          <a:cs typeface="Times New Roman" panose="02020603050405020304" pitchFamily="18" charset="0"/>
                        </a:rPr>
                        <a:t>180nm</a:t>
                      </a:r>
                    </a:p>
                  </a:txBody>
                  <a:tcPr/>
                </a:tc>
                <a:tc>
                  <a:txBody>
                    <a:bodyPr/>
                    <a:lstStyle/>
                    <a:p>
                      <a:pPr marL="285750" indent="-285750">
                        <a:buFont typeface="Arial" panose="020B0604020202020204" pitchFamily="34" charset="0"/>
                        <a:buChar char="•"/>
                      </a:pPr>
                      <a:r>
                        <a:rPr lang="en-US" sz="1800" kern="1200" dirty="0">
                          <a:solidFill>
                            <a:schemeClr val="tx1"/>
                          </a:solidFill>
                          <a:effectLst/>
                          <a:latin typeface="+mn-lt"/>
                          <a:ea typeface="+mn-ea"/>
                          <a:cs typeface="+mn-cs"/>
                        </a:rPr>
                        <a:t>Area</a:t>
                      </a:r>
                    </a:p>
                  </a:txBody>
                  <a:tcPr/>
                </a:tc>
                <a:extLst>
                  <a:ext uri="{0D108BD9-81ED-4DB2-BD59-A6C34878D82A}">
                    <a16:rowId xmlns:a16="http://schemas.microsoft.com/office/drawing/2014/main" val="3150560943"/>
                  </a:ext>
                </a:extLst>
              </a:tr>
            </a:tbl>
          </a:graphicData>
        </a:graphic>
      </p:graphicFrame>
    </p:spTree>
    <p:extLst>
      <p:ext uri="{BB962C8B-B14F-4D97-AF65-F5344CB8AC3E}">
        <p14:creationId xmlns:p14="http://schemas.microsoft.com/office/powerpoint/2010/main" val="3750962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28AF6-5FB3-3020-7E62-A0AE3E8AFFB5}"/>
              </a:ext>
            </a:extLst>
          </p:cNvPr>
          <p:cNvSpPr>
            <a:spLocks noGrp="1"/>
          </p:cNvSpPr>
          <p:nvPr>
            <p:ph type="sldNum" sz="quarter" idx="12"/>
          </p:nvPr>
        </p:nvSpPr>
        <p:spPr/>
        <p:txBody>
          <a:bodyPr/>
          <a:lstStyle/>
          <a:p>
            <a:fld id="{2B48B02D-6448-4399-BE2E-C025BF63EF34}" type="slidenum">
              <a:rPr lang="en-IN" smtClean="0"/>
              <a:t>7</a:t>
            </a:fld>
            <a:endParaRPr lang="en-IN"/>
          </a:p>
        </p:txBody>
      </p:sp>
      <p:sp>
        <p:nvSpPr>
          <p:cNvPr id="5" name="TextBox 4">
            <a:extLst>
              <a:ext uri="{FF2B5EF4-FFF2-40B4-BE49-F238E27FC236}">
                <a16:creationId xmlns:a16="http://schemas.microsoft.com/office/drawing/2014/main" id="{97FF2DC5-9A18-3831-3F03-1937F8277199}"/>
              </a:ext>
            </a:extLst>
          </p:cNvPr>
          <p:cNvSpPr txBox="1"/>
          <p:nvPr/>
        </p:nvSpPr>
        <p:spPr>
          <a:xfrm>
            <a:off x="3280194" y="554726"/>
            <a:ext cx="6094562"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SPECIFICATIONS</a:t>
            </a: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 THE 6 TRANSISTOR SRAM</a:t>
            </a:r>
            <a:endParaRPr lang="en-IN" dirty="0"/>
          </a:p>
        </p:txBody>
      </p:sp>
      <p:pic>
        <p:nvPicPr>
          <p:cNvPr id="4" name="Picture 3">
            <a:extLst>
              <a:ext uri="{FF2B5EF4-FFF2-40B4-BE49-F238E27FC236}">
                <a16:creationId xmlns:a16="http://schemas.microsoft.com/office/drawing/2014/main" id="{C259FF79-3294-D430-2253-D4B4ED879519}"/>
              </a:ext>
            </a:extLst>
          </p:cNvPr>
          <p:cNvPicPr>
            <a:picLocks noChangeAspect="1"/>
          </p:cNvPicPr>
          <p:nvPr/>
        </p:nvPicPr>
        <p:blipFill>
          <a:blip r:embed="rId2"/>
          <a:stretch>
            <a:fillRect/>
          </a:stretch>
        </p:blipFill>
        <p:spPr>
          <a:xfrm>
            <a:off x="899232" y="937727"/>
            <a:ext cx="9944962" cy="5601185"/>
          </a:xfrm>
          <a:prstGeom prst="rect">
            <a:avLst/>
          </a:prstGeom>
        </p:spPr>
      </p:pic>
    </p:spTree>
    <p:extLst>
      <p:ext uri="{BB962C8B-B14F-4D97-AF65-F5344CB8AC3E}">
        <p14:creationId xmlns:p14="http://schemas.microsoft.com/office/powerpoint/2010/main" val="224347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E52A7A-BCFD-D59F-235B-28427105057A}"/>
              </a:ext>
            </a:extLst>
          </p:cNvPr>
          <p:cNvSpPr txBox="1"/>
          <p:nvPr/>
        </p:nvSpPr>
        <p:spPr>
          <a:xfrm>
            <a:off x="717422" y="2262541"/>
            <a:ext cx="3283078"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2800" b="1" kern="1200" dirty="0">
                <a:solidFill>
                  <a:srgbClr val="FFFFFF"/>
                </a:solidFill>
                <a:effectLst/>
                <a:latin typeface="Times New Roman" panose="02020603050405020304" pitchFamily="18" charset="0"/>
                <a:ea typeface="+mj-ea"/>
                <a:cs typeface="Times New Roman" panose="02020603050405020304" pitchFamily="18" charset="0"/>
              </a:rPr>
              <a:t>METHODOLOGY</a:t>
            </a:r>
          </a:p>
          <a:p>
            <a:pPr algn="ctr">
              <a:lnSpc>
                <a:spcPct val="90000"/>
              </a:lnSpc>
              <a:spcBef>
                <a:spcPct val="0"/>
              </a:spcBef>
              <a:spcAft>
                <a:spcPts val="600"/>
              </a:spcAft>
            </a:pPr>
            <a:endParaRPr lang="en-US" sz="2800"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3DE17CFB-6A9E-59CF-C6BE-D18EF65BA8C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latin typeface="Times New Roman" panose="02020603050405020304" pitchFamily="18" charset="0"/>
                <a:cs typeface="Times New Roman" panose="02020603050405020304" pitchFamily="18" charset="0"/>
              </a:rPr>
              <a:pPr>
                <a:spcAft>
                  <a:spcPts val="600"/>
                </a:spcAft>
              </a:pPr>
              <a:t>8</a:t>
            </a:fld>
            <a:endParaRPr lang="en-US">
              <a:solidFill>
                <a:schemeClr val="tx1">
                  <a:alpha val="8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FA70A9-957C-5F4D-219C-54FF512C1B0F}"/>
              </a:ext>
            </a:extLst>
          </p:cNvPr>
          <p:cNvPicPr>
            <a:picLocks noChangeAspect="1"/>
          </p:cNvPicPr>
          <p:nvPr/>
        </p:nvPicPr>
        <p:blipFill>
          <a:blip r:embed="rId2"/>
          <a:stretch>
            <a:fillRect/>
          </a:stretch>
        </p:blipFill>
        <p:spPr>
          <a:xfrm>
            <a:off x="4356881" y="756558"/>
            <a:ext cx="7117697" cy="4968671"/>
          </a:xfrm>
          <a:prstGeom prst="rect">
            <a:avLst/>
          </a:prstGeom>
        </p:spPr>
      </p:pic>
      <p:sp>
        <p:nvSpPr>
          <p:cNvPr id="7" name="TextBox 6">
            <a:extLst>
              <a:ext uri="{FF2B5EF4-FFF2-40B4-BE49-F238E27FC236}">
                <a16:creationId xmlns:a16="http://schemas.microsoft.com/office/drawing/2014/main" id="{31A71F18-89C0-124B-C369-39FFEEC2E36B}"/>
              </a:ext>
            </a:extLst>
          </p:cNvPr>
          <p:cNvSpPr txBox="1"/>
          <p:nvPr/>
        </p:nvSpPr>
        <p:spPr>
          <a:xfrm>
            <a:off x="5643831" y="5732110"/>
            <a:ext cx="6094562"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FLOW DIAGRAM OF CADENCE TOOL</a:t>
            </a:r>
            <a:endParaRPr lang="en-IN" dirty="0"/>
          </a:p>
        </p:txBody>
      </p:sp>
    </p:spTree>
    <p:extLst>
      <p:ext uri="{BB962C8B-B14F-4D97-AF65-F5344CB8AC3E}">
        <p14:creationId xmlns:p14="http://schemas.microsoft.com/office/powerpoint/2010/main" val="2575810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6AC21E6-6D07-9B7E-8757-3DE4302D6C34}"/>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dirty="0">
                <a:solidFill>
                  <a:srgbClr val="FFFFFF"/>
                </a:solidFill>
                <a:effectLst/>
                <a:latin typeface="Times New Roman" panose="02020603050405020304" pitchFamily="18" charset="0"/>
                <a:ea typeface="+mj-ea"/>
                <a:cs typeface="Times New Roman" panose="02020603050405020304" pitchFamily="18" charset="0"/>
              </a:rPr>
              <a:t>DESIGN ANALYSIS</a:t>
            </a:r>
          </a:p>
          <a:p>
            <a:pPr algn="ctr">
              <a:lnSpc>
                <a:spcPct val="90000"/>
              </a:lnSpc>
              <a:spcBef>
                <a:spcPct val="0"/>
              </a:spcBef>
              <a:spcAft>
                <a:spcPts val="600"/>
              </a:spcAft>
            </a:pPr>
            <a:endParaRPr lang="en-US" sz="3600" b="1" kern="1200" dirty="0">
              <a:solidFill>
                <a:srgbClr val="FFFFFF"/>
              </a:solidFill>
              <a:latin typeface="Times New Roman" panose="02020603050405020304" pitchFamily="18" charset="0"/>
              <a:ea typeface="+mj-ea"/>
              <a:cs typeface="Times New Roman" panose="02020603050405020304" pitchFamily="18" charset="0"/>
            </a:endParaRPr>
          </a:p>
        </p:txBody>
      </p:sp>
      <p:sp>
        <p:nvSpPr>
          <p:cNvPr id="3" name="Slide Number Placeholder 2">
            <a:extLst>
              <a:ext uri="{FF2B5EF4-FFF2-40B4-BE49-F238E27FC236}">
                <a16:creationId xmlns:a16="http://schemas.microsoft.com/office/drawing/2014/main" id="{B55C9450-9D13-53DF-4931-0B0A25B241B2}"/>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2B48B02D-6448-4399-BE2E-C025BF63EF34}" type="slidenum">
              <a:rPr lang="en-US">
                <a:solidFill>
                  <a:schemeClr val="tx1">
                    <a:alpha val="80000"/>
                  </a:schemeClr>
                </a:solidFill>
              </a:rPr>
              <a:pPr>
                <a:spcAft>
                  <a:spcPts val="600"/>
                </a:spcAft>
              </a:pPr>
              <a:t>9</a:t>
            </a:fld>
            <a:endParaRPr lang="en-US">
              <a:solidFill>
                <a:schemeClr val="tx1">
                  <a:alpha val="80000"/>
                </a:schemeClr>
              </a:solidFill>
            </a:endParaRPr>
          </a:p>
        </p:txBody>
      </p:sp>
      <p:sp>
        <p:nvSpPr>
          <p:cNvPr id="6" name="TextBox 5">
            <a:extLst>
              <a:ext uri="{FF2B5EF4-FFF2-40B4-BE49-F238E27FC236}">
                <a16:creationId xmlns:a16="http://schemas.microsoft.com/office/drawing/2014/main" id="{D064DE2B-0AC6-591B-95AE-D814ECE9F1F6}"/>
              </a:ext>
            </a:extLst>
          </p:cNvPr>
          <p:cNvSpPr txBox="1"/>
          <p:nvPr/>
        </p:nvSpPr>
        <p:spPr>
          <a:xfrm>
            <a:off x="1366888" y="328486"/>
            <a:ext cx="11368016"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SCHEMATIC DESIGN OF 6 TRANSISTOR SRAM CELL</a:t>
            </a:r>
          </a:p>
        </p:txBody>
      </p:sp>
      <p:pic>
        <p:nvPicPr>
          <p:cNvPr id="2" name="Picture 1">
            <a:extLst>
              <a:ext uri="{FF2B5EF4-FFF2-40B4-BE49-F238E27FC236}">
                <a16:creationId xmlns:a16="http://schemas.microsoft.com/office/drawing/2014/main" id="{9584EEE2-9DCC-AA18-25CC-7C5681C7368D}"/>
              </a:ext>
            </a:extLst>
          </p:cNvPr>
          <p:cNvPicPr>
            <a:picLocks noChangeAspect="1"/>
          </p:cNvPicPr>
          <p:nvPr/>
        </p:nvPicPr>
        <p:blipFill rotWithShape="1">
          <a:blip r:embed="rId2"/>
          <a:srcRect l="20236" t="4818" r="16651" b="3304"/>
          <a:stretch/>
        </p:blipFill>
        <p:spPr>
          <a:xfrm>
            <a:off x="4364966" y="885882"/>
            <a:ext cx="7694763" cy="4710023"/>
          </a:xfrm>
          <a:prstGeom prst="rect">
            <a:avLst/>
          </a:prstGeom>
        </p:spPr>
      </p:pic>
      <p:pic>
        <p:nvPicPr>
          <p:cNvPr id="9" name="Picture 8">
            <a:extLst>
              <a:ext uri="{FF2B5EF4-FFF2-40B4-BE49-F238E27FC236}">
                <a16:creationId xmlns:a16="http://schemas.microsoft.com/office/drawing/2014/main" id="{B2569619-62B3-A569-7D71-787EF5CA837F}"/>
              </a:ext>
            </a:extLst>
          </p:cNvPr>
          <p:cNvPicPr>
            <a:picLocks noChangeAspect="1"/>
          </p:cNvPicPr>
          <p:nvPr/>
        </p:nvPicPr>
        <p:blipFill rotWithShape="1">
          <a:blip r:embed="rId3"/>
          <a:srcRect l="5787" r="10772"/>
          <a:stretch/>
        </p:blipFill>
        <p:spPr>
          <a:xfrm>
            <a:off x="4680205" y="5195820"/>
            <a:ext cx="2244659" cy="800169"/>
          </a:xfrm>
          <a:prstGeom prst="rect">
            <a:avLst/>
          </a:prstGeom>
        </p:spPr>
      </p:pic>
      <p:sp>
        <p:nvSpPr>
          <p:cNvPr id="8" name="TextBox 7">
            <a:extLst>
              <a:ext uri="{FF2B5EF4-FFF2-40B4-BE49-F238E27FC236}">
                <a16:creationId xmlns:a16="http://schemas.microsoft.com/office/drawing/2014/main" id="{8E09DBC9-BE09-C519-A508-19C90C63339E}"/>
              </a:ext>
            </a:extLst>
          </p:cNvPr>
          <p:cNvSpPr txBox="1"/>
          <p:nvPr/>
        </p:nvSpPr>
        <p:spPr>
          <a:xfrm>
            <a:off x="5825706" y="5811323"/>
            <a:ext cx="6366294" cy="369332"/>
          </a:xfrm>
          <a:prstGeom prst="rect">
            <a:avLst/>
          </a:prstGeom>
          <a:noFill/>
        </p:spPr>
        <p:txBody>
          <a:bodyPr wrap="square">
            <a:spAutoFit/>
          </a:bodyPr>
          <a:lstStyle/>
          <a:p>
            <a:r>
              <a:rPr lang="en-US" sz="1800" b="1" kern="1200" dirty="0">
                <a:solidFill>
                  <a:srgbClr val="000000"/>
                </a:solidFill>
                <a:effectLst/>
                <a:latin typeface="Times New Roman" panose="02020603050405020304" pitchFamily="18" charset="0"/>
                <a:ea typeface="Times New Roman" panose="02020603050405020304" pitchFamily="18" charset="0"/>
              </a:rPr>
              <a:t>SCHEMATIC OF 6 TRANSISTOR SRAM</a:t>
            </a:r>
            <a:endParaRPr lang="en-IN" dirty="0"/>
          </a:p>
        </p:txBody>
      </p:sp>
    </p:spTree>
    <p:extLst>
      <p:ext uri="{BB962C8B-B14F-4D97-AF65-F5344CB8AC3E}">
        <p14:creationId xmlns:p14="http://schemas.microsoft.com/office/powerpoint/2010/main" val="3114061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2514C7-3BD9-563A-AB73-340A9D83A5E5}"/>
              </a:ext>
            </a:extLst>
          </p:cNvPr>
          <p:cNvSpPr txBox="1"/>
          <p:nvPr/>
        </p:nvSpPr>
        <p:spPr>
          <a:xfrm>
            <a:off x="310048" y="584434"/>
            <a:ext cx="11568854" cy="1114380"/>
          </a:xfrm>
          <a:prstGeom prst="rect">
            <a:avLst/>
          </a:prstGeom>
        </p:spPr>
        <p:txBody>
          <a:bodyPr vert="horz" lIns="91440" tIns="45720" rIns="91440" bIns="45720" rtlCol="0" anchor="b">
            <a:normAutofit fontScale="92500"/>
          </a:bodyPr>
          <a:lstStyle/>
          <a:p>
            <a:pPr algn="ctr">
              <a:lnSpc>
                <a:spcPct val="90000"/>
              </a:lnSpc>
              <a:spcBef>
                <a:spcPct val="0"/>
              </a:spcBef>
              <a:spcAft>
                <a:spcPts val="600"/>
              </a:spcAft>
            </a:pPr>
            <a:r>
              <a:rPr lang="en-US" sz="4400" b="1" dirty="0">
                <a:latin typeface="Times New Roman" panose="02020603050405020304" pitchFamily="18" charset="0"/>
                <a:ea typeface="+mj-ea"/>
                <a:cs typeface="Times New Roman" panose="02020603050405020304" pitchFamily="18" charset="0"/>
              </a:rPr>
              <a:t>TEST BENCH OF 6 TRANSISTOR SRAM CELL</a:t>
            </a:r>
          </a:p>
        </p:txBody>
      </p:sp>
      <p:sp>
        <p:nvSpPr>
          <p:cNvPr id="2" name="Slide Number Placeholder 1">
            <a:extLst>
              <a:ext uri="{FF2B5EF4-FFF2-40B4-BE49-F238E27FC236}">
                <a16:creationId xmlns:a16="http://schemas.microsoft.com/office/drawing/2014/main" id="{1AABAD79-71BE-0396-9653-156C2F79142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B48B02D-6448-4399-BE2E-C025BF63EF34}" type="slidenum">
              <a:rPr lang="en-US" smtClean="0"/>
              <a:pPr>
                <a:spcAft>
                  <a:spcPts val="600"/>
                </a:spcAft>
              </a:pPr>
              <a:t>10</a:t>
            </a:fld>
            <a:endParaRPr lang="en-US"/>
          </a:p>
        </p:txBody>
      </p:sp>
      <p:pic>
        <p:nvPicPr>
          <p:cNvPr id="3" name="Picture 2">
            <a:extLst>
              <a:ext uri="{FF2B5EF4-FFF2-40B4-BE49-F238E27FC236}">
                <a16:creationId xmlns:a16="http://schemas.microsoft.com/office/drawing/2014/main" id="{72DCC6F9-9A03-0002-7291-710713E00567}"/>
              </a:ext>
            </a:extLst>
          </p:cNvPr>
          <p:cNvPicPr>
            <a:picLocks noChangeAspect="1"/>
          </p:cNvPicPr>
          <p:nvPr/>
        </p:nvPicPr>
        <p:blipFill rotWithShape="1">
          <a:blip r:embed="rId2"/>
          <a:srcRect l="7251" t="3417" r="7933" b="3253"/>
          <a:stretch/>
        </p:blipFill>
        <p:spPr>
          <a:xfrm>
            <a:off x="181234" y="1908174"/>
            <a:ext cx="4141182" cy="3604105"/>
          </a:xfrm>
          <a:prstGeom prst="rect">
            <a:avLst/>
          </a:prstGeom>
        </p:spPr>
      </p:pic>
      <p:pic>
        <p:nvPicPr>
          <p:cNvPr id="5" name="Picture 4">
            <a:extLst>
              <a:ext uri="{FF2B5EF4-FFF2-40B4-BE49-F238E27FC236}">
                <a16:creationId xmlns:a16="http://schemas.microsoft.com/office/drawing/2014/main" id="{C12877AF-7911-3CF1-E732-63A96CB059B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l="27453" t="5995" r="23302" b="3809"/>
          <a:stretch/>
        </p:blipFill>
        <p:spPr>
          <a:xfrm>
            <a:off x="5253270" y="1596065"/>
            <a:ext cx="6003985" cy="4405387"/>
          </a:xfrm>
          <a:prstGeom prst="rect">
            <a:avLst/>
          </a:prstGeom>
        </p:spPr>
      </p:pic>
      <p:sp>
        <p:nvSpPr>
          <p:cNvPr id="8" name="TextBox 7">
            <a:extLst>
              <a:ext uri="{FF2B5EF4-FFF2-40B4-BE49-F238E27FC236}">
                <a16:creationId xmlns:a16="http://schemas.microsoft.com/office/drawing/2014/main" id="{923C3384-973F-A8F7-6D49-F0F42F786F31}"/>
              </a:ext>
            </a:extLst>
          </p:cNvPr>
          <p:cNvSpPr txBox="1"/>
          <p:nvPr/>
        </p:nvSpPr>
        <p:spPr>
          <a:xfrm>
            <a:off x="243696" y="5512279"/>
            <a:ext cx="4078720" cy="369332"/>
          </a:xfrm>
          <a:prstGeom prst="rect">
            <a:avLst/>
          </a:prstGeom>
          <a:noFill/>
        </p:spPr>
        <p:txBody>
          <a:bodyPr wrap="square">
            <a:sp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SYMBOL OF 6 TRANSISTOR SRAM</a:t>
            </a:r>
            <a:endParaRPr lang="en-IN" dirty="0"/>
          </a:p>
        </p:txBody>
      </p:sp>
      <p:sp>
        <p:nvSpPr>
          <p:cNvPr id="11" name="TextBox 10">
            <a:extLst>
              <a:ext uri="{FF2B5EF4-FFF2-40B4-BE49-F238E27FC236}">
                <a16:creationId xmlns:a16="http://schemas.microsoft.com/office/drawing/2014/main" id="{8019EFAA-B3F8-DCD4-C549-37FD331AAB99}"/>
              </a:ext>
            </a:extLst>
          </p:cNvPr>
          <p:cNvSpPr txBox="1"/>
          <p:nvPr/>
        </p:nvSpPr>
        <p:spPr>
          <a:xfrm>
            <a:off x="5563319" y="5994235"/>
            <a:ext cx="6094562" cy="369332"/>
          </a:xfrm>
          <a:prstGeom prst="rect">
            <a:avLst/>
          </a:prstGeom>
          <a:noFill/>
        </p:spPr>
        <p:txBody>
          <a:bodyPr wrap="square">
            <a:spAutoFit/>
          </a:bodyPr>
          <a:lstStyle/>
          <a:p>
            <a:pPr algn="ctr">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TEST BENCH FOR 6 TRANSISTOR SRAM SCHEMATIC</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1685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lide Number Placeholder 2">
            <a:extLst>
              <a:ext uri="{FF2B5EF4-FFF2-40B4-BE49-F238E27FC236}">
                <a16:creationId xmlns:a16="http://schemas.microsoft.com/office/drawing/2014/main" id="{60B62889-AA96-E978-2040-DA3327AD523D}"/>
              </a:ext>
            </a:extLst>
          </p:cNvPr>
          <p:cNvSpPr>
            <a:spLocks noGrp="1"/>
          </p:cNvSpPr>
          <p:nvPr>
            <p:ph type="sldNum" sz="quarter" idx="12"/>
          </p:nvPr>
        </p:nvSpPr>
        <p:spPr>
          <a:xfrm>
            <a:off x="8610600" y="6356350"/>
            <a:ext cx="2743200" cy="365125"/>
          </a:xfrm>
        </p:spPr>
        <p:txBody>
          <a:bodyPr>
            <a:normAutofit/>
          </a:bodyPr>
          <a:lstStyle/>
          <a:p>
            <a:pPr>
              <a:spcAft>
                <a:spcPts val="600"/>
              </a:spcAft>
            </a:pPr>
            <a:fld id="{2B48B02D-6448-4399-BE2E-C025BF63EF34}" type="slidenum">
              <a:rPr lang="en-IN" smtClean="0">
                <a:solidFill>
                  <a:srgbClr val="FFFFFF"/>
                </a:solidFill>
              </a:rPr>
              <a:pPr>
                <a:spcAft>
                  <a:spcPts val="600"/>
                </a:spcAft>
              </a:pPr>
              <a:t>11</a:t>
            </a:fld>
            <a:endParaRPr lang="en-IN" dirty="0">
              <a:solidFill>
                <a:srgbClr val="FFFFFF"/>
              </a:solidFill>
            </a:endParaRPr>
          </a:p>
        </p:txBody>
      </p:sp>
      <p:sp>
        <p:nvSpPr>
          <p:cNvPr id="7" name="TextBox 6">
            <a:extLst>
              <a:ext uri="{FF2B5EF4-FFF2-40B4-BE49-F238E27FC236}">
                <a16:creationId xmlns:a16="http://schemas.microsoft.com/office/drawing/2014/main" id="{01B2FE8B-535D-42C8-FD95-BA43279A236F}"/>
              </a:ext>
            </a:extLst>
          </p:cNvPr>
          <p:cNvSpPr txBox="1"/>
          <p:nvPr/>
        </p:nvSpPr>
        <p:spPr>
          <a:xfrm>
            <a:off x="4620039" y="487826"/>
            <a:ext cx="7981122" cy="584775"/>
          </a:xfrm>
          <a:prstGeom prst="rect">
            <a:avLst/>
          </a:prstGeom>
          <a:noFill/>
        </p:spPr>
        <p:txBody>
          <a:bodyPr wrap="square" rtlCol="0">
            <a:spAutoFit/>
          </a:bodyPr>
          <a:lstStyle/>
          <a:p>
            <a:r>
              <a:rPr lang="en-IN" sz="3200" b="1" dirty="0"/>
              <a:t>RESULTS</a:t>
            </a:r>
          </a:p>
        </p:txBody>
      </p:sp>
      <p:sp>
        <p:nvSpPr>
          <p:cNvPr id="11" name="TextBox 10">
            <a:extLst>
              <a:ext uri="{FF2B5EF4-FFF2-40B4-BE49-F238E27FC236}">
                <a16:creationId xmlns:a16="http://schemas.microsoft.com/office/drawing/2014/main" id="{840C469A-9FE0-C246-514C-A86798BB07C5}"/>
              </a:ext>
            </a:extLst>
          </p:cNvPr>
          <p:cNvSpPr txBox="1"/>
          <p:nvPr/>
        </p:nvSpPr>
        <p:spPr>
          <a:xfrm>
            <a:off x="255104" y="6165130"/>
            <a:ext cx="4675115" cy="369332"/>
          </a:xfrm>
          <a:prstGeom prst="rect">
            <a:avLst/>
          </a:prstGeom>
          <a:noFill/>
        </p:spPr>
        <p:txBody>
          <a:bodyPr wrap="square" rtlCol="0">
            <a:spAutoFit/>
          </a:bodyPr>
          <a:lstStyle/>
          <a:p>
            <a:r>
              <a:rPr lang="en-IN" b="1" dirty="0"/>
              <a:t>READ OPERATION</a:t>
            </a:r>
          </a:p>
        </p:txBody>
      </p:sp>
      <p:sp>
        <p:nvSpPr>
          <p:cNvPr id="12" name="TextBox 11">
            <a:extLst>
              <a:ext uri="{FF2B5EF4-FFF2-40B4-BE49-F238E27FC236}">
                <a16:creationId xmlns:a16="http://schemas.microsoft.com/office/drawing/2014/main" id="{AAD3E86B-2DAB-E507-55D6-B24254FE8604}"/>
              </a:ext>
            </a:extLst>
          </p:cNvPr>
          <p:cNvSpPr txBox="1"/>
          <p:nvPr/>
        </p:nvSpPr>
        <p:spPr>
          <a:xfrm>
            <a:off x="9275975" y="5671876"/>
            <a:ext cx="2318994" cy="369332"/>
          </a:xfrm>
          <a:prstGeom prst="rect">
            <a:avLst/>
          </a:prstGeom>
          <a:noFill/>
        </p:spPr>
        <p:txBody>
          <a:bodyPr wrap="square" rtlCol="0">
            <a:spAutoFit/>
          </a:bodyPr>
          <a:lstStyle/>
          <a:p>
            <a:r>
              <a:rPr lang="en-IN" b="1" dirty="0"/>
              <a:t>POWER</a:t>
            </a:r>
          </a:p>
        </p:txBody>
      </p:sp>
      <p:pic>
        <p:nvPicPr>
          <p:cNvPr id="2" name="Picture 1">
            <a:extLst>
              <a:ext uri="{FF2B5EF4-FFF2-40B4-BE49-F238E27FC236}">
                <a16:creationId xmlns:a16="http://schemas.microsoft.com/office/drawing/2014/main" id="{14B96F63-26CD-6821-0465-7412A4870207}"/>
              </a:ext>
            </a:extLst>
          </p:cNvPr>
          <p:cNvPicPr>
            <a:picLocks noChangeAspect="1"/>
          </p:cNvPicPr>
          <p:nvPr/>
        </p:nvPicPr>
        <p:blipFill>
          <a:blip r:embed="rId2"/>
          <a:stretch>
            <a:fillRect/>
          </a:stretch>
        </p:blipFill>
        <p:spPr>
          <a:xfrm>
            <a:off x="255104" y="1055666"/>
            <a:ext cx="11752866" cy="4935180"/>
          </a:xfrm>
          <a:prstGeom prst="rect">
            <a:avLst/>
          </a:prstGeom>
        </p:spPr>
      </p:pic>
      <p:sp>
        <p:nvSpPr>
          <p:cNvPr id="8" name="TextBox 7">
            <a:extLst>
              <a:ext uri="{FF2B5EF4-FFF2-40B4-BE49-F238E27FC236}">
                <a16:creationId xmlns:a16="http://schemas.microsoft.com/office/drawing/2014/main" id="{C5951712-D3FD-F721-3D06-D016B34F926C}"/>
              </a:ext>
            </a:extLst>
          </p:cNvPr>
          <p:cNvSpPr txBox="1"/>
          <p:nvPr/>
        </p:nvSpPr>
        <p:spPr>
          <a:xfrm>
            <a:off x="3159424" y="5906777"/>
            <a:ext cx="6301596"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SIMULATION RESULTS OF 6T SRAM</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6606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79FCAC-7AB7-D45E-279D-A112B773693C}"/>
              </a:ext>
            </a:extLst>
          </p:cNvPr>
          <p:cNvSpPr>
            <a:spLocks noGrp="1"/>
          </p:cNvSpPr>
          <p:nvPr>
            <p:ph type="sldNum" sz="quarter" idx="12"/>
          </p:nvPr>
        </p:nvSpPr>
        <p:spPr/>
        <p:txBody>
          <a:bodyPr/>
          <a:lstStyle/>
          <a:p>
            <a:fld id="{2B48B02D-6448-4399-BE2E-C025BF63EF34}" type="slidenum">
              <a:rPr lang="en-IN" smtClean="0"/>
              <a:t>12</a:t>
            </a:fld>
            <a:endParaRPr lang="en-IN"/>
          </a:p>
        </p:txBody>
      </p:sp>
      <p:pic>
        <p:nvPicPr>
          <p:cNvPr id="3" name="Picture 2">
            <a:extLst>
              <a:ext uri="{FF2B5EF4-FFF2-40B4-BE49-F238E27FC236}">
                <a16:creationId xmlns:a16="http://schemas.microsoft.com/office/drawing/2014/main" id="{E49DF2E6-6E11-F1CA-A6C9-098D8AB5EE57}"/>
              </a:ext>
            </a:extLst>
          </p:cNvPr>
          <p:cNvPicPr>
            <a:picLocks noChangeAspect="1"/>
          </p:cNvPicPr>
          <p:nvPr/>
        </p:nvPicPr>
        <p:blipFill>
          <a:blip r:embed="rId2"/>
          <a:stretch>
            <a:fillRect/>
          </a:stretch>
        </p:blipFill>
        <p:spPr>
          <a:xfrm>
            <a:off x="1043795" y="1052423"/>
            <a:ext cx="10437962" cy="3821502"/>
          </a:xfrm>
          <a:prstGeom prst="rect">
            <a:avLst/>
          </a:prstGeom>
        </p:spPr>
      </p:pic>
      <p:sp>
        <p:nvSpPr>
          <p:cNvPr id="4" name="TextBox 3">
            <a:extLst>
              <a:ext uri="{FF2B5EF4-FFF2-40B4-BE49-F238E27FC236}">
                <a16:creationId xmlns:a16="http://schemas.microsoft.com/office/drawing/2014/main" id="{52363013-3843-6A53-AB30-A41EDB20B7E6}"/>
              </a:ext>
            </a:extLst>
          </p:cNvPr>
          <p:cNvSpPr txBox="1"/>
          <p:nvPr/>
        </p:nvSpPr>
        <p:spPr>
          <a:xfrm>
            <a:off x="1561380" y="4873925"/>
            <a:ext cx="940279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POWER CONSUMPTION RESULTS FOR DIFFERENT TRANSISTOR RATIOS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7819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636967-D754-8434-AED7-7094CA6C9873}"/>
              </a:ext>
            </a:extLst>
          </p:cNvPr>
          <p:cNvSpPr>
            <a:spLocks noGrp="1"/>
          </p:cNvSpPr>
          <p:nvPr>
            <p:ph type="sldNum" sz="quarter" idx="12"/>
          </p:nvPr>
        </p:nvSpPr>
        <p:spPr/>
        <p:txBody>
          <a:bodyPr/>
          <a:lstStyle/>
          <a:p>
            <a:fld id="{2B48B02D-6448-4399-BE2E-C025BF63EF34}" type="slidenum">
              <a:rPr lang="en-IN" smtClean="0"/>
              <a:t>13</a:t>
            </a:fld>
            <a:endParaRPr lang="en-IN"/>
          </a:p>
        </p:txBody>
      </p:sp>
      <p:pic>
        <p:nvPicPr>
          <p:cNvPr id="4" name="Picture 3">
            <a:extLst>
              <a:ext uri="{FF2B5EF4-FFF2-40B4-BE49-F238E27FC236}">
                <a16:creationId xmlns:a16="http://schemas.microsoft.com/office/drawing/2014/main" id="{2FA36F7F-0672-6BFF-73ED-B9F65D9B2147}"/>
              </a:ext>
            </a:extLst>
          </p:cNvPr>
          <p:cNvPicPr>
            <a:picLocks noChangeAspect="1"/>
          </p:cNvPicPr>
          <p:nvPr/>
        </p:nvPicPr>
        <p:blipFill>
          <a:blip r:embed="rId2"/>
          <a:stretch>
            <a:fillRect/>
          </a:stretch>
        </p:blipFill>
        <p:spPr>
          <a:xfrm>
            <a:off x="2441275" y="1138157"/>
            <a:ext cx="7323827" cy="2720255"/>
          </a:xfrm>
          <a:prstGeom prst="rect">
            <a:avLst/>
          </a:prstGeom>
        </p:spPr>
      </p:pic>
      <p:sp>
        <p:nvSpPr>
          <p:cNvPr id="7" name="TextBox 6">
            <a:extLst>
              <a:ext uri="{FF2B5EF4-FFF2-40B4-BE49-F238E27FC236}">
                <a16:creationId xmlns:a16="http://schemas.microsoft.com/office/drawing/2014/main" id="{28B94B66-E6AA-65F2-2D89-F6F85FF39BCD}"/>
              </a:ext>
            </a:extLst>
          </p:cNvPr>
          <p:cNvSpPr txBox="1"/>
          <p:nvPr/>
        </p:nvSpPr>
        <p:spPr>
          <a:xfrm>
            <a:off x="2314395" y="3922615"/>
            <a:ext cx="7563209" cy="878895"/>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FINGER WIDTH AND TOTAL WIDTH OF ACCESS TRANSISTORS AS 240N AND FOR INNER CROSS-COUPLED INVERTERS, AS 120N.</a:t>
            </a:r>
            <a:endParaRPr lang="en-IN" sz="12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1312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C10C30-683B-4208-6023-E4D7058DB631}"/>
              </a:ext>
            </a:extLst>
          </p:cNvPr>
          <p:cNvSpPr>
            <a:spLocks noGrp="1"/>
          </p:cNvSpPr>
          <p:nvPr>
            <p:ph type="sldNum" sz="quarter" idx="12"/>
          </p:nvPr>
        </p:nvSpPr>
        <p:spPr/>
        <p:txBody>
          <a:bodyPr/>
          <a:lstStyle/>
          <a:p>
            <a:fld id="{2B48B02D-6448-4399-BE2E-C025BF63EF34}" type="slidenum">
              <a:rPr lang="en-IN" smtClean="0"/>
              <a:t>14</a:t>
            </a:fld>
            <a:endParaRPr lang="en-IN"/>
          </a:p>
        </p:txBody>
      </p:sp>
      <p:pic>
        <p:nvPicPr>
          <p:cNvPr id="5" name="Picture 4">
            <a:extLst>
              <a:ext uri="{FF2B5EF4-FFF2-40B4-BE49-F238E27FC236}">
                <a16:creationId xmlns:a16="http://schemas.microsoft.com/office/drawing/2014/main" id="{0B11E8BF-206C-8177-2365-2CBBC0C4232C}"/>
              </a:ext>
            </a:extLst>
          </p:cNvPr>
          <p:cNvPicPr>
            <a:picLocks noChangeAspect="1"/>
          </p:cNvPicPr>
          <p:nvPr/>
        </p:nvPicPr>
        <p:blipFill>
          <a:blip r:embed="rId2"/>
          <a:stretch>
            <a:fillRect/>
          </a:stretch>
        </p:blipFill>
        <p:spPr>
          <a:xfrm>
            <a:off x="1768415" y="1205560"/>
            <a:ext cx="8652294" cy="3073944"/>
          </a:xfrm>
          <a:prstGeom prst="rect">
            <a:avLst/>
          </a:prstGeom>
        </p:spPr>
      </p:pic>
      <p:sp>
        <p:nvSpPr>
          <p:cNvPr id="4" name="TextBox 3">
            <a:extLst>
              <a:ext uri="{FF2B5EF4-FFF2-40B4-BE49-F238E27FC236}">
                <a16:creationId xmlns:a16="http://schemas.microsoft.com/office/drawing/2014/main" id="{F696CF6C-1B77-C7F5-70CD-EB8CEF075B05}"/>
              </a:ext>
            </a:extLst>
          </p:cNvPr>
          <p:cNvSpPr txBox="1"/>
          <p:nvPr/>
        </p:nvSpPr>
        <p:spPr>
          <a:xfrm>
            <a:off x="3288821" y="4486538"/>
            <a:ext cx="6094562" cy="369332"/>
          </a:xfrm>
          <a:prstGeom prst="rect">
            <a:avLst/>
          </a:prstGeom>
          <a:noFill/>
        </p:spPr>
        <p:txBody>
          <a:bodyPr wrap="square">
            <a:spAutoFit/>
          </a:bodyPr>
          <a:lstStyle/>
          <a:p>
            <a:pPr algn="ctr"/>
            <a:r>
              <a:rPr lang="en-US" sz="1800" b="1" dirty="0">
                <a:solidFill>
                  <a:srgbClr val="000000"/>
                </a:solidFill>
                <a:effectLst/>
                <a:latin typeface="Times New Roman" panose="02020603050405020304" pitchFamily="18" charset="0"/>
                <a:ea typeface="Times New Roman" panose="02020603050405020304" pitchFamily="18" charset="0"/>
              </a:rPr>
              <a:t>PROPAGATION DELAY</a:t>
            </a:r>
            <a:endParaRPr lang="en-IN" dirty="0"/>
          </a:p>
        </p:txBody>
      </p:sp>
    </p:spTree>
    <p:extLst>
      <p:ext uri="{BB962C8B-B14F-4D97-AF65-F5344CB8AC3E}">
        <p14:creationId xmlns:p14="http://schemas.microsoft.com/office/powerpoint/2010/main" val="3025747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BC029E-C31D-8AA3-19EF-E957204E63E3}"/>
              </a:ext>
            </a:extLst>
          </p:cNvPr>
          <p:cNvSpPr>
            <a:spLocks noGrp="1"/>
          </p:cNvSpPr>
          <p:nvPr>
            <p:ph type="sldNum" sz="quarter" idx="12"/>
          </p:nvPr>
        </p:nvSpPr>
        <p:spPr/>
        <p:txBody>
          <a:bodyPr/>
          <a:lstStyle/>
          <a:p>
            <a:fld id="{2B48B02D-6448-4399-BE2E-C025BF63EF34}" type="slidenum">
              <a:rPr lang="en-IN" smtClean="0"/>
              <a:t>15</a:t>
            </a:fld>
            <a:endParaRPr lang="en-IN"/>
          </a:p>
        </p:txBody>
      </p:sp>
      <p:pic>
        <p:nvPicPr>
          <p:cNvPr id="4" name="Picture 3">
            <a:extLst>
              <a:ext uri="{FF2B5EF4-FFF2-40B4-BE49-F238E27FC236}">
                <a16:creationId xmlns:a16="http://schemas.microsoft.com/office/drawing/2014/main" id="{0481FBAF-1141-4850-979C-E10373FA17C5}"/>
              </a:ext>
            </a:extLst>
          </p:cNvPr>
          <p:cNvPicPr>
            <a:picLocks noChangeAspect="1"/>
          </p:cNvPicPr>
          <p:nvPr/>
        </p:nvPicPr>
        <p:blipFill>
          <a:blip r:embed="rId2"/>
          <a:stretch>
            <a:fillRect/>
          </a:stretch>
        </p:blipFill>
        <p:spPr>
          <a:xfrm>
            <a:off x="850197" y="846950"/>
            <a:ext cx="10150720" cy="3749365"/>
          </a:xfrm>
          <a:prstGeom prst="rect">
            <a:avLst/>
          </a:prstGeom>
        </p:spPr>
      </p:pic>
      <p:sp>
        <p:nvSpPr>
          <p:cNvPr id="6" name="TextBox 5">
            <a:extLst>
              <a:ext uri="{FF2B5EF4-FFF2-40B4-BE49-F238E27FC236}">
                <a16:creationId xmlns:a16="http://schemas.microsoft.com/office/drawing/2014/main" id="{9BE64136-FE5E-D583-CD44-B1B5F638F638}"/>
              </a:ext>
            </a:extLst>
          </p:cNvPr>
          <p:cNvSpPr txBox="1"/>
          <p:nvPr/>
        </p:nvSpPr>
        <p:spPr>
          <a:xfrm>
            <a:off x="3150798" y="4596315"/>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BLOCKS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20708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AECACD-F7F3-238B-7508-3AB6C80E948B}"/>
              </a:ext>
            </a:extLst>
          </p:cNvPr>
          <p:cNvSpPr>
            <a:spLocks noGrp="1"/>
          </p:cNvSpPr>
          <p:nvPr>
            <p:ph type="sldNum" sz="quarter" idx="12"/>
          </p:nvPr>
        </p:nvSpPr>
        <p:spPr/>
        <p:txBody>
          <a:bodyPr/>
          <a:lstStyle/>
          <a:p>
            <a:fld id="{2B48B02D-6448-4399-BE2E-C025BF63EF34}" type="slidenum">
              <a:rPr lang="en-IN" smtClean="0"/>
              <a:t>16</a:t>
            </a:fld>
            <a:endParaRPr lang="en-IN"/>
          </a:p>
        </p:txBody>
      </p:sp>
      <p:pic>
        <p:nvPicPr>
          <p:cNvPr id="3" name="Picture 2">
            <a:extLst>
              <a:ext uri="{FF2B5EF4-FFF2-40B4-BE49-F238E27FC236}">
                <a16:creationId xmlns:a16="http://schemas.microsoft.com/office/drawing/2014/main" id="{B190263A-453A-86D4-BE85-385ACF09DE57}"/>
              </a:ext>
            </a:extLst>
          </p:cNvPr>
          <p:cNvPicPr>
            <a:picLocks noChangeAspect="1"/>
          </p:cNvPicPr>
          <p:nvPr/>
        </p:nvPicPr>
        <p:blipFill rotWithShape="1">
          <a:blip r:embed="rId2"/>
          <a:srcRect l="32546" t="5755" r="32938" b="3165"/>
          <a:stretch/>
        </p:blipFill>
        <p:spPr>
          <a:xfrm>
            <a:off x="1035169" y="973564"/>
            <a:ext cx="4208110" cy="4468630"/>
          </a:xfrm>
          <a:prstGeom prst="rect">
            <a:avLst/>
          </a:prstGeom>
          <a:ln>
            <a:solidFill>
              <a:schemeClr val="accent1">
                <a:lumMod val="60000"/>
                <a:lumOff val="40000"/>
              </a:schemeClr>
            </a:solidFill>
          </a:ln>
        </p:spPr>
      </p:pic>
      <p:pic>
        <p:nvPicPr>
          <p:cNvPr id="4" name="Picture 3">
            <a:extLst>
              <a:ext uri="{FF2B5EF4-FFF2-40B4-BE49-F238E27FC236}">
                <a16:creationId xmlns:a16="http://schemas.microsoft.com/office/drawing/2014/main" id="{FD3C25B8-D120-42FA-99DE-0222DFFEE7E1}"/>
              </a:ext>
            </a:extLst>
          </p:cNvPr>
          <p:cNvPicPr>
            <a:picLocks noChangeAspect="1"/>
          </p:cNvPicPr>
          <p:nvPr/>
        </p:nvPicPr>
        <p:blipFill>
          <a:blip r:embed="rId3"/>
          <a:stretch>
            <a:fillRect/>
          </a:stretch>
        </p:blipFill>
        <p:spPr>
          <a:xfrm>
            <a:off x="6372494" y="973564"/>
            <a:ext cx="5743742" cy="2728196"/>
          </a:xfrm>
          <a:prstGeom prst="rect">
            <a:avLst/>
          </a:prstGeom>
        </p:spPr>
      </p:pic>
      <p:sp>
        <p:nvSpPr>
          <p:cNvPr id="6" name="TextBox 5">
            <a:extLst>
              <a:ext uri="{FF2B5EF4-FFF2-40B4-BE49-F238E27FC236}">
                <a16:creationId xmlns:a16="http://schemas.microsoft.com/office/drawing/2014/main" id="{C9B249AD-50B5-BB66-0337-3199D59B8B47}"/>
              </a:ext>
            </a:extLst>
          </p:cNvPr>
          <p:cNvSpPr txBox="1"/>
          <p:nvPr/>
        </p:nvSpPr>
        <p:spPr>
          <a:xfrm>
            <a:off x="1035169" y="5607972"/>
            <a:ext cx="4968816"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LAYOUT FOR 6 TRANSISTOR SRAM CELL</a:t>
            </a:r>
            <a:endParaRPr lang="en-IN" dirty="0"/>
          </a:p>
        </p:txBody>
      </p:sp>
      <p:sp>
        <p:nvSpPr>
          <p:cNvPr id="8" name="TextBox 7">
            <a:extLst>
              <a:ext uri="{FF2B5EF4-FFF2-40B4-BE49-F238E27FC236}">
                <a16:creationId xmlns:a16="http://schemas.microsoft.com/office/drawing/2014/main" id="{5DC0E4D2-71B7-F75B-80FB-6D2267126609}"/>
              </a:ext>
            </a:extLst>
          </p:cNvPr>
          <p:cNvSpPr txBox="1"/>
          <p:nvPr/>
        </p:nvSpPr>
        <p:spPr>
          <a:xfrm>
            <a:off x="6197084" y="3701760"/>
            <a:ext cx="6094562" cy="463397"/>
          </a:xfrm>
          <a:prstGeom prst="rect">
            <a:avLst/>
          </a:prstGeom>
          <a:noFill/>
        </p:spPr>
        <p:txBody>
          <a:bodyPr wrap="square">
            <a:spAutoFit/>
          </a:bodyPr>
          <a:lstStyle/>
          <a:p>
            <a:pPr algn="ctr">
              <a:lnSpc>
                <a:spcPct val="150000"/>
              </a:lnSpc>
              <a:spcAft>
                <a:spcPts val="10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 OF 6T SRAM LAYOUT</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242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6CFF4-B029-883D-93E5-E4F579D0C64B}"/>
              </a:ext>
            </a:extLst>
          </p:cNvPr>
          <p:cNvSpPr>
            <a:spLocks noGrp="1"/>
          </p:cNvSpPr>
          <p:nvPr>
            <p:ph type="sldNum" sz="quarter" idx="12"/>
          </p:nvPr>
        </p:nvSpPr>
        <p:spPr/>
        <p:txBody>
          <a:bodyPr/>
          <a:lstStyle/>
          <a:p>
            <a:fld id="{2B48B02D-6448-4399-BE2E-C025BF63EF34}" type="slidenum">
              <a:rPr lang="en-IN" smtClean="0"/>
              <a:t>17</a:t>
            </a:fld>
            <a:endParaRPr lang="en-IN"/>
          </a:p>
        </p:txBody>
      </p:sp>
      <p:sp>
        <p:nvSpPr>
          <p:cNvPr id="4" name="TextBox 3">
            <a:extLst>
              <a:ext uri="{FF2B5EF4-FFF2-40B4-BE49-F238E27FC236}">
                <a16:creationId xmlns:a16="http://schemas.microsoft.com/office/drawing/2014/main" id="{66E4FCE6-FB67-5CE0-E17A-1B12926D4294}"/>
              </a:ext>
            </a:extLst>
          </p:cNvPr>
          <p:cNvSpPr txBox="1"/>
          <p:nvPr/>
        </p:nvSpPr>
        <p:spPr>
          <a:xfrm>
            <a:off x="1053860" y="408772"/>
            <a:ext cx="10205049" cy="4401974"/>
          </a:xfrm>
          <a:prstGeom prst="rect">
            <a:avLst/>
          </a:prstGeom>
          <a:noFill/>
        </p:spPr>
        <p:txBody>
          <a:bodyPr wrap="square">
            <a:spAutoFit/>
          </a:bodyPr>
          <a:lstStyle/>
          <a:p>
            <a:pPr marL="342900" indent="-342900" algn="just">
              <a:lnSpc>
                <a:spcPct val="150000"/>
              </a:lnSpc>
              <a:spcAft>
                <a:spcPts val="800"/>
              </a:spcAft>
              <a:buFont typeface="Arial" panose="020B0604020202020204" pitchFamily="34" charset="0"/>
              <a:buChar char="•"/>
            </a:pP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We have analysed the outputs of the 6-transistor SRAM in </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45nm technology. </a:t>
            </a:r>
          </a:p>
          <a:p>
            <a:pPr marL="342900" indent="-342900" algn="just">
              <a:lnSpc>
                <a:spcPct val="150000"/>
              </a:lnSpc>
              <a:spcAft>
                <a:spcPts val="800"/>
              </a:spcAft>
              <a:buFont typeface="Arial" panose="020B0604020202020204" pitchFamily="34" charset="0"/>
              <a:buChar char="•"/>
            </a:pP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We obtained the outputs of the 6T SRAM read operations, including BL, BLB, Q, and QB, and we have submitted these outputs. </a:t>
            </a:r>
          </a:p>
          <a:p>
            <a:pPr marL="342900" indent="-342900" algn="just">
              <a:lnSpc>
                <a:spcPct val="150000"/>
              </a:lnSpc>
              <a:spcAft>
                <a:spcPts val="800"/>
              </a:spcAft>
              <a:buFont typeface="Arial" panose="020B0604020202020204" pitchFamily="34" charset="0"/>
              <a:buChar char="•"/>
            </a:pP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Power Consumption</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which is approximately </a:t>
            </a:r>
            <a:r>
              <a:rPr lang="en-IN" sz="2200" b="1" kern="100" dirty="0">
                <a:effectLst/>
                <a:latin typeface="Times New Roman" panose="02020603050405020304" pitchFamily="18" charset="0"/>
                <a:ea typeface="Aptos" panose="020B0004020202020204" pitchFamily="34" charset="0"/>
                <a:cs typeface="Times New Roman" panose="02020603050405020304" pitchFamily="18" charset="0"/>
              </a:rPr>
              <a:t>28n watts </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and </a:t>
            </a:r>
            <a:r>
              <a:rPr lang="en-US"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Propagation Delay </a:t>
            </a:r>
            <a:r>
              <a:rPr lang="en-US" sz="2200" dirty="0">
                <a:latin typeface="Times New Roman" panose="02020603050405020304" pitchFamily="18" charset="0"/>
                <a:cs typeface="Times New Roman" panose="02020603050405020304" pitchFamily="18" charset="0"/>
              </a:rPr>
              <a:t>with delay values ranging from </a:t>
            </a:r>
            <a:r>
              <a:rPr lang="en-US" sz="2200" b="1" dirty="0">
                <a:latin typeface="Times New Roman" panose="02020603050405020304" pitchFamily="18" charset="0"/>
                <a:cs typeface="Times New Roman" panose="02020603050405020304" pitchFamily="18" charset="0"/>
              </a:rPr>
              <a:t>1.442 nanoseconds</a:t>
            </a:r>
            <a:r>
              <a:rPr lang="en-US" sz="2200" dirty="0">
                <a:latin typeface="Times New Roman" panose="02020603050405020304" pitchFamily="18" charset="0"/>
                <a:cs typeface="Times New Roman" panose="02020603050405020304" pitchFamily="18" charset="0"/>
              </a:rPr>
              <a:t> to </a:t>
            </a:r>
            <a:r>
              <a:rPr lang="en-US" sz="2200" b="1" dirty="0">
                <a:latin typeface="Times New Roman" panose="02020603050405020304" pitchFamily="18" charset="0"/>
                <a:cs typeface="Times New Roman" panose="02020603050405020304" pitchFamily="18" charset="0"/>
              </a:rPr>
              <a:t>7.073 nanoseconds</a:t>
            </a:r>
            <a:r>
              <a:rPr lang="en-US" sz="2200" dirty="0">
                <a:latin typeface="Times New Roman" panose="02020603050405020304" pitchFamily="18" charset="0"/>
                <a:cs typeface="Times New Roman" panose="02020603050405020304" pitchFamily="18" charset="0"/>
              </a:rPr>
              <a:t> for different signal pairs.</a:t>
            </a:r>
          </a:p>
          <a:p>
            <a:pPr marL="342900" indent="-342900" algn="just">
              <a:lnSpc>
                <a:spcPct val="150000"/>
              </a:lnSpc>
              <a:spcAft>
                <a:spcPts val="8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he layout design of the SRAM cell, conducted using Cadence Layout XL, resulted in an area requirement of </a:t>
            </a:r>
            <a:r>
              <a:rPr lang="en-US" sz="2200" b="1" dirty="0">
                <a:effectLst/>
                <a:latin typeface="Times New Roman" panose="02020603050405020304" pitchFamily="18" charset="0"/>
                <a:ea typeface="Times New Roman" panose="02020603050405020304" pitchFamily="18" charset="0"/>
                <a:cs typeface="Times New Roman" panose="02020603050405020304" pitchFamily="18" charset="0"/>
              </a:rPr>
              <a:t>11.155 square nanometers</a:t>
            </a:r>
            <a:r>
              <a:rPr lang="en-IN" sz="2200" kern="100" dirty="0">
                <a:effectLst/>
                <a:latin typeface="Times New Roman" panose="02020603050405020304" pitchFamily="18"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843006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883FA8-A7A2-6954-3288-586816C7DCCB}"/>
              </a:ext>
            </a:extLst>
          </p:cNvPr>
          <p:cNvSpPr>
            <a:spLocks noGrp="1"/>
          </p:cNvSpPr>
          <p:nvPr>
            <p:ph type="sldNum" sz="quarter" idx="12"/>
          </p:nvPr>
        </p:nvSpPr>
        <p:spPr/>
        <p:txBody>
          <a:bodyPr/>
          <a:lstStyle/>
          <a:p>
            <a:fld id="{2B48B02D-6448-4399-BE2E-C025BF63EF34}" type="slidenum">
              <a:rPr lang="en-IN" smtClean="0"/>
              <a:t>18</a:t>
            </a:fld>
            <a:endParaRPr lang="en-IN"/>
          </a:p>
        </p:txBody>
      </p:sp>
      <p:sp>
        <p:nvSpPr>
          <p:cNvPr id="5" name="TextBox 4">
            <a:extLst>
              <a:ext uri="{FF2B5EF4-FFF2-40B4-BE49-F238E27FC236}">
                <a16:creationId xmlns:a16="http://schemas.microsoft.com/office/drawing/2014/main" id="{F0265F1A-B4CA-8267-88CE-D72CB16E2B85}"/>
              </a:ext>
            </a:extLst>
          </p:cNvPr>
          <p:cNvSpPr txBox="1"/>
          <p:nvPr/>
        </p:nvSpPr>
        <p:spPr>
          <a:xfrm>
            <a:off x="2092533" y="638355"/>
            <a:ext cx="7896855" cy="646331"/>
          </a:xfrm>
          <a:prstGeom prst="rect">
            <a:avLst/>
          </a:prstGeom>
          <a:noFill/>
        </p:spPr>
        <p:txBody>
          <a:bodyPr wrap="square">
            <a:spAutoFit/>
          </a:bodyPr>
          <a:lstStyle/>
          <a:p>
            <a:pPr algn="ctr">
              <a:spcBef>
                <a:spcPts val="600"/>
              </a:spcBef>
              <a:spcAft>
                <a:spcPts val="600"/>
              </a:spcAft>
            </a:pPr>
            <a:r>
              <a:rPr lang="en-IN" sz="1800" b="1" i="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FINAL RESULTS OF 6 TRANSISTOR SRAM CELL IN 45 NANO METER TECHNOLOGY</a:t>
            </a:r>
            <a:endParaRPr lang="en-IN" sz="1100" i="1" kern="100"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E4798CC-AFAF-E52E-59B6-C9F82AAC06BA}"/>
              </a:ext>
            </a:extLst>
          </p:cNvPr>
          <p:cNvPicPr>
            <a:picLocks noChangeAspect="1"/>
          </p:cNvPicPr>
          <p:nvPr/>
        </p:nvPicPr>
        <p:blipFill>
          <a:blip r:embed="rId2"/>
          <a:stretch>
            <a:fillRect/>
          </a:stretch>
        </p:blipFill>
        <p:spPr>
          <a:xfrm>
            <a:off x="2085346" y="1284686"/>
            <a:ext cx="7896854" cy="3959353"/>
          </a:xfrm>
          <a:prstGeom prst="rect">
            <a:avLst/>
          </a:prstGeom>
        </p:spPr>
      </p:pic>
    </p:spTree>
    <p:extLst>
      <p:ext uri="{BB962C8B-B14F-4D97-AF65-F5344CB8AC3E}">
        <p14:creationId xmlns:p14="http://schemas.microsoft.com/office/powerpoint/2010/main" val="3756982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4C2620-0AB7-243C-51B0-216086802481}"/>
              </a:ext>
            </a:extLst>
          </p:cNvPr>
          <p:cNvSpPr>
            <a:spLocks noGrp="1"/>
          </p:cNvSpPr>
          <p:nvPr>
            <p:ph type="sldNum" sz="quarter" idx="12"/>
          </p:nvPr>
        </p:nvSpPr>
        <p:spPr/>
        <p:txBody>
          <a:bodyPr/>
          <a:lstStyle/>
          <a:p>
            <a:fld id="{2B48B02D-6448-4399-BE2E-C025BF63EF34}" type="slidenum">
              <a:rPr lang="en-IN" smtClean="0"/>
              <a:t>19</a:t>
            </a:fld>
            <a:endParaRPr lang="en-IN"/>
          </a:p>
        </p:txBody>
      </p:sp>
      <p:sp>
        <p:nvSpPr>
          <p:cNvPr id="5" name="TextBox 4">
            <a:extLst>
              <a:ext uri="{FF2B5EF4-FFF2-40B4-BE49-F238E27FC236}">
                <a16:creationId xmlns:a16="http://schemas.microsoft.com/office/drawing/2014/main" id="{2666F9CA-0169-0176-1754-DEA96C5ACC68}"/>
              </a:ext>
            </a:extLst>
          </p:cNvPr>
          <p:cNvSpPr txBox="1"/>
          <p:nvPr/>
        </p:nvSpPr>
        <p:spPr>
          <a:xfrm>
            <a:off x="385314" y="283175"/>
            <a:ext cx="11421372" cy="470577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CONCLUSION</a:t>
            </a:r>
            <a:endParaRPr lang="en-US" sz="2800" b="1"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spcAft>
                <a:spcPts val="6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power consumption of the SRAM cell varied between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28.05n watts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74.169n watts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across different simulations and parameter configurations. </a:t>
            </a:r>
          </a:p>
          <a:p>
            <a:pPr marL="342900" indent="-342900" algn="just">
              <a:lnSpc>
                <a:spcPct val="150000"/>
              </a:lnSpc>
              <a:spcBef>
                <a:spcPts val="600"/>
              </a:spcBef>
              <a:spcAft>
                <a:spcPts val="6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Notably, the lowest power consumption observed was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28.05n watts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indicating improved power efficiency under specific parameter settings. </a:t>
            </a:r>
          </a:p>
          <a:p>
            <a:pPr marL="342900" indent="-342900" algn="just">
              <a:lnSpc>
                <a:spcPct val="150000"/>
              </a:lnSpc>
              <a:spcBef>
                <a:spcPts val="600"/>
              </a:spcBef>
              <a:spcAft>
                <a:spcPts val="6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Additionally, delay characterization provided valuable information on the timing behavior of the SRAM cell, with delay values ranging from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1.442 nanoseconds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to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7.073 nanoseconds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for different signal pairs. </a:t>
            </a:r>
          </a:p>
          <a:p>
            <a:pPr marL="342900" indent="-342900" algn="just">
              <a:lnSpc>
                <a:spcPct val="150000"/>
              </a:lnSpc>
              <a:spcBef>
                <a:spcPts val="600"/>
              </a:spcBef>
              <a:spcAft>
                <a:spcPts val="6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Furthermore, the layout design of the SRAM cell, conducted using Cadence Layout XL, resulted in an area requirement of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11.155 square nanometers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367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0E2613-95DA-F6C6-37DB-C2AB8A0B215D}"/>
              </a:ext>
            </a:extLst>
          </p:cNvPr>
          <p:cNvSpPr>
            <a:spLocks noGrp="1"/>
          </p:cNvSpPr>
          <p:nvPr>
            <p:ph type="sldNum" sz="quarter" idx="12"/>
          </p:nvPr>
        </p:nvSpPr>
        <p:spPr/>
        <p:txBody>
          <a:bodyPr/>
          <a:lstStyle/>
          <a:p>
            <a:fld id="{2B48B02D-6448-4399-BE2E-C025BF63EF34}" type="slidenum">
              <a:rPr lang="en-IN" smtClean="0"/>
              <a:t>20</a:t>
            </a:fld>
            <a:endParaRPr lang="en-IN"/>
          </a:p>
        </p:txBody>
      </p:sp>
      <p:sp>
        <p:nvSpPr>
          <p:cNvPr id="3" name="TextBox 2">
            <a:extLst>
              <a:ext uri="{FF2B5EF4-FFF2-40B4-BE49-F238E27FC236}">
                <a16:creationId xmlns:a16="http://schemas.microsoft.com/office/drawing/2014/main" id="{9C6412A1-6DA8-5DD6-3E64-98174AF4C3C9}"/>
              </a:ext>
            </a:extLst>
          </p:cNvPr>
          <p:cNvSpPr txBox="1"/>
          <p:nvPr/>
        </p:nvSpPr>
        <p:spPr>
          <a:xfrm>
            <a:off x="1708030" y="2165230"/>
            <a:ext cx="9266208" cy="2123658"/>
          </a:xfrm>
          <a:prstGeom prst="rect">
            <a:avLst/>
          </a:prstGeom>
          <a:noFill/>
        </p:spPr>
        <p:txBody>
          <a:bodyPr wrap="square" rtlCol="0">
            <a:spAutoFit/>
          </a:bodyPr>
          <a:lstStyle/>
          <a:p>
            <a:pPr algn="ctr"/>
            <a:r>
              <a:rPr lang="en-IN" sz="4400" b="1" dirty="0"/>
              <a:t>INTERNSHIP</a:t>
            </a:r>
          </a:p>
          <a:p>
            <a:pPr algn="ctr"/>
            <a:r>
              <a:rPr lang="en-IN" sz="4400" b="1" dirty="0"/>
              <a:t>ON</a:t>
            </a:r>
          </a:p>
          <a:p>
            <a:pPr algn="ctr"/>
            <a:r>
              <a:rPr lang="en-IN" sz="4400" b="1" dirty="0"/>
              <a:t>VLSI DESIGN FOR TESTABILITY (DFT)</a:t>
            </a:r>
          </a:p>
        </p:txBody>
      </p:sp>
    </p:spTree>
    <p:extLst>
      <p:ext uri="{BB962C8B-B14F-4D97-AF65-F5344CB8AC3E}">
        <p14:creationId xmlns:p14="http://schemas.microsoft.com/office/powerpoint/2010/main" val="2239605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676EA3-7B84-9246-7D5C-94CB98F964FC}"/>
              </a:ext>
            </a:extLst>
          </p:cNvPr>
          <p:cNvSpPr>
            <a:spLocks noGrp="1"/>
          </p:cNvSpPr>
          <p:nvPr>
            <p:ph type="sldNum" sz="quarter" idx="12"/>
          </p:nvPr>
        </p:nvSpPr>
        <p:spPr/>
        <p:txBody>
          <a:bodyPr/>
          <a:lstStyle/>
          <a:p>
            <a:fld id="{2B48B02D-6448-4399-BE2E-C025BF63EF34}" type="slidenum">
              <a:rPr lang="en-IN" smtClean="0"/>
              <a:t>21</a:t>
            </a:fld>
            <a:endParaRPr lang="en-IN"/>
          </a:p>
        </p:txBody>
      </p:sp>
      <p:sp>
        <p:nvSpPr>
          <p:cNvPr id="3" name="TextBox 2">
            <a:extLst>
              <a:ext uri="{FF2B5EF4-FFF2-40B4-BE49-F238E27FC236}">
                <a16:creationId xmlns:a16="http://schemas.microsoft.com/office/drawing/2014/main" id="{1AE26889-2E71-64C0-76A0-01D5A212C0C8}"/>
              </a:ext>
            </a:extLst>
          </p:cNvPr>
          <p:cNvSpPr txBox="1"/>
          <p:nvPr/>
        </p:nvSpPr>
        <p:spPr>
          <a:xfrm>
            <a:off x="2156604" y="1173192"/>
            <a:ext cx="7410090" cy="3816429"/>
          </a:xfrm>
          <a:prstGeom prst="rect">
            <a:avLst/>
          </a:prstGeom>
          <a:noFill/>
        </p:spPr>
        <p:txBody>
          <a:bodyPr wrap="square" rtlCol="0">
            <a:spAutoFit/>
          </a:bodyPr>
          <a:lstStyle/>
          <a:p>
            <a:r>
              <a:rPr lang="en-IN" sz="3200" b="1" dirty="0"/>
              <a:t>CONTENTS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Design-for-test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Why </a:t>
            </a:r>
            <a:r>
              <a:rPr lang="en-IN" sz="2800" dirty="0" err="1">
                <a:latin typeface="Times New Roman" panose="02020603050405020304" pitchFamily="18" charset="0"/>
                <a:cs typeface="Times New Roman" panose="02020603050405020304" pitchFamily="18" charset="0"/>
              </a:rPr>
              <a:t>Dft</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i="0" dirty="0">
                <a:solidFill>
                  <a:srgbClr val="1A1A1A"/>
                </a:solidFill>
                <a:effectLst/>
                <a:highlight>
                  <a:srgbClr val="FFFFFF"/>
                </a:highlight>
                <a:latin typeface="Times New Roman" panose="02020603050405020304" pitchFamily="18" charset="0"/>
                <a:cs typeface="Times New Roman" panose="02020603050405020304" pitchFamily="18" charset="0"/>
              </a:rPr>
              <a:t>Test pattern generator (</a:t>
            </a:r>
            <a:r>
              <a:rPr lang="en-IN" sz="2800" i="0" dirty="0" err="1">
                <a:solidFill>
                  <a:srgbClr val="1A1A1A"/>
                </a:solidFill>
                <a:effectLst/>
                <a:highlight>
                  <a:srgbClr val="FFFFFF"/>
                </a:highlight>
                <a:latin typeface="Times New Roman" panose="02020603050405020304" pitchFamily="18" charset="0"/>
                <a:cs typeface="Times New Roman" panose="02020603050405020304" pitchFamily="18" charset="0"/>
              </a:rPr>
              <a:t>tpg</a:t>
            </a:r>
            <a:r>
              <a:rPr lang="en-IN" sz="2800" i="0" dirty="0">
                <a:solidFill>
                  <a:srgbClr val="1A1A1A"/>
                </a:solidFill>
                <a:effectLst/>
                <a:highlight>
                  <a:srgbClr val="FFFFFF"/>
                </a:highlight>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Bist</a:t>
            </a:r>
            <a:r>
              <a:rPr lang="en-IN" sz="2400" dirty="0">
                <a:latin typeface="Times New Roman" panose="02020603050405020304" pitchFamily="18" charset="0"/>
                <a:cs typeface="Times New Roman" panose="02020603050405020304" pitchFamily="18" charset="0"/>
              </a:rPr>
              <a:t> Simple Architecture</a:t>
            </a:r>
          </a:p>
          <a:p>
            <a:pPr marL="342900" indent="-342900">
              <a:buFont typeface="Arial" panose="020B0604020202020204" pitchFamily="34" charset="0"/>
              <a:buChar char="•"/>
            </a:pPr>
            <a:r>
              <a:rPr lang="en-IN" sz="2400" dirty="0"/>
              <a:t>Advantages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a:p>
            <a:endParaRPr lang="en-IN" sz="3200" dirty="0"/>
          </a:p>
          <a:p>
            <a:endParaRPr lang="en-IN" b="1" dirty="0"/>
          </a:p>
        </p:txBody>
      </p:sp>
    </p:spTree>
    <p:extLst>
      <p:ext uri="{BB962C8B-B14F-4D97-AF65-F5344CB8AC3E}">
        <p14:creationId xmlns:p14="http://schemas.microsoft.com/office/powerpoint/2010/main" val="1598738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B3C4E6-81B1-DB1F-5BA7-B5CC968B4DB8}"/>
              </a:ext>
            </a:extLst>
          </p:cNvPr>
          <p:cNvSpPr>
            <a:spLocks noGrp="1"/>
          </p:cNvSpPr>
          <p:nvPr>
            <p:ph type="sldNum" sz="quarter" idx="12"/>
          </p:nvPr>
        </p:nvSpPr>
        <p:spPr/>
        <p:txBody>
          <a:bodyPr/>
          <a:lstStyle/>
          <a:p>
            <a:fld id="{2B48B02D-6448-4399-BE2E-C025BF63EF34}" type="slidenum">
              <a:rPr lang="en-IN" smtClean="0"/>
              <a:t>22</a:t>
            </a:fld>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101C890-A24F-C16F-6D5C-19979CD6F78C}"/>
                  </a:ext>
                </a:extLst>
              </p14:cNvPr>
              <p14:cNvContentPartPr/>
              <p14:nvPr/>
            </p14:nvContentPartPr>
            <p14:xfrm>
              <a:off x="3726598" y="4839324"/>
              <a:ext cx="360" cy="360"/>
            </p14:xfrm>
          </p:contentPart>
        </mc:Choice>
        <mc:Fallback xmlns="">
          <p:pic>
            <p:nvPicPr>
              <p:cNvPr id="3" name="Ink 2">
                <a:extLst>
                  <a:ext uri="{FF2B5EF4-FFF2-40B4-BE49-F238E27FC236}">
                    <a16:creationId xmlns:a16="http://schemas.microsoft.com/office/drawing/2014/main" id="{2101C890-A24F-C16F-6D5C-19979CD6F78C}"/>
                  </a:ext>
                </a:extLst>
              </p:cNvPr>
              <p:cNvPicPr/>
              <p:nvPr/>
            </p:nvPicPr>
            <p:blipFill>
              <a:blip r:embed="rId3"/>
              <a:stretch>
                <a:fillRect/>
              </a:stretch>
            </p:blipFill>
            <p:spPr>
              <a:xfrm>
                <a:off x="3717598" y="4830324"/>
                <a:ext cx="18000" cy="18000"/>
              </a:xfrm>
              <a:prstGeom prst="rect">
                <a:avLst/>
              </a:prstGeom>
            </p:spPr>
          </p:pic>
        </mc:Fallback>
      </mc:AlternateContent>
      <p:sp>
        <p:nvSpPr>
          <p:cNvPr id="5" name="TextBox 4">
            <a:extLst>
              <a:ext uri="{FF2B5EF4-FFF2-40B4-BE49-F238E27FC236}">
                <a16:creationId xmlns:a16="http://schemas.microsoft.com/office/drawing/2014/main" id="{164A0C10-5478-81EF-2256-D246C877938C}"/>
              </a:ext>
            </a:extLst>
          </p:cNvPr>
          <p:cNvSpPr txBox="1"/>
          <p:nvPr/>
        </p:nvSpPr>
        <p:spPr>
          <a:xfrm>
            <a:off x="1968979" y="1428973"/>
            <a:ext cx="8934810" cy="42043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t>Add controllability Observability to Circuit. </a:t>
            </a:r>
          </a:p>
          <a:p>
            <a:pPr marL="285750" indent="-285750">
              <a:lnSpc>
                <a:spcPct val="150000"/>
              </a:lnSpc>
              <a:buFont typeface="Arial" panose="020B0604020202020204" pitchFamily="34" charset="0"/>
              <a:buChar char="•"/>
            </a:pPr>
            <a:r>
              <a:rPr lang="en-IN" dirty="0"/>
              <a:t>Ease the test process. </a:t>
            </a:r>
          </a:p>
          <a:p>
            <a:pPr marL="285750" indent="-285750">
              <a:lnSpc>
                <a:spcPct val="150000"/>
              </a:lnSpc>
              <a:buFont typeface="Arial" panose="020B0604020202020204" pitchFamily="34" charset="0"/>
              <a:buChar char="•"/>
            </a:pPr>
            <a:r>
              <a:rPr lang="en-IN" dirty="0"/>
              <a:t>More support for test automation. </a:t>
            </a:r>
          </a:p>
          <a:p>
            <a:pPr marL="285750" indent="-285750">
              <a:lnSpc>
                <a:spcPct val="150000"/>
              </a:lnSpc>
              <a:buFont typeface="Arial" panose="020B0604020202020204" pitchFamily="34" charset="0"/>
              <a:buChar char="•"/>
            </a:pPr>
            <a:r>
              <a:rPr lang="en-IN" dirty="0"/>
              <a:t>Test Cost Reduction.</a:t>
            </a:r>
          </a:p>
          <a:p>
            <a:pPr marL="285750" indent="-285750">
              <a:lnSpc>
                <a:spcPct val="150000"/>
              </a:lnSpc>
              <a:buFont typeface="Arial" panose="020B0604020202020204" pitchFamily="34" charset="0"/>
              <a:buChar char="•"/>
            </a:pPr>
            <a:r>
              <a:rPr lang="en-IN" dirty="0"/>
              <a:t>DFT techniques are design efforts specifically employed to ensure that a device in testable.</a:t>
            </a:r>
          </a:p>
          <a:p>
            <a:pPr marL="285750" indent="-285750">
              <a:lnSpc>
                <a:spcPct val="150000"/>
              </a:lnSpc>
              <a:buFont typeface="Arial" panose="020B0604020202020204" pitchFamily="34" charset="0"/>
              <a:buChar char="•"/>
            </a:pPr>
            <a:r>
              <a:rPr lang="en-IN" dirty="0"/>
              <a:t>Testers has to be engaged early in the product cycle. </a:t>
            </a:r>
          </a:p>
          <a:p>
            <a:pPr marL="285750" indent="-285750">
              <a:lnSpc>
                <a:spcPct val="150000"/>
              </a:lnSpc>
              <a:buFont typeface="Arial" panose="020B0604020202020204" pitchFamily="34" charset="0"/>
              <a:buChar char="•"/>
            </a:pPr>
            <a:r>
              <a:rPr lang="en-IN" dirty="0"/>
              <a:t>The product must be open for design changes to meet the testing requirements.</a:t>
            </a:r>
          </a:p>
          <a:p>
            <a:pPr marL="285750" indent="-285750">
              <a:lnSpc>
                <a:spcPct val="150000"/>
              </a:lnSpc>
              <a:buFont typeface="Arial" panose="020B0604020202020204" pitchFamily="34" charset="0"/>
              <a:buChar char="•"/>
            </a:pPr>
            <a:r>
              <a:rPr lang="en-IN" dirty="0"/>
              <a:t>In general, DFT is achieved by employing extra H/W.</a:t>
            </a:r>
          </a:p>
          <a:p>
            <a:pPr marL="285750" indent="-285750">
              <a:lnSpc>
                <a:spcPct val="150000"/>
              </a:lnSpc>
              <a:buFont typeface="Arial" panose="020B0604020202020204" pitchFamily="34" charset="0"/>
              <a:buChar char="•"/>
            </a:pPr>
            <a:r>
              <a:rPr lang="en-IN" dirty="0"/>
              <a:t>Conflict between design engineers and test engineers.</a:t>
            </a:r>
          </a:p>
          <a:p>
            <a:pPr marL="285750" indent="-285750">
              <a:lnSpc>
                <a:spcPct val="150000"/>
              </a:lnSpc>
              <a:buFont typeface="Arial" panose="020B0604020202020204" pitchFamily="34" charset="0"/>
              <a:buChar char="•"/>
            </a:pPr>
            <a:r>
              <a:rPr lang="en-IN" dirty="0"/>
              <a:t>Balanced between amount of DFT and gain achieved.</a:t>
            </a:r>
          </a:p>
        </p:txBody>
      </p:sp>
      <p:sp>
        <p:nvSpPr>
          <p:cNvPr id="7" name="TextBox 6">
            <a:extLst>
              <a:ext uri="{FF2B5EF4-FFF2-40B4-BE49-F238E27FC236}">
                <a16:creationId xmlns:a16="http://schemas.microsoft.com/office/drawing/2014/main" id="{15868075-FFDC-B806-34CE-DDD4674AC07E}"/>
              </a:ext>
            </a:extLst>
          </p:cNvPr>
          <p:cNvSpPr txBox="1"/>
          <p:nvPr/>
        </p:nvSpPr>
        <p:spPr>
          <a:xfrm>
            <a:off x="4384375" y="843676"/>
            <a:ext cx="6094562"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DESIGN-FOR-TEST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845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5901DC-1782-9CC6-B531-B62575842195}"/>
              </a:ext>
            </a:extLst>
          </p:cNvPr>
          <p:cNvSpPr>
            <a:spLocks noGrp="1"/>
          </p:cNvSpPr>
          <p:nvPr>
            <p:ph type="sldNum" sz="quarter" idx="12"/>
          </p:nvPr>
        </p:nvSpPr>
        <p:spPr/>
        <p:txBody>
          <a:bodyPr/>
          <a:lstStyle/>
          <a:p>
            <a:fld id="{2B48B02D-6448-4399-BE2E-C025BF63EF34}" type="slidenum">
              <a:rPr lang="en-IN" smtClean="0"/>
              <a:t>23</a:t>
            </a:fld>
            <a:endParaRPr lang="en-IN"/>
          </a:p>
        </p:txBody>
      </p:sp>
      <p:sp>
        <p:nvSpPr>
          <p:cNvPr id="4" name="TextBox 3">
            <a:extLst>
              <a:ext uri="{FF2B5EF4-FFF2-40B4-BE49-F238E27FC236}">
                <a16:creationId xmlns:a16="http://schemas.microsoft.com/office/drawing/2014/main" id="{BD2D8D8F-C4AE-FBD8-BA76-67718A66A622}"/>
              </a:ext>
            </a:extLst>
          </p:cNvPr>
          <p:cNvSpPr txBox="1"/>
          <p:nvPr/>
        </p:nvSpPr>
        <p:spPr>
          <a:xfrm>
            <a:off x="3047281" y="1816764"/>
            <a:ext cx="6094562" cy="1981568"/>
          </a:xfrm>
          <a:prstGeom prst="rect">
            <a:avLst/>
          </a:prstGeom>
          <a:noFill/>
        </p:spPr>
        <p:txBody>
          <a:bodyPr wrap="square">
            <a:spAutoFit/>
          </a:bodyPr>
          <a:lstStyle/>
          <a:p>
            <a:endParaRPr lang="en-IN" dirty="0"/>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increase Productivity.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Shorter time-to-market Reduced design cycle Reduced cost.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improve Quality.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Reduced Defects per million (DPM)Improved quality of test.</a:t>
            </a:r>
          </a:p>
        </p:txBody>
      </p:sp>
      <p:sp>
        <p:nvSpPr>
          <p:cNvPr id="6" name="TextBox 5">
            <a:extLst>
              <a:ext uri="{FF2B5EF4-FFF2-40B4-BE49-F238E27FC236}">
                <a16:creationId xmlns:a16="http://schemas.microsoft.com/office/drawing/2014/main" id="{235E02E5-752B-83D1-6583-06444ED99512}"/>
              </a:ext>
            </a:extLst>
          </p:cNvPr>
          <p:cNvSpPr txBox="1"/>
          <p:nvPr/>
        </p:nvSpPr>
        <p:spPr>
          <a:xfrm>
            <a:off x="3047281" y="778650"/>
            <a:ext cx="6094562"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WHY DFT</a:t>
            </a:r>
          </a:p>
        </p:txBody>
      </p:sp>
    </p:spTree>
    <p:extLst>
      <p:ext uri="{BB962C8B-B14F-4D97-AF65-F5344CB8AC3E}">
        <p14:creationId xmlns:p14="http://schemas.microsoft.com/office/powerpoint/2010/main" val="391508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74A693-ECED-E989-2E7A-01E3F6FA4EA5}"/>
              </a:ext>
            </a:extLst>
          </p:cNvPr>
          <p:cNvSpPr>
            <a:spLocks noGrp="1"/>
          </p:cNvSpPr>
          <p:nvPr>
            <p:ph type="sldNum" sz="quarter" idx="12"/>
          </p:nvPr>
        </p:nvSpPr>
        <p:spPr/>
        <p:txBody>
          <a:bodyPr/>
          <a:lstStyle/>
          <a:p>
            <a:fld id="{2B48B02D-6448-4399-BE2E-C025BF63EF34}" type="slidenum">
              <a:rPr lang="en-IN" smtClean="0"/>
              <a:t>24</a:t>
            </a:fld>
            <a:endParaRPr lang="en-IN"/>
          </a:p>
        </p:txBody>
      </p:sp>
      <p:pic>
        <p:nvPicPr>
          <p:cNvPr id="4" name="Picture 3">
            <a:extLst>
              <a:ext uri="{FF2B5EF4-FFF2-40B4-BE49-F238E27FC236}">
                <a16:creationId xmlns:a16="http://schemas.microsoft.com/office/drawing/2014/main" id="{136FAFA2-5C3F-4A58-74F0-F8657C007EC0}"/>
              </a:ext>
            </a:extLst>
          </p:cNvPr>
          <p:cNvPicPr>
            <a:picLocks noChangeAspect="1"/>
          </p:cNvPicPr>
          <p:nvPr/>
        </p:nvPicPr>
        <p:blipFill>
          <a:blip r:embed="rId2"/>
          <a:stretch>
            <a:fillRect/>
          </a:stretch>
        </p:blipFill>
        <p:spPr>
          <a:xfrm>
            <a:off x="2360388" y="902113"/>
            <a:ext cx="6988146" cy="4846740"/>
          </a:xfrm>
          <a:prstGeom prst="rect">
            <a:avLst/>
          </a:prstGeom>
        </p:spPr>
      </p:pic>
      <p:sp>
        <p:nvSpPr>
          <p:cNvPr id="7" name="TextBox 6">
            <a:extLst>
              <a:ext uri="{FF2B5EF4-FFF2-40B4-BE49-F238E27FC236}">
                <a16:creationId xmlns:a16="http://schemas.microsoft.com/office/drawing/2014/main" id="{CCE2D53C-86B0-AA33-67F1-AC6AC1A79713}"/>
              </a:ext>
            </a:extLst>
          </p:cNvPr>
          <p:cNvSpPr txBox="1"/>
          <p:nvPr/>
        </p:nvSpPr>
        <p:spPr>
          <a:xfrm>
            <a:off x="3010619" y="532781"/>
            <a:ext cx="7451065" cy="461665"/>
          </a:xfrm>
          <a:prstGeom prst="rect">
            <a:avLst/>
          </a:prstGeom>
          <a:noFill/>
        </p:spPr>
        <p:txBody>
          <a:bodyPr wrap="square">
            <a:spAutoFit/>
          </a:bodyPr>
          <a:lstStyle/>
          <a:p>
            <a:pPr algn="ctr"/>
            <a:r>
              <a:rPr lang="en-IN" sz="2400" b="1" i="0" dirty="0">
                <a:solidFill>
                  <a:srgbClr val="1A1A1A"/>
                </a:solidFill>
                <a:effectLst/>
                <a:highlight>
                  <a:srgbClr val="FFFFFF"/>
                </a:highlight>
                <a:latin typeface="Times New Roman" panose="02020603050405020304" pitchFamily="18" charset="0"/>
                <a:cs typeface="Times New Roman" panose="02020603050405020304" pitchFamily="18" charset="0"/>
              </a:rPr>
              <a:t>TEST PATTERN GENERATOR (TPG)</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D05290C-4B46-2C64-315F-74EB86BEE985}"/>
              </a:ext>
            </a:extLst>
          </p:cNvPr>
          <p:cNvSpPr txBox="1"/>
          <p:nvPr/>
        </p:nvSpPr>
        <p:spPr>
          <a:xfrm>
            <a:off x="2691441" y="5656520"/>
            <a:ext cx="7770243" cy="923330"/>
          </a:xfrm>
          <a:prstGeom prst="rect">
            <a:avLst/>
          </a:prstGeom>
          <a:noFill/>
        </p:spPr>
        <p:txBody>
          <a:bodyPr wrap="square">
            <a:spAutoFit/>
          </a:bodyPr>
          <a:lstStyle/>
          <a:p>
            <a:pPr marL="285750" indent="-285750">
              <a:buFont typeface="Arial" panose="020B0604020202020204" pitchFamily="34" charset="0"/>
              <a:buChar char="•"/>
            </a:pPr>
            <a:r>
              <a:rPr lang="en-US" i="0" dirty="0">
                <a:solidFill>
                  <a:srgbClr val="1A1A1A"/>
                </a:solidFill>
                <a:effectLst/>
                <a:highlight>
                  <a:srgbClr val="FFFFFF"/>
                </a:highlight>
                <a:latin typeface="Times New Roman" panose="02020603050405020304" pitchFamily="18" charset="0"/>
                <a:cs typeface="Times New Roman" panose="02020603050405020304" pitchFamily="18" charset="0"/>
              </a:rPr>
              <a:t>It generates the test patterns required to sensitize the faults and propagate the effect to the outputs .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918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CFDC4D-627F-60AA-5C58-FB94FC365B46}"/>
              </a:ext>
            </a:extLst>
          </p:cNvPr>
          <p:cNvSpPr>
            <a:spLocks noGrp="1"/>
          </p:cNvSpPr>
          <p:nvPr>
            <p:ph type="sldNum" sz="quarter" idx="12"/>
          </p:nvPr>
        </p:nvSpPr>
        <p:spPr/>
        <p:txBody>
          <a:bodyPr/>
          <a:lstStyle/>
          <a:p>
            <a:fld id="{2B48B02D-6448-4399-BE2E-C025BF63EF34}" type="slidenum">
              <a:rPr lang="en-IN" smtClean="0"/>
              <a:t>25</a:t>
            </a:fld>
            <a:endParaRPr lang="en-IN"/>
          </a:p>
        </p:txBody>
      </p:sp>
      <p:pic>
        <p:nvPicPr>
          <p:cNvPr id="2050" name="Picture 2" descr="Basic BIST Principle | Download Scientific Diagram">
            <a:extLst>
              <a:ext uri="{FF2B5EF4-FFF2-40B4-BE49-F238E27FC236}">
                <a16:creationId xmlns:a16="http://schemas.microsoft.com/office/drawing/2014/main" id="{67A1812D-0B89-4CBB-B29C-07FA74DA50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951" y="1518248"/>
            <a:ext cx="8980098" cy="490843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ED33E6-DB27-E525-F5B7-0D21A2C622E5}"/>
              </a:ext>
            </a:extLst>
          </p:cNvPr>
          <p:cNvSpPr txBox="1"/>
          <p:nvPr/>
        </p:nvSpPr>
        <p:spPr>
          <a:xfrm>
            <a:off x="3459192" y="538090"/>
            <a:ext cx="5451895"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BIST SIMPLE ARCHITECTURE</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139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B8E855-3724-5F91-F350-0CF067409BC5}"/>
              </a:ext>
            </a:extLst>
          </p:cNvPr>
          <p:cNvSpPr>
            <a:spLocks noGrp="1"/>
          </p:cNvSpPr>
          <p:nvPr>
            <p:ph type="sldNum" sz="quarter" idx="12"/>
          </p:nvPr>
        </p:nvSpPr>
        <p:spPr/>
        <p:txBody>
          <a:bodyPr/>
          <a:lstStyle/>
          <a:p>
            <a:fld id="{2B48B02D-6448-4399-BE2E-C025BF63EF34}" type="slidenum">
              <a:rPr lang="en-IN" smtClean="0"/>
              <a:t>26</a:t>
            </a:fld>
            <a:endParaRPr lang="en-IN"/>
          </a:p>
        </p:txBody>
      </p:sp>
      <p:sp>
        <p:nvSpPr>
          <p:cNvPr id="4" name="TextBox 3">
            <a:extLst>
              <a:ext uri="{FF2B5EF4-FFF2-40B4-BE49-F238E27FC236}">
                <a16:creationId xmlns:a16="http://schemas.microsoft.com/office/drawing/2014/main" id="{B04E48D9-2774-88F8-BEBC-BCCFB90F2F11}"/>
              </a:ext>
            </a:extLst>
          </p:cNvPr>
          <p:cNvSpPr txBox="1"/>
          <p:nvPr/>
        </p:nvSpPr>
        <p:spPr>
          <a:xfrm>
            <a:off x="0" y="328649"/>
            <a:ext cx="12062604" cy="6697346"/>
          </a:xfrm>
          <a:prstGeom prst="rect">
            <a:avLst/>
          </a:prstGeom>
          <a:noFill/>
        </p:spPr>
        <p:txBody>
          <a:bodyPr wrap="square">
            <a:spAutoFit/>
          </a:bodyPr>
          <a:lstStyle/>
          <a:p>
            <a:pPr algn="just">
              <a:lnSpc>
                <a:spcPct val="150000"/>
              </a:lnSpc>
            </a:pPr>
            <a:r>
              <a:rPr lang="en-IN" b="1" dirty="0"/>
              <a:t>1.Improved Fault Coverage: </a:t>
            </a:r>
            <a:r>
              <a:rPr lang="en-IN" dirty="0"/>
              <a:t>Testability features integrated into the VLSI design facilitate the detection and diagnosis of faults during manufacturing testing. This leads to higher fault coverage, ensuring that most defects are identified before the product reaches the customer.</a:t>
            </a:r>
          </a:p>
          <a:p>
            <a:pPr algn="just">
              <a:lnSpc>
                <a:spcPct val="150000"/>
              </a:lnSpc>
            </a:pPr>
            <a:r>
              <a:rPr lang="en-IN" b="1" dirty="0"/>
              <a:t>2.Reduced Test Time and Cost</a:t>
            </a:r>
            <a:r>
              <a:rPr lang="en-IN" dirty="0"/>
              <a:t>: Testability features allow for the implementation of efficient testing methodologies, reducing both test time and cost. Built-in self-test (BIST) and scan-based testing techniques, for example, can significantly reduce the time and resources required for testing.</a:t>
            </a:r>
          </a:p>
          <a:p>
            <a:pPr algn="just">
              <a:lnSpc>
                <a:spcPct val="150000"/>
              </a:lnSpc>
            </a:pPr>
            <a:r>
              <a:rPr lang="en-IN" b="1" dirty="0"/>
              <a:t>3.Increased Manufacturing Yield: </a:t>
            </a:r>
            <a:r>
              <a:rPr lang="en-IN" dirty="0"/>
              <a:t>By enabling comprehensive testing and early detection of defects, VLSI design for testability contributes to higher manufacturing yield. This means fewer defective parts and higher overall product quality, which is crucial for meeting customer expectations and reducing costs associated with rework or returns.</a:t>
            </a:r>
          </a:p>
          <a:p>
            <a:pPr algn="just">
              <a:lnSpc>
                <a:spcPct val="150000"/>
              </a:lnSpc>
            </a:pPr>
            <a:r>
              <a:rPr lang="en-IN" b="1" dirty="0"/>
              <a:t>4.Scalability and Flexibility: </a:t>
            </a:r>
            <a:r>
              <a:rPr lang="en-IN" dirty="0"/>
              <a:t>Testability features can be designed to scale with the complexity of the circuit and the requirements of the application. This ensures that testing remains effective even as designs become more intricate, and it provides flexibility to adapt testing strategies to different product variants or configurations.</a:t>
            </a:r>
          </a:p>
          <a:p>
            <a:pPr algn="just">
              <a:lnSpc>
                <a:spcPct val="150000"/>
              </a:lnSpc>
            </a:pPr>
            <a:r>
              <a:rPr lang="en-IN" b="1" dirty="0"/>
              <a:t>5.Compliance with Quality Standards: </a:t>
            </a:r>
            <a:r>
              <a:rPr lang="en-IN" dirty="0"/>
              <a:t>Many industries have stringent quality standards and regulations that products must meet. VLSI design for testability helps ensure compliance with these standards by providing robust testing capabilities that verify the functionality and reliability of the integrated circuits.</a:t>
            </a:r>
          </a:p>
          <a:p>
            <a:pPr algn="just">
              <a:lnSpc>
                <a:spcPct val="150000"/>
              </a:lnSpc>
            </a:pPr>
            <a:endParaRPr lang="en-IN" dirty="0"/>
          </a:p>
        </p:txBody>
      </p:sp>
      <p:sp>
        <p:nvSpPr>
          <p:cNvPr id="6" name="TextBox 5">
            <a:extLst>
              <a:ext uri="{FF2B5EF4-FFF2-40B4-BE49-F238E27FC236}">
                <a16:creationId xmlns:a16="http://schemas.microsoft.com/office/drawing/2014/main" id="{B622151D-17AB-D8B2-8FC9-881CC06FB188}"/>
              </a:ext>
            </a:extLst>
          </p:cNvPr>
          <p:cNvSpPr txBox="1"/>
          <p:nvPr/>
        </p:nvSpPr>
        <p:spPr>
          <a:xfrm>
            <a:off x="4621602" y="97816"/>
            <a:ext cx="6120440" cy="461665"/>
          </a:xfrm>
          <a:prstGeom prst="rect">
            <a:avLst/>
          </a:prstGeom>
          <a:noFill/>
        </p:spPr>
        <p:txBody>
          <a:bodyPr wrap="square">
            <a:spAutoFit/>
          </a:bodyPr>
          <a:lstStyle/>
          <a:p>
            <a:r>
              <a:rPr lang="en-IN" sz="2400" b="1" dirty="0"/>
              <a:t>ADVANTAGES</a:t>
            </a:r>
          </a:p>
        </p:txBody>
      </p:sp>
    </p:spTree>
    <p:extLst>
      <p:ext uri="{BB962C8B-B14F-4D97-AF65-F5344CB8AC3E}">
        <p14:creationId xmlns:p14="http://schemas.microsoft.com/office/powerpoint/2010/main" val="2847441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E6C138-2048-E5FE-0D09-171F5F433811}"/>
              </a:ext>
            </a:extLst>
          </p:cNvPr>
          <p:cNvSpPr>
            <a:spLocks noGrp="1"/>
          </p:cNvSpPr>
          <p:nvPr>
            <p:ph type="sldNum" sz="quarter" idx="12"/>
          </p:nvPr>
        </p:nvSpPr>
        <p:spPr/>
        <p:txBody>
          <a:bodyPr/>
          <a:lstStyle/>
          <a:p>
            <a:fld id="{2B48B02D-6448-4399-BE2E-C025BF63EF34}" type="slidenum">
              <a:rPr lang="en-IN" smtClean="0"/>
              <a:t>27</a:t>
            </a:fld>
            <a:endParaRPr lang="en-IN"/>
          </a:p>
        </p:txBody>
      </p:sp>
      <p:sp>
        <p:nvSpPr>
          <p:cNvPr id="3" name="TextBox 2">
            <a:extLst>
              <a:ext uri="{FF2B5EF4-FFF2-40B4-BE49-F238E27FC236}">
                <a16:creationId xmlns:a16="http://schemas.microsoft.com/office/drawing/2014/main" id="{E1D5F0F5-0AA3-71F9-1D5D-59530ABCE92E}"/>
              </a:ext>
            </a:extLst>
          </p:cNvPr>
          <p:cNvSpPr txBox="1"/>
          <p:nvPr/>
        </p:nvSpPr>
        <p:spPr>
          <a:xfrm>
            <a:off x="3950898" y="577970"/>
            <a:ext cx="3562710" cy="523220"/>
          </a:xfrm>
          <a:prstGeom prst="rect">
            <a:avLst/>
          </a:prstGeom>
          <a:noFill/>
        </p:spPr>
        <p:txBody>
          <a:bodyPr wrap="square" rtlCol="0">
            <a:spAutoFit/>
          </a:bodyPr>
          <a:lstStyle/>
          <a:p>
            <a:pPr algn="ctr"/>
            <a:r>
              <a:rPr lang="en-IN" sz="2800" b="1" dirty="0"/>
              <a:t>CONCLUSION</a:t>
            </a:r>
            <a:endParaRPr lang="en-IN" b="1" dirty="0"/>
          </a:p>
        </p:txBody>
      </p:sp>
      <p:sp>
        <p:nvSpPr>
          <p:cNvPr id="5" name="TextBox 4">
            <a:extLst>
              <a:ext uri="{FF2B5EF4-FFF2-40B4-BE49-F238E27FC236}">
                <a16:creationId xmlns:a16="http://schemas.microsoft.com/office/drawing/2014/main" id="{50A50472-890B-28D0-7870-8D037847CC6F}"/>
              </a:ext>
            </a:extLst>
          </p:cNvPr>
          <p:cNvSpPr txBox="1"/>
          <p:nvPr/>
        </p:nvSpPr>
        <p:spPr>
          <a:xfrm>
            <a:off x="802256" y="2274838"/>
            <a:ext cx="10334445" cy="2120068"/>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internship in VLSI Design for Testability (DFT) has provided invaluable insights into semiconductor manufacturing, enhancing my understanding of IC testing methodologies. From implementing scan chains to exploring BIST circuits, the experience has equipped me with practical skills and knowledge essential for success in the field. I am grateful for the opportunity and look forward to applying my learnings to contribute to the advancement of semiconductor technology.</a:t>
            </a:r>
          </a:p>
        </p:txBody>
      </p:sp>
    </p:spTree>
    <p:extLst>
      <p:ext uri="{BB962C8B-B14F-4D97-AF65-F5344CB8AC3E}">
        <p14:creationId xmlns:p14="http://schemas.microsoft.com/office/powerpoint/2010/main" val="3876849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Handshake">
            <a:extLst>
              <a:ext uri="{FF2B5EF4-FFF2-40B4-BE49-F238E27FC236}">
                <a16:creationId xmlns:a16="http://schemas.microsoft.com/office/drawing/2014/main" id="{317BAD86-8B0D-6C46-620B-5A00D8E816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2" name="Freeform: Shape 2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4" name="TextBox 3">
            <a:extLst>
              <a:ext uri="{FF2B5EF4-FFF2-40B4-BE49-F238E27FC236}">
                <a16:creationId xmlns:a16="http://schemas.microsoft.com/office/drawing/2014/main" id="{C8E5E490-DE95-E9FC-C543-63197B436BCB}"/>
              </a:ext>
            </a:extLst>
          </p:cNvPr>
          <p:cNvSpPr txBox="1"/>
          <p:nvPr/>
        </p:nvSpPr>
        <p:spPr>
          <a:xfrm>
            <a:off x="5622061" y="762538"/>
            <a:ext cx="5649349" cy="319986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kern="1200" dirty="0">
                <a:solidFill>
                  <a:srgbClr val="FFFFFF"/>
                </a:solidFill>
                <a:latin typeface="+mj-lt"/>
                <a:ea typeface="+mj-ea"/>
                <a:cs typeface="+mj-cs"/>
              </a:rPr>
              <a:t>THANK YOU</a:t>
            </a:r>
          </a:p>
        </p:txBody>
      </p:sp>
      <p:sp>
        <p:nvSpPr>
          <p:cNvPr id="2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10098A4-E89A-D359-2742-C61A7DB548BC}"/>
              </a:ext>
            </a:extLst>
          </p:cNvPr>
          <p:cNvSpPr>
            <a:spLocks noGrp="1"/>
          </p:cNvSpPr>
          <p:nvPr>
            <p:ph type="sldNum" sz="quarter" idx="12"/>
          </p:nvPr>
        </p:nvSpPr>
        <p:spPr>
          <a:xfrm>
            <a:off x="9832848" y="6356350"/>
            <a:ext cx="1520952" cy="365125"/>
          </a:xfrm>
        </p:spPr>
        <p:txBody>
          <a:bodyPr vert="horz" lIns="91440" tIns="45720" rIns="91440" bIns="45720" rtlCol="0" anchor="ctr">
            <a:normAutofit/>
          </a:bodyPr>
          <a:lstStyle/>
          <a:p>
            <a:pPr>
              <a:spcAft>
                <a:spcPts val="600"/>
              </a:spcAft>
            </a:pPr>
            <a:fld id="{2B48B02D-6448-4399-BE2E-C025BF63EF34}" type="slidenum">
              <a:rPr lang="en-US">
                <a:solidFill>
                  <a:srgbClr val="FFFFFF"/>
                </a:solidFill>
              </a:rPr>
              <a:pPr>
                <a:spcAft>
                  <a:spcPts val="600"/>
                </a:spcAft>
              </a:pPr>
              <a:t>28</a:t>
            </a:fld>
            <a:endParaRPr lang="en-US">
              <a:solidFill>
                <a:srgbClr val="FFFFFF"/>
              </a:solidFill>
            </a:endParaRPr>
          </a:p>
        </p:txBody>
      </p:sp>
    </p:spTree>
    <p:extLst>
      <p:ext uri="{BB962C8B-B14F-4D97-AF65-F5344CB8AC3E}">
        <p14:creationId xmlns:p14="http://schemas.microsoft.com/office/powerpoint/2010/main" val="2074415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1637</TotalTime>
  <Words>1388</Words>
  <Application>Microsoft Office PowerPoint</Application>
  <PresentationFormat>Widescreen</PresentationFormat>
  <Paragraphs>203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DURGA PRASAD REDDY CHILUKURI</dc:creator>
  <cp:lastModifiedBy>20761A0476</cp:lastModifiedBy>
  <cp:revision>129</cp:revision>
  <dcterms:created xsi:type="dcterms:W3CDTF">2024-01-04T04:45:52Z</dcterms:created>
  <dcterms:modified xsi:type="dcterms:W3CDTF">2024-04-20T04:19:13Z</dcterms:modified>
</cp:coreProperties>
</file>